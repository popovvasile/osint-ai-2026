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y="5143500" cx="9144000"/>
  <p:notesSz cx="6858000" cy="9144000"/>
  <p:embeddedFontLst>
    <p:embeddedFont>
      <p:font typeface="IBM Plex Sans"/>
      <p:regular r:id="rId68"/>
      <p:bold r:id="rId69"/>
      <p:italic r:id="rId70"/>
      <p:boldItalic r:id="rId71"/>
    </p:embeddedFont>
    <p:embeddedFont>
      <p:font typeface="IBM Plex Mono SemiBold"/>
      <p:regular r:id="rId72"/>
      <p:bold r:id="rId73"/>
      <p:italic r:id="rId74"/>
      <p:boldItalic r:id="rId75"/>
    </p:embeddedFont>
    <p:embeddedFont>
      <p:font typeface="IBM Plex Mono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23F0F0-E5CF-4907-9DB9-065889FB5509}">
  <a:tblStyle styleId="{FD23F0F0-E5CF-4907-9DB9-065889FB55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IBMPlexMonoSemiBold-bold.fntdata"/><Relationship Id="rId72" Type="http://schemas.openxmlformats.org/officeDocument/2006/relationships/font" Target="fonts/IBMPlexMonoSemiBold-regular.fntdata"/><Relationship Id="rId31" Type="http://schemas.openxmlformats.org/officeDocument/2006/relationships/slide" Target="slides/slide24.xml"/><Relationship Id="rId75" Type="http://schemas.openxmlformats.org/officeDocument/2006/relationships/font" Target="fonts/IBMPlexMonoSemiBold-boldItalic.fntdata"/><Relationship Id="rId30" Type="http://schemas.openxmlformats.org/officeDocument/2006/relationships/slide" Target="slides/slide23.xml"/><Relationship Id="rId74" Type="http://schemas.openxmlformats.org/officeDocument/2006/relationships/font" Target="fonts/IBMPlexMonoSemiBold-italic.fntdata"/><Relationship Id="rId33" Type="http://schemas.openxmlformats.org/officeDocument/2006/relationships/slide" Target="slides/slide26.xml"/><Relationship Id="rId77" Type="http://schemas.openxmlformats.org/officeDocument/2006/relationships/font" Target="fonts/IBMPlexMono-bold.fntdata"/><Relationship Id="rId32" Type="http://schemas.openxmlformats.org/officeDocument/2006/relationships/slide" Target="slides/slide25.xml"/><Relationship Id="rId76" Type="http://schemas.openxmlformats.org/officeDocument/2006/relationships/font" Target="fonts/IBMPlexMono-regular.fntdata"/><Relationship Id="rId35" Type="http://schemas.openxmlformats.org/officeDocument/2006/relationships/slide" Target="slides/slide28.xml"/><Relationship Id="rId79" Type="http://schemas.openxmlformats.org/officeDocument/2006/relationships/font" Target="fonts/IBMPlexMono-boldItalic.fntdata"/><Relationship Id="rId34" Type="http://schemas.openxmlformats.org/officeDocument/2006/relationships/slide" Target="slides/slide27.xml"/><Relationship Id="rId78" Type="http://schemas.openxmlformats.org/officeDocument/2006/relationships/font" Target="fonts/IBMPlexMono-italic.fntdata"/><Relationship Id="rId71" Type="http://schemas.openxmlformats.org/officeDocument/2006/relationships/font" Target="fonts/IBMPlexSans-boldItalic.fntdata"/><Relationship Id="rId70" Type="http://schemas.openxmlformats.org/officeDocument/2006/relationships/font" Target="fonts/IBMPlexSans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font" Target="fonts/IBMPlexSans-regular.fntdata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IBMPlexSans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97d6185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97d6185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a7846501c_7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8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ea7846501c_7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a7846501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a7846501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7846501c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a7846501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a7846501c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a7846501c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a7846501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a7846501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a7846501c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ea7846501c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a7846501c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a7846501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a7846501c_7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a7846501c_7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a7846501c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a7846501c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a7846501c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a7846501c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a7846501c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a7846501c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a7846501c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a7846501c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a7846501c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a7846501c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a7846501c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a7846501c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a7846501c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ea7846501c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a7846501c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a7846501c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a7846501c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a7846501c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a7846501c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a7846501c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a7846501c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a7846501c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ea7846501c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ea7846501c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a7846501c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a7846501c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a7846501c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a7846501c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a7846501c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a7846501c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ea7846501c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ea7846501c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a7846501c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a7846501c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ea7846501c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ea7846501c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a7846501c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ea7846501c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a7846501c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a7846501c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a7846501c_1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a7846501c_1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a7846501c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ea7846501c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a7846501c_1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ea7846501c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a7846501c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a7846501c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a7846501c_1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a7846501c_1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a7846501c_1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ea7846501c_1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a7846501c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ea7846501c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ea7846501c_1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ea7846501c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a7846501c_1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a7846501c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a7846501c_1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ea7846501c_1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ea7846501c_1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ea7846501c_1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ea7846501c_1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ea7846501c_1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a7846501c_1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ea7846501c_1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a7846501c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ea7846501c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a7846501c_1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ea7846501c_1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ea7846501c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ea7846501c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a7846501c_1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ea7846501c_1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a7846501c_1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ea7846501c_1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a7846501c_1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ea7846501c_1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ea7846501c_1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ea7846501c_1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a7846501c_1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ea7846501c_1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a7846501c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ea7846501c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ea7846501c_1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ea7846501c_1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ea7846501c_1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ea7846501c_1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a7846501c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ea7846501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a7846501c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ea7846501c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ea7846501c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ea7846501c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a7846501c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ea7846501c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ea7846501c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3ea7846501c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ea7846501c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ea7846501c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a7846501c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ea7846501c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9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4000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4000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7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%D0%A3%D1%80%D0%BE%D0%BA-16-%D0%97%D0%B0%D1%85%D0%B8%D1%81%D1%82-%D0%BA%D1%83%D1%80%D1%81%D0%BE%D0%B2%D0%B8%D1%85-%D1%80%D0%BE%D0%B1%D1%96%D1%82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750" y="2292475"/>
            <a:ext cx="142755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96650" y="446150"/>
            <a:ext cx="7570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Бонусна лекція | Майбутнє OSINT: агенти, мультимодальність                 і автоматизація аналізу</a:t>
            </a:r>
            <a:endParaRPr b="1" sz="29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348763" y="2250475"/>
            <a:ext cx="1280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Заняття №22</a:t>
            </a:r>
            <a:endParaRPr sz="110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1715300" y="2281975"/>
            <a:ext cx="2437200" cy="2910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для OSINT і розвідки</a:t>
            </a:r>
            <a:endParaRPr sz="1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189925" y="4185400"/>
            <a:ext cx="299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Лектор</a:t>
            </a:r>
            <a:endParaRPr sz="2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Ім’я та Прізвище</a:t>
            </a:r>
            <a:endParaRPr sz="2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/>
        </p:nvSpPr>
        <p:spPr>
          <a:xfrm>
            <a:off x="4444525" y="501800"/>
            <a:ext cx="42111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Після цього заняття ви зможете:</a:t>
            </a:r>
            <a:endParaRPr b="1"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Бачити, які саме техніки курсу застосовувались у відомих розслідуваннях (MH17, Скрипалі, Навальний, Bucha, Pandora Papers, Bybit, Doppelganger)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Реконструювати методологію кейсу: від першого сигналу до публікації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Розкласти будь-який кейс на шарди ArkhamMirror і пройти його у платформі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Розуміти, де AI прискорив роботу —                         і де (і чому) він помиляється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Відрізняти зразкову роботу від гучних провалів OSINT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Підготуватись до захисту власної курсової роботи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Принцип уроку: техніка без кейсу — теорія. Кейс без техніки — історія. Аналітик працює на перетині, а інструмент тримає процес під контролем.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9" name="Google Shape;109;p26"/>
          <p:cNvSpPr txBox="1"/>
          <p:nvPr/>
        </p:nvSpPr>
        <p:spPr>
          <a:xfrm>
            <a:off x="196050" y="1258725"/>
            <a:ext cx="3669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Цей урок зшиває все вивчене навколо реальних кейсів — і прив'язує до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інструменту, який стоїть у вас на localhost:8100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196050" y="150525"/>
            <a:ext cx="4126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90500" lvl="2" marL="0" rtl="0" algn="l">
              <a:spcBef>
                <a:spcPts val="700"/>
              </a:spcBef>
              <a:spcAft>
                <a:spcPts val="600"/>
              </a:spcAft>
              <a:buClr>
                <a:srgbClr val="076CFC"/>
              </a:buClr>
              <a:buSzPts val="3000"/>
              <a:buFont typeface="IBM Plex Mono"/>
              <a:buAutoNum type="arabicPeriod"/>
            </a:pPr>
            <a:r>
              <a:rPr b="1" lang="en" sz="3000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МЕТА ПІДСУМКОВОГО УРОКУ</a:t>
            </a:r>
            <a:endParaRPr b="1" sz="30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/>
          <p:nvPr/>
        </p:nvSpPr>
        <p:spPr>
          <a:xfrm>
            <a:off x="287750" y="1145800"/>
            <a:ext cx="8572200" cy="3708900"/>
          </a:xfrm>
          <a:prstGeom prst="roundRect">
            <a:avLst>
              <a:gd fmla="val 719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27"/>
          <p:cNvGraphicFramePr/>
          <p:nvPr/>
        </p:nvGraphicFramePr>
        <p:xfrm>
          <a:off x="692400" y="1363538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1939400"/>
                <a:gridCol w="1940200"/>
                <a:gridCol w="1939400"/>
                <a:gridCol w="19402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Блок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Уроки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Ключова навичка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 ArkhamMirror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Основи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01–02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OSINT-цикл, GenAI, промптинг, RAG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Search, Embeddings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Верифікація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03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Дипфейки, форензика зображень/відео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Forensics, Provenance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Збір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04, 07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Соцмережі, скрапінг, API, пайплайни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Ingest, OCR, Parse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Зв'язки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05–06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Entity resolution, графи знань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Entities, Graph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Патерни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09–10, 12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Кластеризація, тренди, real-time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Patterns, Anomalies, Timeline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Продукт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Звіти, шаблони, візуалізація, агенти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Reports, Letters, Summary, Export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Дисципліна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Bias, право, етика, ACH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ACH, Credibility, Claims, Contradictions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27"/>
          <p:cNvSpPr txBox="1"/>
          <p:nvPr/>
        </p:nvSpPr>
        <p:spPr>
          <a:xfrm>
            <a:off x="287966" y="174854"/>
            <a:ext cx="115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КАРТА КУРСУ: ЩО МИ ПРОЙШЛИ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/>
        </p:nvSpPr>
        <p:spPr>
          <a:xfrm>
            <a:off x="287966" y="174854"/>
            <a:ext cx="115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ВЕЛИКА ІДЕЯ ВСЬОГО КУРСУ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23" name="Google Shape;123;p28"/>
          <p:cNvSpPr/>
          <p:nvPr/>
        </p:nvSpPr>
        <p:spPr>
          <a:xfrm>
            <a:off x="348525" y="821350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Якщо забути все, крім одного речення, нехай це буде воно: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— мультиплікатор сили аналітика, а не його заміна.                                                              Швидкість дає машина. Відповідальність за висновок несе людина.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28"/>
          <p:cNvSpPr txBox="1"/>
          <p:nvPr/>
        </p:nvSpPr>
        <p:spPr>
          <a:xfrm>
            <a:off x="348525" y="1921775"/>
            <a:ext cx="568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це означає на практиці у кейсах нижче: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5" name="Google Shape;125;p28"/>
          <p:cNvSpPr/>
          <p:nvPr/>
        </p:nvSpPr>
        <p:spPr>
          <a:xfrm>
            <a:off x="432750" y="2321975"/>
            <a:ext cx="8399400" cy="526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AI обробив тисячі годин відео — людина обрала ті 12 секунд, що стали доказом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28"/>
          <p:cNvSpPr/>
          <p:nvPr/>
        </p:nvSpPr>
        <p:spPr>
          <a:xfrm>
            <a:off x="432750" y="2848775"/>
            <a:ext cx="8399400" cy="526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AI знайшов збіг облич на 87% — людина підтвердила його паспортними даними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28"/>
          <p:cNvSpPr/>
          <p:nvPr/>
        </p:nvSpPr>
        <p:spPr>
          <a:xfrm>
            <a:off x="432750" y="3360900"/>
            <a:ext cx="8399400" cy="526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 згенерував граф із 11 млн документів — людина поставила правильне питання до графа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" name="Google Shape;128;p28"/>
          <p:cNvSpPr/>
          <p:nvPr/>
        </p:nvSpPr>
        <p:spPr>
          <a:xfrm>
            <a:off x="432750" y="3887700"/>
            <a:ext cx="8399400" cy="526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ArkhamMirror побудував матрицю суперечностей — людина вирішила, яка з них критична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" name="Google Shape;129;p28"/>
          <p:cNvSpPr/>
          <p:nvPr/>
        </p:nvSpPr>
        <p:spPr>
          <a:xfrm>
            <a:off x="432750" y="4399825"/>
            <a:ext cx="8399400" cy="526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Там, де цей баланс порушували, OSINT помилявся (слайди про Boston і про межі AI).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30" name="Google Shape;13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8350" y="455700"/>
            <a:ext cx="1578329" cy="98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287966" y="174854"/>
            <a:ext cx="115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ЯК ЧИТАТИ ЦЕЙ УРОК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36" name="Google Shape;136;p29"/>
          <p:cNvSpPr/>
          <p:nvPr/>
        </p:nvSpPr>
        <p:spPr>
          <a:xfrm>
            <a:off x="348525" y="821350"/>
            <a:ext cx="83994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Кожен кейс розбираємо за єдиним шаблоном — тим самим, що ви застосуєте у курсовій: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29"/>
          <p:cNvSpPr/>
          <p:nvPr/>
        </p:nvSpPr>
        <p:spPr>
          <a:xfrm>
            <a:off x="383025" y="14006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526730" y="1577441"/>
            <a:ext cx="2634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 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сталося і чому це було важко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29"/>
          <p:cNvSpPr/>
          <p:nvPr/>
        </p:nvSpPr>
        <p:spPr>
          <a:xfrm>
            <a:off x="3158923" y="14006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3302628" y="1577441"/>
            <a:ext cx="26349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ПЕРШИЙ СИГНАЛ 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стало відправною точкою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p29"/>
          <p:cNvSpPr/>
          <p:nvPr/>
        </p:nvSpPr>
        <p:spPr>
          <a:xfrm>
            <a:off x="5937522" y="14006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6081226" y="1577441"/>
            <a:ext cx="26349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ТЕХНІКИ 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Які методи курсу застосовано (з номерами уроків)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29"/>
          <p:cNvSpPr/>
          <p:nvPr/>
        </p:nvSpPr>
        <p:spPr>
          <a:xfrm>
            <a:off x="383025" y="2693048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526730" y="2869839"/>
            <a:ext cx="2634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У ArkhamMirror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Які шарди пройшов би кейс  у нашій платформі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5" name="Google Shape;145;p29"/>
          <p:cNvSpPr/>
          <p:nvPr/>
        </p:nvSpPr>
        <p:spPr>
          <a:xfrm>
            <a:off x="3158923" y="2693048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9"/>
          <p:cNvSpPr txBox="1"/>
          <p:nvPr/>
        </p:nvSpPr>
        <p:spPr>
          <a:xfrm>
            <a:off x="3302628" y="2869839"/>
            <a:ext cx="2634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Де AI прискорив — і де його не було/не можна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29"/>
          <p:cNvSpPr/>
          <p:nvPr/>
        </p:nvSpPr>
        <p:spPr>
          <a:xfrm>
            <a:off x="5937522" y="2693048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9"/>
          <p:cNvSpPr txBox="1"/>
          <p:nvPr/>
        </p:nvSpPr>
        <p:spPr>
          <a:xfrm>
            <a:off x="6081226" y="2869839"/>
            <a:ext cx="26349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УРОК         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Що з цього забираєте ви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9" name="Google Shape;149;p29"/>
          <p:cNvSpPr/>
          <p:nvPr/>
        </p:nvSpPr>
        <p:spPr>
          <a:xfrm>
            <a:off x="348525" y="3954926"/>
            <a:ext cx="8399400" cy="7767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Тримайте цей шаблон перед очима. Наприкінці уроку ви побачите, що він і є універсальним каркасом OSINT-розслідування — і саме його реалізує ArkhamMirror.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7164">
            <a:off x="2367287" y="2361601"/>
            <a:ext cx="440942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0"/>
          <p:cNvSpPr txBox="1"/>
          <p:nvPr/>
        </p:nvSpPr>
        <p:spPr>
          <a:xfrm>
            <a:off x="66700" y="920475"/>
            <a:ext cx="914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I — НАШ ІНСТРУМЕНТАРІЙ: ПЛАТФОРМА SHATTERED / ARKHAMMIRROR</a:t>
            </a:r>
            <a:endParaRPr b="1" sz="36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/>
          <p:nvPr/>
        </p:nvSpPr>
        <p:spPr>
          <a:xfrm>
            <a:off x="348525" y="1809850"/>
            <a:ext cx="4201800" cy="2919300"/>
          </a:xfrm>
          <a:prstGeom prst="roundRect">
            <a:avLst>
              <a:gd fmla="val 519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4546179" y="1809850"/>
            <a:ext cx="4201800" cy="2919300"/>
          </a:xfrm>
          <a:prstGeom prst="roundRect">
            <a:avLst>
              <a:gd fmla="val 7491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1"/>
          <p:cNvSpPr txBox="1"/>
          <p:nvPr/>
        </p:nvSpPr>
        <p:spPr>
          <a:xfrm>
            <a:off x="4607675" y="1870900"/>
            <a:ext cx="4078800" cy="27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Ключова властивість — local-first: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Дані розслідування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 покидають вашу машину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(ARKHAM_OFFLINE_MODE=true для повного air-gap)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 — локальна (Ollama, напр. gemma3:4b), а не комерційний API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Кожен крок логується → відтворюваність і ланцюг доказів «з коробки»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360045" marR="360045" rtl="0" algn="l">
              <a:spcBef>
                <a:spcPts val="700"/>
              </a:spcBef>
              <a:spcAft>
                <a:spcPts val="141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Усе, що ми розбираємо в реальних кейсах, ArkhamMirror дозволяє робити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 власному залізі, без витоку PII фігурантів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31"/>
          <p:cNvSpPr txBox="1"/>
          <p:nvPr/>
        </p:nvSpPr>
        <p:spPr>
          <a:xfrm>
            <a:off x="287966" y="174854"/>
            <a:ext cx="1156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ArkhamMirror: що це і навіщо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64" name="Google Shape;164;p31"/>
          <p:cNvSpPr/>
          <p:nvPr/>
        </p:nvSpPr>
        <p:spPr>
          <a:xfrm>
            <a:off x="348525" y="821350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ArkhamMirror (кодова назва SHATTERED) — локальна модульна платформа аналізу документів і медіа, яку ви розгорнули на localhost:8100. Це не «ще один онлайн-сервіс», а повний OSINT-конвеєр у вас на машині.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5" name="Google Shape;165;p31"/>
          <p:cNvSpPr txBox="1"/>
          <p:nvPr/>
        </p:nvSpPr>
        <p:spPr>
          <a:xfrm>
            <a:off x="445125" y="1870900"/>
            <a:ext cx="4105200" cy="2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Архітектура: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1415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ArkhamFrame (ядро)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├── PostgreSQL + pgvector  (зберігання + векторний пошук)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├── EventBus               (шарди спілкуються подіями, не прямими викликами)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├── LLM-клієнт             (Ollama / LM Studio — локально)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└── Worker pools           (cpu-ner, cpu-image, gpu-ocr, llm-analysis…)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│</a:t>
            </a:r>
            <a:b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└── 26 Шардів (плагінів)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/>
          <p:nvPr/>
        </p:nvSpPr>
        <p:spPr>
          <a:xfrm>
            <a:off x="348525" y="1809850"/>
            <a:ext cx="8392500" cy="29193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32"/>
          <p:cNvGraphicFramePr/>
          <p:nvPr/>
        </p:nvGraphicFramePr>
        <p:xfrm>
          <a:off x="687538" y="19741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570975"/>
                <a:gridCol w="2571750"/>
                <a:gridCol w="2571750"/>
              </a:tblGrid>
              <a:tr h="22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Група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Шарди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Етап циклу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DATA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Ingest · OCR · Parse · Documents · Embed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Збір + Обробка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 (semantic/keyword/hybrid) · Embeddings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Доступ до корпусу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6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ANALYSIS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Claims · Contradictions · ACH · Entities · Credibility · Provenance · Patterns · Anomalies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Аналіз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VISUALIZE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 (force + geospatial) · Timeline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Інтерпретація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EXPORT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Reports · Letters · Packets · Summary · Templates · Export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Поширення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32"/>
          <p:cNvSpPr txBox="1"/>
          <p:nvPr/>
        </p:nvSpPr>
        <p:spPr>
          <a:xfrm>
            <a:off x="387075" y="1283050"/>
            <a:ext cx="66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Шарди згруповані рівно за етапами OSINT-циклу (Урок 01):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32"/>
          <p:cNvSpPr txBox="1"/>
          <p:nvPr/>
        </p:nvSpPr>
        <p:spPr>
          <a:xfrm>
            <a:off x="287972" y="174850"/>
            <a:ext cx="79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26 ШАРДІВ = ВЕСЬ OSINT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ЦИКЛ                  В ОДНОМУ ВІКНІ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2600" y="75675"/>
            <a:ext cx="1898424" cy="189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287972" y="174850"/>
            <a:ext cx="7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ЯК ЦЕ ПРАЦЮЄ НА ПРАКТИЦІ: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180" name="Google Shape;180;p33"/>
          <p:cNvSpPr/>
          <p:nvPr/>
        </p:nvSpPr>
        <p:spPr>
          <a:xfrm>
            <a:off x="383025" y="117980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3"/>
          <p:cNvSpPr txBox="1"/>
          <p:nvPr/>
        </p:nvSpPr>
        <p:spPr>
          <a:xfrm>
            <a:off x="526730" y="1356591"/>
            <a:ext cx="26349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Кидаєте документи/медіа в Ingest → EventBus автоматично запускає OCR, parse, embed, media-forensics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p33"/>
          <p:cNvSpPr/>
          <p:nvPr/>
        </p:nvSpPr>
        <p:spPr>
          <a:xfrm>
            <a:off x="3158923" y="117980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3"/>
          <p:cNvSpPr txBox="1"/>
          <p:nvPr/>
        </p:nvSpPr>
        <p:spPr>
          <a:xfrm>
            <a:off x="3302628" y="1356591"/>
            <a:ext cx="2634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Шукаєте по корпусу в Search (гібридний: семантика + ключові слова)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33"/>
          <p:cNvSpPr/>
          <p:nvPr/>
        </p:nvSpPr>
        <p:spPr>
          <a:xfrm>
            <a:off x="5937522" y="117980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3"/>
          <p:cNvSpPr txBox="1"/>
          <p:nvPr/>
        </p:nvSpPr>
        <p:spPr>
          <a:xfrm>
            <a:off x="6081226" y="1356591"/>
            <a:ext cx="26349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Витягуєте Claims і Entities, будуєте Graph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33"/>
          <p:cNvSpPr/>
          <p:nvPr/>
        </p:nvSpPr>
        <p:spPr>
          <a:xfrm>
            <a:off x="383025" y="247220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598617" y="2648991"/>
            <a:ext cx="39531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Ганяєте Contradictions і ACH для перевірки гіпотез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4547545" y="247220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4763137" y="2648991"/>
            <a:ext cx="39531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Збираєте Report з усього зібраного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7962800" y="932200"/>
            <a:ext cx="748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45" marR="360045" rtl="0" algn="l">
              <a:spcBef>
                <a:spcPts val="0"/>
              </a:spcBef>
              <a:spcAft>
                <a:spcPts val="1415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348525" y="3764600"/>
            <a:ext cx="83994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Один інструмент проводить кейс від сирого файлу до готового звіту — не залишаючи вашу мережу.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/>
          <p:nvPr/>
        </p:nvSpPr>
        <p:spPr>
          <a:xfrm>
            <a:off x="348525" y="2424125"/>
            <a:ext cx="8399400" cy="23049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 txBox="1"/>
          <p:nvPr/>
        </p:nvSpPr>
        <p:spPr>
          <a:xfrm>
            <a:off x="396725" y="1943138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Що дає ArkhamMirror у таких кейсах:</a:t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graphicFrame>
        <p:nvGraphicFramePr>
          <p:cNvPr id="198" name="Google Shape;198;p34"/>
          <p:cNvGraphicFramePr/>
          <p:nvPr/>
        </p:nvGraphicFramePr>
        <p:xfrm>
          <a:off x="629375" y="26780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714975"/>
                <a:gridCol w="271497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Ризик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Рішення платформи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Витік PII в комерційний LLM-API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Локальна LLM через Ollama, ARKHAM_OFFLINE_MODE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Дані залишають вашу юрисдикцію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Усе в локальному PostgreSQL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Неможливість відтворити аналіз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EventBus логує кожну подію + версію моделі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C2PA / підробка медіа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 перевіряє підписи локально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34"/>
          <p:cNvSpPr txBox="1"/>
          <p:nvPr/>
        </p:nvSpPr>
        <p:spPr>
          <a:xfrm>
            <a:off x="6214725" y="2837825"/>
            <a:ext cx="237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Правило безпеки даних (Урок 14):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для чутливого кейсу інструмент має працювати там, де лежать дані — а не навпаки.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    С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аме тому платформа курсу — локальна.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287972" y="174850"/>
            <a:ext cx="79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ЧОМУ LOCAL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FIRST КРИТИЧНИЙ                 (УРОК ЗІ СПРАВ ПРО ОТРУЄННЯ)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01" name="Google Shape;201;p34"/>
          <p:cNvSpPr/>
          <p:nvPr/>
        </p:nvSpPr>
        <p:spPr>
          <a:xfrm>
            <a:off x="348525" y="1283050"/>
            <a:ext cx="83994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Кейси Скрипалів і Навального працювали з даними, які не можна було злити в хмару:                       PII фігурантів, оперативна інформація, куплені бази.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/>
        </p:nvSpPr>
        <p:spPr>
          <a:xfrm>
            <a:off x="442200" y="616800"/>
            <a:ext cx="8259600" cy="15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225" lIns="86225" spcFirstLastPara="1" rIns="86225" wrap="square" tIns="862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28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II — ГЕОЛОКАЦІЯ ТА ХРОНОЛОКАЦІЯ</a:t>
            </a:r>
            <a:endParaRPr b="1" sz="4528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207" name="Google Shape;20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7279" y="1720197"/>
            <a:ext cx="3359379" cy="3359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/>
        </p:nvSpPr>
        <p:spPr>
          <a:xfrm>
            <a:off x="287972" y="174850"/>
            <a:ext cx="79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1: MH17 — ГЕОЛОКАЦІЯ, ЩО ПЕРЕЖИЛА ЗАПЕРЕЧЕННЯ ДЕРЖАВИ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372300" y="1376175"/>
            <a:ext cx="8399400" cy="988500"/>
          </a:xfrm>
          <a:prstGeom prst="roundRect">
            <a:avLst>
              <a:gd fmla="val 2124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17 липня 2014 року рейс MH17 (Amsterdam → Kuala Lumpur) збито над Донеччиною. 298 загиблих. Москва висунула шість взаємовиключних версій. Жодного офіційного доступу до місця.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4" name="Google Shape;214;p36"/>
          <p:cNvSpPr/>
          <p:nvPr/>
        </p:nvSpPr>
        <p:spPr>
          <a:xfrm>
            <a:off x="372300" y="2364675"/>
            <a:ext cx="8399400" cy="988500"/>
          </a:xfrm>
          <a:prstGeom prst="roundRect">
            <a:avLst>
              <a:gd fmla="val 2124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Перший сигнал: фото й відео ракетного комплексу «Бук», викладені місцевими                                у ВКонтакте та Twitter у дні навколо катастрофи.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372300" y="3353175"/>
            <a:ext cx="8399400" cy="988500"/>
          </a:xfrm>
          <a:prstGeom prst="roundRect">
            <a:avLst>
              <a:gd fmla="val 2281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Чому це еталон: Bellingcat реконструював маршрут конкретної пускової «Бук» від Курська (53-тя ЗРБр РФ) до поля під Сніжним — виключно з відкритих джерел. Висновки лягли в основу справи Joint Investigation Team і вироку суду в Гаазі (2022).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/>
        </p:nvSpPr>
        <p:spPr>
          <a:xfrm>
            <a:off x="287975" y="174850"/>
            <a:ext cx="979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MH17: ТЕХНІКИ КУРСУ + ШАРДИ ARKHAMMIRROR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348525" y="884975"/>
            <a:ext cx="8392500" cy="29193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37"/>
          <p:cNvGraphicFramePr/>
          <p:nvPr/>
        </p:nvGraphicFramePr>
        <p:xfrm>
          <a:off x="559825" y="10349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656100"/>
                <a:gridCol w="2656900"/>
                <a:gridCol w="26569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Техніка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Урок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 ArkhamMirror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Збір із соцмереж, поки не видалили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04, 07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Ingest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(масове завантаження)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Хронолокація за тінями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03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→ sun-position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Пошук дублікатів того самого фото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03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→ similar (phash, Hamming distance)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Геолокація за орієнтирами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03, 14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(geospatial вид)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Entity resolution: той самий «Бук»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05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(унікальні маркери)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Маршрут конвою як ланцюг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06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Timeline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Архівна копія доказів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Documents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Provenance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Спростування 6 версій Москви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03, 13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Contradictions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(doc-vs-doc)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37"/>
          <p:cNvSpPr/>
          <p:nvPr/>
        </p:nvSpPr>
        <p:spPr>
          <a:xfrm>
            <a:off x="348525" y="3804275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Ключ: жоден окремий пост нічого не доводив. Доводила мережа з десятків незалежних джерел, що сходились в одну точку простору й часу — рівно те, що показує geospatial-граф у платформі.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/>
        </p:nvSpPr>
        <p:spPr>
          <a:xfrm>
            <a:off x="483625" y="1388950"/>
            <a:ext cx="775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287975" y="174850"/>
            <a:ext cx="8927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MH17: ЯК ЦЕЙ КЕЙС ПРОЙШОВ БИ ARKHAMMIRROR СЬОГОДНІ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30" name="Google Shape;230;p38"/>
          <p:cNvSpPr/>
          <p:nvPr/>
        </p:nvSpPr>
        <p:spPr>
          <a:xfrm>
            <a:off x="348525" y="1663425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INGEST Усі VK/Twitter фото та відео → автоматичний OCR + media-forensics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348525" y="2240683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MEDIA FOREN.  sun-position → час доби кожного кадру  similar (phash) → той самий «Бук» на різних знімках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348525" y="2819979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ENTITIES      Витяг: «Бук», номер борту, локації, підрозділ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3" name="Google Shape;233;p38"/>
          <p:cNvSpPr/>
          <p:nvPr/>
        </p:nvSpPr>
        <p:spPr>
          <a:xfrm>
            <a:off x="348525" y="3399279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GRAPH (geo)   Точки маршруту як геоприв'язані вузли → лінія Курськ→Сніжне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4" name="Google Shape;234;p38"/>
          <p:cNvSpPr/>
          <p:nvPr/>
        </p:nvSpPr>
        <p:spPr>
          <a:xfrm>
            <a:off x="4571925" y="1663425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TIMELINE      Хронологія руху колони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5" name="Google Shape;235;p38"/>
          <p:cNvSpPr/>
          <p:nvPr/>
        </p:nvSpPr>
        <p:spPr>
          <a:xfrm>
            <a:off x="4571925" y="2240683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CONTRADICT.   6 офіційних версій РФ → матриця взаємних суперечностей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6" name="Google Shape;236;p38"/>
          <p:cNvSpPr/>
          <p:nvPr/>
        </p:nvSpPr>
        <p:spPr>
          <a:xfrm>
            <a:off x="4571925" y="2819979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PROVENANCE    Ланцюг походження кожного доказу (для суду)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7" name="Google Shape;237;p38"/>
          <p:cNvSpPr/>
          <p:nvPr/>
        </p:nvSpPr>
        <p:spPr>
          <a:xfrm>
            <a:off x="4571925" y="3399279"/>
            <a:ext cx="42234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        Автоскладання spot report із BLUF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8" name="Google Shape;238;p38"/>
          <p:cNvSpPr/>
          <p:nvPr/>
        </p:nvSpPr>
        <p:spPr>
          <a:xfrm>
            <a:off x="348525" y="3976525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Незмінне: фінальну геолокацію кожної точки і досі підтверджує людина. AI/платформа пропонують кандидатів — аналітик доводить.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/>
          <p:nvPr/>
        </p:nvSpPr>
        <p:spPr>
          <a:xfrm>
            <a:off x="483625" y="2168532"/>
            <a:ext cx="2003400" cy="24330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9"/>
          <p:cNvSpPr/>
          <p:nvPr/>
        </p:nvSpPr>
        <p:spPr>
          <a:xfrm>
            <a:off x="2594106" y="1904125"/>
            <a:ext cx="2003400" cy="24330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9"/>
          <p:cNvSpPr/>
          <p:nvPr/>
        </p:nvSpPr>
        <p:spPr>
          <a:xfrm>
            <a:off x="4681382" y="2168532"/>
            <a:ext cx="2003400" cy="24330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9"/>
          <p:cNvSpPr/>
          <p:nvPr/>
        </p:nvSpPr>
        <p:spPr>
          <a:xfrm>
            <a:off x="6791863" y="1904125"/>
            <a:ext cx="2003400" cy="24330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9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287975" y="174850"/>
            <a:ext cx="89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MH17: УРОК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49" name="Google Shape;249;p39"/>
          <p:cNvSpPr/>
          <p:nvPr/>
        </p:nvSpPr>
        <p:spPr>
          <a:xfrm>
            <a:off x="348525" y="82135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Дані держави можна спростувати відкритими джерелами — якщо їх багато, вони незалежні й верифіковані.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0" name="Google Shape;250;p39"/>
          <p:cNvSpPr txBox="1"/>
          <p:nvPr/>
        </p:nvSpPr>
        <p:spPr>
          <a:xfrm>
            <a:off x="387075" y="1503925"/>
            <a:ext cx="66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забираєте: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1" name="Google Shape;251;p39"/>
          <p:cNvSpPr txBox="1"/>
          <p:nvPr/>
        </p:nvSpPr>
        <p:spPr>
          <a:xfrm>
            <a:off x="623300" y="2689314"/>
            <a:ext cx="17472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Збирайте до того, як докази зникнуть (правило архівної копії, Урок 11)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39"/>
          <p:cNvSpPr txBox="1"/>
          <p:nvPr/>
        </p:nvSpPr>
        <p:spPr>
          <a:xfrm>
            <a:off x="2710600" y="2356757"/>
            <a:ext cx="17472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Один доказ — гіпотеза. Факт — це перетин трьох незалежних джерел (Урок 11)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4821088" y="2441514"/>
            <a:ext cx="17472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Геолокація — не «здогадка», а ланцюг верифікованих орієнтирів, який повторить інший аналітик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6908338" y="2232855"/>
            <a:ext cx="17472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Суперечності у версіях супротивника — самостійний доказ (шард Contradictions)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/>
        </p:nvSpPr>
        <p:spPr>
          <a:xfrm>
            <a:off x="216300" y="202475"/>
            <a:ext cx="6279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РЕАЛЬНІСТЬ AI-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ГЕОЛОКАЦІЇ: ЩО ПРАЦЮЄ, А ЩО БРЕШЕ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60" name="Google Shape;260;p40"/>
          <p:cNvSpPr/>
          <p:nvPr/>
        </p:nvSpPr>
        <p:spPr>
          <a:xfrm>
            <a:off x="348525" y="1310675"/>
            <a:ext cx="8392500" cy="35679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1" name="Google Shape;261;p40"/>
          <p:cNvGraphicFramePr/>
          <p:nvPr/>
        </p:nvGraphicFramePr>
        <p:xfrm>
          <a:off x="525125" y="20357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1838400"/>
                <a:gridCol w="29427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Інструмент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Результат тестів Bellingcat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ChatGPT o4-mini-high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Найкращий серед LLM (червень 2025)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Google Lens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Сильний, часто переграє LLM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GPT-5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Гірший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за o4-mini-high — швидше, але менш точно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GPT-5 Pro (€200/міс)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Не точніший за дешеву модель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StreetCLIP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Спеціалізована: країна / регіон / місто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GeoSpy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Геолокація лише з пікселів (без EXIF), до метра в місті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40"/>
          <p:cNvSpPr txBox="1"/>
          <p:nvPr/>
        </p:nvSpPr>
        <p:spPr>
          <a:xfrm>
            <a:off x="5455400" y="1601050"/>
            <a:ext cx="31890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OSINT 2026 спокушає кинути фото в чат-бот і отримати координати.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Bellingcat перевірив це експериментально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(500 тестів, 2023 → 2025):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Критичне обмеження: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галюцинації різко зростають, коли сцена тимчасова або змінилася — модель впевнено вказує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інше місце зі схожими орієнтирами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Урок: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AI-геолокація — це генератор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гіпотез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а не відповідей. GeoSpy/LLM дають кандидата → аналітик підтверджує класичним методом (орієнтири, тіні, супутник). Дорожча модель ≠ точніша.</a:t>
            </a:r>
            <a:endParaRPr sz="12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/>
        </p:nvSpPr>
        <p:spPr>
          <a:xfrm>
            <a:off x="216300" y="202475"/>
            <a:ext cx="885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2: ВИБУХ БІЛЯ ЛІКАРНІ АЛЬ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АХЛІ — КОЛИ OSINT НЕ ДАЄ ОДНІЄЇ ВІДПОВІДІ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68" name="Google Shape;268;p41"/>
          <p:cNvSpPr/>
          <p:nvPr/>
        </p:nvSpPr>
        <p:spPr>
          <a:xfrm>
            <a:off x="348525" y="142875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17 жовтня 2023 року вибух біля лікарні Аль-Ахлі в Газі. Миттєво — дві взаємовиключні версії про причину й винного. Глобальна інформаційна буря за лічені години.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p41"/>
          <p:cNvSpPr txBox="1"/>
          <p:nvPr/>
        </p:nvSpPr>
        <p:spPr>
          <a:xfrm>
            <a:off x="348525" y="2126125"/>
            <a:ext cx="59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зробив OSINT (різні групи, різні висновки):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483625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2594109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/>
          <p:nvPr/>
        </p:nvSpPr>
        <p:spPr>
          <a:xfrm>
            <a:off x="4681388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1"/>
          <p:cNvSpPr/>
          <p:nvPr/>
        </p:nvSpPr>
        <p:spPr>
          <a:xfrm>
            <a:off x="6791872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1"/>
          <p:cNvSpPr txBox="1"/>
          <p:nvPr/>
        </p:nvSpPr>
        <p:spPr>
          <a:xfrm>
            <a:off x="623300" y="3090025"/>
            <a:ext cx="174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Bellingcat —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геолокував ймовірний кратер (≈31.5049, 34.4616), аналіз кадрів аварії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2640712" y="2644400"/>
            <a:ext cx="1887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Forensic Architecture — реконструкція фізики: вибух у повітрі на висоті ~5 км; уламки в вільному падінні досягли б землі за ~31 с, а вибух стався лише через ~8 с → та траєкторія не могла бути причиною</a:t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4821094" y="3274682"/>
            <a:ext cx="174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Wall Street Journal — 4 геолокованих верифікованих відео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6908347" y="3129193"/>
            <a:ext cx="174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CNN — без доступу до місця остаточна атрибуція неможлива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10608250" y="202475"/>
            <a:ext cx="30000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/>
          <p:nvPr/>
        </p:nvSpPr>
        <p:spPr>
          <a:xfrm>
            <a:off x="348525" y="1315675"/>
            <a:ext cx="8392500" cy="34329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2"/>
          <p:cNvSpPr txBox="1"/>
          <p:nvPr/>
        </p:nvSpPr>
        <p:spPr>
          <a:xfrm>
            <a:off x="10649725" y="1315675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graphicFrame>
        <p:nvGraphicFramePr>
          <p:cNvPr id="285" name="Google Shape;285;p42"/>
          <p:cNvGraphicFramePr/>
          <p:nvPr/>
        </p:nvGraphicFramePr>
        <p:xfrm>
          <a:off x="610350" y="15557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593000"/>
                <a:gridCol w="25930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Принцип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Як проявився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OSINT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звужує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простір версій, не завжди закриває його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Фізика виключила одну траєкторію, але не дала фінальної атрибуції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Фізика &gt; емоції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Розрахунок часу вільного падіння переважив гарячі заяви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Дуельні наративи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Обидві сторони вкидали «докази» в перші хвилини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Чесність про невизначеність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«Не можемо встановити без доступу до місця» — теж висновок (рівень впевненості, Урок 11)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Швидкість = ризик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Найгірші помилки зробили ті, хто публікував за 10 хвилин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42"/>
          <p:cNvSpPr txBox="1"/>
          <p:nvPr/>
        </p:nvSpPr>
        <p:spPr>
          <a:xfrm>
            <a:off x="5984425" y="1555750"/>
            <a:ext cx="26100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Цей кейс — не про «хто має рацію». Він про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дисципліну в умовах інформаційної війни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(Урок 03, 13):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Зрілий аналітик каже «ось що ми можемо виключити і з якою впевненістю», а не «ось хто винен» — коли даних недостатньо.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7" name="Google Shape;287;p42"/>
          <p:cNvSpPr txBox="1"/>
          <p:nvPr/>
        </p:nvSpPr>
        <p:spPr>
          <a:xfrm>
            <a:off x="216300" y="202475"/>
            <a:ext cx="8140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АЛЬ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АХЛІ: ЧОМУ ЦЕ НАЙВАЖЛИВІШИЙ КЕЙС ПРО МЕЖІ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194200" y="153950"/>
            <a:ext cx="661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АЛЬ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АХЛІ В ARKHAMMIRROR: ШАРД CONTRADICTIONS + ACH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194200" y="1283050"/>
            <a:ext cx="66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Саме для таких «дуельних» кейсів у платформі є два спеціальні шарди: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383025" y="1789150"/>
            <a:ext cx="2778600" cy="3034200"/>
          </a:xfrm>
          <a:prstGeom prst="roundRect">
            <a:avLst>
              <a:gd fmla="val 1050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3158925" y="1789150"/>
            <a:ext cx="3241500" cy="3034200"/>
          </a:xfrm>
          <a:prstGeom prst="roundRect">
            <a:avLst>
              <a:gd fmla="val 1333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6400425" y="1789150"/>
            <a:ext cx="2315700" cy="3034200"/>
          </a:xfrm>
          <a:prstGeom prst="roundRect">
            <a:avLst>
              <a:gd fmla="val 1207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483625" y="1991250"/>
            <a:ext cx="2319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CONTRADICTIONS:  завантажуєте заяви обох сторін + експертні звіти</a:t>
            </a:r>
            <a:b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→ POST /analyze (doc_a vs doc_b, use_llm=true)</a:t>
            </a:r>
            <a:b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автоматична матриця: де твердження прямо суперечать</a:t>
            </a:r>
            <a:b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detect-chains: ланцюги суперечностей</a:t>
            </a:r>
            <a:b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1200"/>
          </a:p>
        </p:txBody>
      </p:sp>
      <p:sp>
        <p:nvSpPr>
          <p:cNvPr id="299" name="Google Shape;299;p43"/>
          <p:cNvSpPr txBox="1"/>
          <p:nvPr/>
        </p:nvSpPr>
        <p:spPr>
          <a:xfrm>
            <a:off x="6524850" y="1991250"/>
            <a:ext cx="2319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ArkhamMirror не «вирішує, хто винен». Він </a:t>
            </a:r>
            <a:r>
              <a:rPr b="1"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структурує невизначеність</a:t>
            </a:r>
            <a:r>
              <a:rPr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так, щоб ваш висновок був захищеним і відтворюваним.</a:t>
            </a:r>
            <a:endParaRPr b="1"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3287738" y="1915950"/>
            <a:ext cx="3000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1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ACH (Analysis of Competing Hypotheses):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Step 1  matrix      «Причина вибуху біля Аль-Ахлі»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Step 2  hypotheses  H1: авіаудар · H2: невдалий пуск ракети · H3: інше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Step 3  evidence    кратер, висота вибуху, час падіння, аудіо, відео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Step 4  ratings     ++/+/N/−/−− для кожної пари доказ×гіпотеза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/score              → НИЖЧИЙ бал = найменше суперечностей = найімовірніша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/ai/devils-advocate → платформа сама атакує провідну гіпотезу</a:t>
            </a:r>
            <a:b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1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/ai/premortem       → «чому цей висновок може виявитись хибним»</a:t>
            </a:r>
            <a:endParaRPr b="1" sz="15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01" name="Google Shape;30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5462" y="3312325"/>
            <a:ext cx="1674425" cy="1451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17786">
            <a:off x="7397960" y="3488418"/>
            <a:ext cx="1217350" cy="1193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/>
        </p:nvSpPr>
        <p:spPr>
          <a:xfrm>
            <a:off x="1384750" y="716875"/>
            <a:ext cx="65079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III — ENTITY RESOLUTION ТА АТРИБУЦІЯ</a:t>
            </a:r>
            <a:endParaRPr b="1" sz="45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775" y="2476497"/>
            <a:ext cx="3042150" cy="33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/>
        </p:nvSpPr>
        <p:spPr>
          <a:xfrm>
            <a:off x="287972" y="174850"/>
            <a:ext cx="79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3: СКРИПАЛІ — ВІД ПСЕВДОНІМІВ ДО ОФІЦЕРІВ ГРУ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372300" y="1376175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4 березня 2018 — отруєння Скрипалів «Новачком» у Солсбері. Британія назвала «Руслана Боширова» і «Олександра Петрова». Росія: це цивільні туристи, приїхали «подивитись на собор».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72300" y="2364675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Прорив: Bellingcat і The Insider встановили, що «Боширов» — полковник ГРУ Анатолій Чепіга (Герой Росії), а «Петров» — військовий лікар ГРУ Олександр Мішкін.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6" name="Google Shape;316;p45"/>
          <p:cNvSpPr/>
          <p:nvPr/>
        </p:nvSpPr>
        <p:spPr>
          <a:xfrm>
            <a:off x="372300" y="3353175"/>
            <a:ext cx="8399400" cy="988500"/>
          </a:xfrm>
          <a:prstGeom prst="roundRect">
            <a:avLst>
              <a:gd fmla="val 17076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508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Метод (чистий Урок 05): витоки паспортних баз і реєстрів РФ + патерн «службової» серії паспортів + порівняння паспортного фото з фото випускника військового училища + зіставлення біографій.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287972" y="174850"/>
            <a:ext cx="7976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4: НАВАЛЬНИЙ — МЕТАДАНІ ТЕЛЕФОНІВ ВИКРИВАЮТЬ ЗАГІН ФСБ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24" name="Google Shape;324;p46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6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6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6208250" y="1611925"/>
            <a:ext cx="2322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Кульмінація: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Навальний особисто зателефонував агенту, представившись помічником, і отримав зізнання про отруту в білизні. Соціальна інженерія поверх OSINT.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483625" y="1508950"/>
            <a:ext cx="23226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</a:t>
            </a: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серпень 2020 — Навального отруїли «Новачком» у літаку.                        Хто конкретно?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9" name="Google Shape;329;p46"/>
          <p:cNvSpPr txBox="1"/>
          <p:nvPr/>
        </p:nvSpPr>
        <p:spPr>
          <a:xfrm>
            <a:off x="3205000" y="1508950"/>
            <a:ext cx="2730900" cy="3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Метод (Bellingcat + The Insider + Der Spiegel + CNN, грудень 2020):</a:t>
            </a:r>
            <a:endParaRPr sz="1200">
              <a:solidFill>
                <a:schemeClr val="lt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Куплені на чорному ринку </a:t>
            </a:r>
            <a:r>
              <a:rPr b="1"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телефонні білінги</a:t>
            </a: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 і </a:t>
            </a:r>
            <a:r>
              <a:rPr b="1"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авіаквитки</a:t>
            </a: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 (в РФ це товар)</a:t>
            </a:r>
            <a:endParaRPr sz="1200">
              <a:solidFill>
                <a:schemeClr val="lt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Зіставлення: група співробітників ФСБ роками </a:t>
            </a:r>
            <a:r>
              <a:rPr b="1"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літала тими ж рейсами</a:t>
            </a: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, що й Навальний</a:t>
            </a:r>
            <a:endParaRPr sz="1200">
              <a:solidFill>
                <a:schemeClr val="lt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Перетин геолокації базових станцій із поїздками жертви</a:t>
            </a:r>
            <a:endParaRPr sz="1200">
              <a:solidFill>
                <a:schemeClr val="lt1"/>
              </a:solidFill>
              <a:latin typeface="Liberation Serif"/>
              <a:ea typeface="Liberation Serif"/>
              <a:cs typeface="Liberation Serif"/>
              <a:sym typeface="Liberation Serif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chemeClr val="lt1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Телеком-метадані → конкретні імена, інститут-«криміналістика» ФСБ</a:t>
            </a:r>
            <a:endParaRPr/>
          </a:p>
        </p:txBody>
      </p:sp>
      <p:pic>
        <p:nvPicPr>
          <p:cNvPr id="330" name="Google Shape;33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0475" y="3110950"/>
            <a:ext cx="1526225" cy="143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"/>
          <p:cNvSpPr txBox="1"/>
          <p:nvPr/>
        </p:nvSpPr>
        <p:spPr>
          <a:xfrm>
            <a:off x="287975" y="174850"/>
            <a:ext cx="8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СКРИПАЛІ/НАВАЛЬНИЙ: ENTITY RESOLUTION + ГРАФ У ARKHAMMIRROR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36" name="Google Shape;336;p47"/>
          <p:cNvSpPr/>
          <p:nvPr/>
        </p:nvSpPr>
        <p:spPr>
          <a:xfrm>
            <a:off x="348525" y="1221550"/>
            <a:ext cx="8392500" cy="28464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7"/>
          <p:cNvSpPr/>
          <p:nvPr/>
        </p:nvSpPr>
        <p:spPr>
          <a:xfrm>
            <a:off x="348525" y="4068025"/>
            <a:ext cx="8399400" cy="7248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Платформа перетворює таблицю з тисячами рядків білінгів на граф, де «диригент» групи видно за центральністю — те, що неможливо побачити очима в Excel.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338" name="Google Shape;338;p47"/>
          <p:cNvGraphicFramePr/>
          <p:nvPr/>
        </p:nvGraphicFramePr>
        <p:xfrm>
          <a:off x="666925" y="1383038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916675"/>
                <a:gridCol w="1141625"/>
                <a:gridCol w="3676250"/>
              </a:tblGrid>
              <a:tr h="206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Крок розслідування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Урок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 ArkhamMirror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3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Витоки паспортів, білінгів, перельотів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05, 07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Ingest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→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Parse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Витяг осіб, телефонів, рейсів, адрес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05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(NER)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Дедублікація: «Боширов» = Чепіга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05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(об'єднання сутностей)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«Хто з ким літав/дзвонив»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06, 14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(force) → betweenness/PageRank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Зв'язок адреси з базою ГРУ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06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5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Кожне твердження → доказ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Claims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evidence (supports/refutes)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Надійність кожного джерела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Credibility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/>
          <p:nvPr/>
        </p:nvSpPr>
        <p:spPr>
          <a:xfrm>
            <a:off x="383025" y="2008050"/>
            <a:ext cx="3277500" cy="28152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8"/>
          <p:cNvSpPr/>
          <p:nvPr/>
        </p:nvSpPr>
        <p:spPr>
          <a:xfrm>
            <a:off x="3660525" y="2008050"/>
            <a:ext cx="5134800" cy="28152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8"/>
          <p:cNvSpPr txBox="1"/>
          <p:nvPr/>
        </p:nvSpPr>
        <p:spPr>
          <a:xfrm>
            <a:off x="287975" y="174850"/>
            <a:ext cx="8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СКРИПАЛІ/НАВАЛЬНИЙ:                             ПРАВОВА ТА ЕТИЧНА МЕЖА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46" name="Google Shape;346;p48"/>
          <p:cNvSpPr/>
          <p:nvPr/>
        </p:nvSpPr>
        <p:spPr>
          <a:xfrm>
            <a:off x="348525" y="142875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Ці кейси спираються на куплені витоки персональних даних. Прямо до Уроків 13–14: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7" name="Google Shape;347;p48"/>
          <p:cNvSpPr txBox="1"/>
          <p:nvPr/>
        </p:nvSpPr>
        <p:spPr>
          <a:xfrm>
            <a:off x="521775" y="2215250"/>
            <a:ext cx="30000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Чому це працювало для журналістів: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 РФ існує тіньовий ринок «пробіву»; розслідувачі купували дані для викриття держзлочинів                    (суспільний інтерес)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8" name="Google Shape;348;p48"/>
          <p:cNvSpPr txBox="1"/>
          <p:nvPr/>
        </p:nvSpPr>
        <p:spPr>
          <a:xfrm>
            <a:off x="3756950" y="2189100"/>
            <a:ext cx="49410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Чому ви не можете так само: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 ЄС/Україні це порушення законів про персональні дані (GDPR)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«Суспільний інтерес» — юридичний захист, а не дозвіл за замовчуванням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Межа між розслідуванням і сталкінгом — у меті, пропорційності та законності джерела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360045" rtl="0" algn="l">
              <a:lnSpc>
                <a:spcPct val="100000"/>
              </a:lnSpc>
              <a:spcBef>
                <a:spcPts val="700"/>
              </a:spcBef>
              <a:spcAft>
                <a:spcPts val="1415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Правило курсу: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легальність джерела — частина методології. ArkhamMirror шард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Provenance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змушує фіксувати походження кожного набору даних. Незаконний доказ знищує і кейс, і аналітика.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49" name="Google Shape;34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6501" y="3071301"/>
            <a:ext cx="1285273" cy="1605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/>
          <p:nvPr/>
        </p:nvSpPr>
        <p:spPr>
          <a:xfrm>
            <a:off x="483625" y="12215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55" name="Google Shape;355;p49"/>
          <p:cNvSpPr txBox="1"/>
          <p:nvPr/>
        </p:nvSpPr>
        <p:spPr>
          <a:xfrm>
            <a:off x="10261800" y="4203775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1415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6" name="Google Shape;356;p49"/>
          <p:cNvSpPr txBox="1"/>
          <p:nvPr/>
        </p:nvSpPr>
        <p:spPr>
          <a:xfrm>
            <a:off x="287975" y="174850"/>
            <a:ext cx="8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5: BYBIT $1.5 МЛРД — ENTITY RESOLUTION НА БЛОКЧЕЙНІ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57" name="Google Shape;357;p49"/>
          <p:cNvSpPr/>
          <p:nvPr/>
        </p:nvSpPr>
        <p:spPr>
          <a:xfrm>
            <a:off x="348525" y="126135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21 лютого 2025 — біржу Bybit зламали на ≈$1,5 млрд в ETH. Найбільша крадіжка крипти в історії.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8" name="Google Shape;358;p49"/>
          <p:cNvSpPr txBox="1"/>
          <p:nvPr/>
        </p:nvSpPr>
        <p:spPr>
          <a:xfrm>
            <a:off x="348525" y="1958725"/>
            <a:ext cx="59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Розслідування (ZachXBT, незалежний OSINT-аналітик):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483625" y="2575993"/>
            <a:ext cx="2003400" cy="15795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/>
          <p:nvPr/>
        </p:nvSpPr>
        <p:spPr>
          <a:xfrm>
            <a:off x="2594110" y="2404350"/>
            <a:ext cx="2003400" cy="15795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4681389" y="2575993"/>
            <a:ext cx="2003400" cy="15795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6791874" y="2404350"/>
            <a:ext cx="2003400" cy="15795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 txBox="1"/>
          <p:nvPr/>
        </p:nvSpPr>
        <p:spPr>
          <a:xfrm>
            <a:off x="541825" y="2904042"/>
            <a:ext cx="188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 години подав докази на платформу Arkham Intelligence: це Lazarus Group (КНДР)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4" name="Google Shape;364;p49"/>
          <p:cNvSpPr txBox="1"/>
          <p:nvPr/>
        </p:nvSpPr>
        <p:spPr>
          <a:xfrm>
            <a:off x="2640725" y="2639991"/>
            <a:ext cx="188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Метод: аналіз тестових транзакцій, кластеризація пов'язаних гаманців, часові патерни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5" name="Google Shape;365;p49"/>
          <p:cNvSpPr txBox="1"/>
          <p:nvPr/>
        </p:nvSpPr>
        <p:spPr>
          <a:xfrm>
            <a:off x="4821095" y="2695900"/>
            <a:ext cx="174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Ключовий доказ: вкрадені кошти пішли на адресу, що раніше фігурувала у зламах Phemex, BingX, Poloniex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6" name="Google Shape;366;p49"/>
          <p:cNvSpPr txBox="1"/>
          <p:nvPr/>
        </p:nvSpPr>
        <p:spPr>
          <a:xfrm>
            <a:off x="6908349" y="2824644"/>
            <a:ext cx="174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Підтверджено незалежно: Elliptic, TRM Labs і ФБР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348525" y="4263525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Блокчейн — це публічний граф транзакцій. Той самий entity resolution + аналіз центральності (Урок 05–06), що й у справі Навального, лише вузли — гаманці.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0"/>
          <p:cNvSpPr txBox="1"/>
          <p:nvPr/>
        </p:nvSpPr>
        <p:spPr>
          <a:xfrm>
            <a:off x="11082725" y="1611875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73" name="Google Shape;373;p50"/>
          <p:cNvSpPr txBox="1"/>
          <p:nvPr/>
        </p:nvSpPr>
        <p:spPr>
          <a:xfrm>
            <a:off x="10886850" y="2138875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74" name="Google Shape;374;p50"/>
          <p:cNvSpPr txBox="1"/>
          <p:nvPr/>
        </p:nvSpPr>
        <p:spPr>
          <a:xfrm>
            <a:off x="287975" y="174850"/>
            <a:ext cx="87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BYBIT: ЧОМУ ЦЕ ЧИСТИЙ «КУРСОВИЙ» КЕЙС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50"/>
          <p:cNvSpPr/>
          <p:nvPr/>
        </p:nvSpPr>
        <p:spPr>
          <a:xfrm>
            <a:off x="348525" y="950900"/>
            <a:ext cx="8392500" cy="2272500"/>
          </a:xfrm>
          <a:prstGeom prst="roundRect">
            <a:avLst>
              <a:gd fmla="val 1526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" name="Google Shape;376;p50"/>
          <p:cNvGraphicFramePr/>
          <p:nvPr/>
        </p:nvGraphicFramePr>
        <p:xfrm>
          <a:off x="665175" y="133467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3350425"/>
                <a:gridCol w="440877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Техніка курсу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Як застосовано в Bybit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Entity resolution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(05)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Зв'язування десятків гаманців в один кластер актора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Граф і центральність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(06, 14)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«Гаманці-мости» між зламами → той самий оператор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Часові патерни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(09)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Тестові транзакції перед атакою — підпис стилю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Крос-джерельна верифікація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(11)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Elliptic + TRM + ФБР = три незалежні підтвердження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Швидкість real-time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(10)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Атрибуція за години, поки кошти ще рухались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50"/>
          <p:cNvSpPr/>
          <p:nvPr/>
        </p:nvSpPr>
        <p:spPr>
          <a:xfrm>
            <a:off x="383025" y="322340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0"/>
          <p:cNvSpPr/>
          <p:nvPr/>
        </p:nvSpPr>
        <p:spPr>
          <a:xfrm>
            <a:off x="4547545" y="322340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0"/>
          <p:cNvSpPr txBox="1"/>
          <p:nvPr/>
        </p:nvSpPr>
        <p:spPr>
          <a:xfrm>
            <a:off x="486675" y="3223400"/>
            <a:ext cx="3961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Цікавий збіг назв: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платформа, якою користувався ZachXBT — Arkham Intelligence (граф-розвідка по блокчейну). Ваша платформа — ArkhamMirror (граф-розвідка по документах і медіа). Обидві — про одне: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перетворити хаос даних на граф зв'язків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0" name="Google Shape;380;p50"/>
          <p:cNvSpPr txBox="1"/>
          <p:nvPr/>
        </p:nvSpPr>
        <p:spPr>
          <a:xfrm>
            <a:off x="4651200" y="3463400"/>
            <a:ext cx="396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Урок: entity resolution не залежить від домену. Гаманці, телефони, акаунти, компанії — все це вузли. Метод однаковий.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/>
        </p:nvSpPr>
        <p:spPr>
          <a:xfrm>
            <a:off x="426050" y="409725"/>
            <a:ext cx="84252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IV — КООРДИНОВАНІ ОПЕРАЦІЇ ВПЛИВУ (CIB)</a:t>
            </a:r>
            <a:endParaRPr b="1" sz="45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pic>
        <p:nvPicPr>
          <p:cNvPr id="386" name="Google Shape;38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0612" y="2232876"/>
            <a:ext cx="4696075" cy="407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392" name="Google Shape;392;p52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6: INTERNET RESEARCH AGENCY — АНАТОМІЯ ТРОЛЕФЕРМИ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93" name="Google Shape;393;p52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2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2"/>
          <p:cNvSpPr txBox="1"/>
          <p:nvPr/>
        </p:nvSpPr>
        <p:spPr>
          <a:xfrm>
            <a:off x="506625" y="1715525"/>
            <a:ext cx="25314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«фабрика тролів» у Санкт-Петербурзі (IRA) роками вела координовані операції впливу в Facebook, Twitter, Instagram. Обвинувальний акт Мюллера (2018) — 13 осіб, сотні фейкових акаунтів, мільйони взаємодій.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7" name="Google Shape;397;p52"/>
          <p:cNvSpPr txBox="1"/>
          <p:nvPr/>
        </p:nvSpPr>
        <p:spPr>
          <a:xfrm>
            <a:off x="3306250" y="1670525"/>
            <a:ext cx="2531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Перший сигнал: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аномально схожі акаунти, що публікували синхронно, з однаковими наративами на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обидві сторони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політичних конфліктів.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8" name="Google Shape;398;p52"/>
          <p:cNvSpPr txBox="1"/>
          <p:nvPr/>
        </p:nvSpPr>
        <p:spPr>
          <a:xfrm>
            <a:off x="6212538" y="1670525"/>
            <a:ext cx="23622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Чому еталон для Уроків 09–10–12: IRA — підручниковий приклад Coordinated Inauthentic Behavior (CIB), який виявляється методами кластеризації, мережевого аналізу та статистики.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99" name="Google Shape;399;p52"/>
          <p:cNvPicPr preferRelativeResize="0"/>
          <p:nvPr/>
        </p:nvPicPr>
        <p:blipFill rotWithShape="1">
          <a:blip r:embed="rId4">
            <a:alphaModFix/>
          </a:blip>
          <a:srcRect b="25726" l="26283" r="27953" t="24563"/>
          <a:stretch/>
        </p:blipFill>
        <p:spPr>
          <a:xfrm>
            <a:off x="4641022" y="3414025"/>
            <a:ext cx="1132800" cy="118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3"/>
          <p:cNvSpPr/>
          <p:nvPr/>
        </p:nvSpPr>
        <p:spPr>
          <a:xfrm>
            <a:off x="348525" y="1435500"/>
            <a:ext cx="8392500" cy="2424900"/>
          </a:xfrm>
          <a:prstGeom prst="roundRect">
            <a:avLst>
              <a:gd fmla="val 1526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3"/>
          <p:cNvSpPr/>
          <p:nvPr/>
        </p:nvSpPr>
        <p:spPr>
          <a:xfrm>
            <a:off x="383025" y="3860450"/>
            <a:ext cx="8392500" cy="6555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6" name="Google Shape;406;p53"/>
          <p:cNvGraphicFramePr/>
          <p:nvPr/>
        </p:nvGraphicFramePr>
        <p:xfrm>
          <a:off x="830500" y="17238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803650"/>
                <a:gridCol w="46793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Сигнал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Що шукати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Часова синхронізація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Публікації у вікні ±5 хв, неприродні піки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Ідентичний контент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Дослівні збіги тексту між «незалежними» акаунтами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Аномальний графік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Робота строго за чужим часовим поясом, «робочі» вихідні за Москвою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Перекриття аудиторії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78–91% спільних підписників між «різними» акаунтами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Сплески реєстрацій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Масова реєстрація напередодні події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Мовні артефакти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Кальки, помилки рідної мови оператора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53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ЗАСТОСУЙТЕ ДО БУДЬ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ЯКОЇ МЕРЕЖІ                (УРОК 09–10):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08" name="Google Shape;408;p53"/>
          <p:cNvSpPr txBox="1"/>
          <p:nvPr/>
        </p:nvSpPr>
        <p:spPr>
          <a:xfrm>
            <a:off x="830500" y="3988100"/>
            <a:ext cx="724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Жоден сигнал окремо не доказ. CIB — це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сума статистичних аномалій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4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4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4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17" name="Google Shape;417;p54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18" name="Google Shape;418;p54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7: DOPPELGANGER — CIB НОВОГО ПОКОЛІННЯ (2022→)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19" name="Google Shape;419;p54"/>
          <p:cNvSpPr txBox="1"/>
          <p:nvPr/>
        </p:nvSpPr>
        <p:spPr>
          <a:xfrm>
            <a:off x="630125" y="1606150"/>
            <a:ext cx="22509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з 2022 року російська кампанія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Doppelganger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клонує сайти справжніх медіа (Der Spiegel, Le Parisien, Fox News, The Washington Post, Bild, The Guardian — 17+ видань), розганяючи фейкові статті проти підтримки України.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0" name="Google Shape;420;p54"/>
          <p:cNvSpPr txBox="1"/>
          <p:nvPr/>
        </p:nvSpPr>
        <p:spPr>
          <a:xfrm>
            <a:off x="3306288" y="1606150"/>
            <a:ext cx="2250900" cy="25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Хто стоїть: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російські компанії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Social Design Agency (SDA)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і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Struktura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. Розкрито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EU DisinfoLab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(вересень 2022), далі CORRECTIV, EDMO, US Cyber Command.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1" name="Google Shape;421;p54"/>
          <p:cNvSpPr txBox="1"/>
          <p:nvPr/>
        </p:nvSpPr>
        <p:spPr>
          <a:xfrm>
            <a:off x="6134501" y="1606150"/>
            <a:ext cx="24762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Чим небезпечніший за IRA: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225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iberation Serif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 ховається в РФ — використовує </a:t>
            </a:r>
            <a:r>
              <a:rPr b="1"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європейський хостинг, реєстраторів, юридичні лазівки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225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Імітує дизайн справжніх ЗМІ до пікселя (typosquatting доменів)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2255" lvl="0" marL="450215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300"/>
              <a:buFont typeface="IBM Plex Sans"/>
              <a:buChar char="●"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Працює на кількох мовах і ринках одночасно</a:t>
            </a:r>
            <a:endParaRPr b="1" sz="15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2" name="Google Shape;42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7874" y="2938051"/>
            <a:ext cx="2147500" cy="21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5"/>
          <p:cNvSpPr/>
          <p:nvPr/>
        </p:nvSpPr>
        <p:spPr>
          <a:xfrm>
            <a:off x="348525" y="1435500"/>
            <a:ext cx="8392500" cy="3263400"/>
          </a:xfrm>
          <a:prstGeom prst="roundRect">
            <a:avLst>
              <a:gd fmla="val 84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5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IRA + DOPPELGANGER: ТЕХНІКИ ТА ШАРДИ ARKHAMMIRROR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29" name="Google Shape;429;p55"/>
          <p:cNvSpPr txBox="1"/>
          <p:nvPr/>
        </p:nvSpPr>
        <p:spPr>
          <a:xfrm>
            <a:off x="6523175" y="1611475"/>
            <a:ext cx="2291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Векторні ембедінги (Урок 02) групують пости за змістом, а не словами — ловлять той самий наратив, перефразований 17 мовами. Це і робить шард Embeddings.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430" name="Google Shape;430;p55"/>
          <p:cNvGraphicFramePr/>
          <p:nvPr/>
        </p:nvGraphicFramePr>
        <p:xfrm>
          <a:off x="524950" y="1611463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1922100"/>
                <a:gridCol w="1512400"/>
                <a:gridCol w="23329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Техніка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Урок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 / інструмент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Кластеризація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(Louvain/Leiden)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Gephi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Центральність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(betweenness, PageRank)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06, 14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Часові ряди й аномалії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09, 12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Anomalies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Timeline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Cosine similarity тексту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02, 09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Embeddings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Patterns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Виявлення клонів-доменів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07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Provenance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(typosquatting)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Семантика наративу різними мовами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02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(semantic) +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Embeddings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Real-time алерти на нову хвилю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Patterns</a:t>
                      </a: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EventBus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6"/>
          <p:cNvSpPr/>
          <p:nvPr/>
        </p:nvSpPr>
        <p:spPr>
          <a:xfrm>
            <a:off x="383025" y="34966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6"/>
          <p:cNvSpPr/>
          <p:nvPr/>
        </p:nvSpPr>
        <p:spPr>
          <a:xfrm>
            <a:off x="4547545" y="34966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56"/>
          <p:cNvSpPr txBox="1"/>
          <p:nvPr/>
        </p:nvSpPr>
        <p:spPr>
          <a:xfrm>
            <a:off x="287975" y="174850"/>
            <a:ext cx="87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CIB: ДИСЦИПЛІНА ГІПОТЕЗ ЧЕРЕЗ ACH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38" name="Google Shape;438;p56"/>
          <p:cNvSpPr/>
          <p:nvPr/>
        </p:nvSpPr>
        <p:spPr>
          <a:xfrm>
            <a:off x="348525" y="940050"/>
            <a:ext cx="8392500" cy="2556600"/>
          </a:xfrm>
          <a:prstGeom prst="roundRect">
            <a:avLst>
              <a:gd fmla="val 84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9" name="Google Shape;439;p56"/>
          <p:cNvGraphicFramePr/>
          <p:nvPr/>
        </p:nvGraphicFramePr>
        <p:xfrm>
          <a:off x="646075" y="12849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632275"/>
                <a:gridCol w="1266425"/>
                <a:gridCol w="1948950"/>
                <a:gridCol w="19497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Доказ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H1: Держоперація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H2: Органічний рух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H3: Комерційний накрут</a:t>
                      </a:r>
                      <a:endParaRPr b="1"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Синхронізація ±5 хв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Чужий часовий пояс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Контент на обидві сторони конфлікту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Клони доменів справжніх ЗМІ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Немає монетизації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++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−−</a:t>
                      </a:r>
                      <a:endParaRPr sz="1200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p56"/>
          <p:cNvSpPr txBox="1"/>
          <p:nvPr/>
        </p:nvSpPr>
        <p:spPr>
          <a:xfrm>
            <a:off x="465975" y="3681150"/>
            <a:ext cx="400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 «доведи, що це Кремль». А «яка гіпотеза має найменше суперечностей».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Захист від confirmation bias (Урок 13). У ArkhamMirror — шард ACH: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1" name="Google Shape;441;p56"/>
          <p:cNvSpPr txBox="1"/>
          <p:nvPr/>
        </p:nvSpPr>
        <p:spPr>
          <a:xfrm>
            <a:off x="4671950" y="3681150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/ai/insights поверне провідну гіпотезу, ключові докази, прогалини і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перелік когнітивних упереджень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яким ви могли піддатись.                                     Машина не вирішує — вона дисциплінує.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7"/>
          <p:cNvSpPr txBox="1"/>
          <p:nvPr/>
        </p:nvSpPr>
        <p:spPr>
          <a:xfrm>
            <a:off x="287975" y="174850"/>
            <a:ext cx="87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КООРДИНАЦІЯ: УРОК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47" name="Google Shape;447;p57"/>
          <p:cNvSpPr txBox="1"/>
          <p:nvPr/>
        </p:nvSpPr>
        <p:spPr>
          <a:xfrm>
            <a:off x="483625" y="12215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48" name="Google Shape;448;p57"/>
          <p:cNvSpPr/>
          <p:nvPr/>
        </p:nvSpPr>
        <p:spPr>
          <a:xfrm>
            <a:off x="348525" y="126135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Координацію видає не зміст постів, а математика їхньої поведінки: час, перекриття, повтори, інфраструктура.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9" name="Google Shape;449;p57"/>
          <p:cNvSpPr txBox="1"/>
          <p:nvPr/>
        </p:nvSpPr>
        <p:spPr>
          <a:xfrm>
            <a:off x="348525" y="2126125"/>
            <a:ext cx="59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забираєте: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0" name="Google Shape;450;p57"/>
          <p:cNvSpPr/>
          <p:nvPr/>
        </p:nvSpPr>
        <p:spPr>
          <a:xfrm>
            <a:off x="483625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7"/>
          <p:cNvSpPr/>
          <p:nvPr/>
        </p:nvSpPr>
        <p:spPr>
          <a:xfrm>
            <a:off x="2594109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57"/>
          <p:cNvSpPr/>
          <p:nvPr/>
        </p:nvSpPr>
        <p:spPr>
          <a:xfrm>
            <a:off x="4681388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7"/>
          <p:cNvSpPr/>
          <p:nvPr/>
        </p:nvSpPr>
        <p:spPr>
          <a:xfrm>
            <a:off x="6791872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7"/>
          <p:cNvSpPr txBox="1"/>
          <p:nvPr/>
        </p:nvSpPr>
        <p:spPr>
          <a:xfrm>
            <a:off x="623300" y="3090025"/>
            <a:ext cx="174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CIB — статистичний феномен. Один підозрілий акаунт нічого не доводить; доводить структура мережі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5" name="Google Shape;455;p57"/>
          <p:cNvSpPr txBox="1"/>
          <p:nvPr/>
        </p:nvSpPr>
        <p:spPr>
          <a:xfrm>
            <a:off x="2640700" y="2811800"/>
            <a:ext cx="1956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Сучасні операції (Doppelganger) ховаються в легальній західній інфраструктурі — дивіться на домени й хостинг, не лише на контент</a:t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6" name="Google Shape;456;p57"/>
          <p:cNvSpPr txBox="1"/>
          <p:nvPr/>
        </p:nvSpPr>
        <p:spPr>
          <a:xfrm>
            <a:off x="4821094" y="3180982"/>
            <a:ext cx="174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Графові метрики знаходять диригентів, яких не видно «на око»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7" name="Google Shape;457;p57"/>
          <p:cNvSpPr txBox="1"/>
          <p:nvPr/>
        </p:nvSpPr>
        <p:spPr>
          <a:xfrm>
            <a:off x="6908347" y="2933093"/>
            <a:ext cx="1747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Завжди тестуйте альтернативи через ACH — органічний вірусний контент теж буває синхронним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7164">
            <a:off x="2367287" y="2375401"/>
            <a:ext cx="440942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8"/>
          <p:cNvSpPr txBox="1"/>
          <p:nvPr/>
        </p:nvSpPr>
        <p:spPr>
          <a:xfrm>
            <a:off x="315625" y="644400"/>
            <a:ext cx="8646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rgbClr val="076CFC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V — ВІЗУАЛЬНА ФОРЕНЗИКА ТА ДЕЗІНФОРМАЦІЯ</a:t>
            </a:r>
            <a:endParaRPr b="1" sz="45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rgbClr val="076CFC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9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9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9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59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8: BUCHA — СУПУТНИК ПРОТИ ЗАПЕРЕЧЕННЯ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72" name="Google Shape;472;p59"/>
          <p:cNvSpPr txBox="1"/>
          <p:nvPr/>
        </p:nvSpPr>
        <p:spPr>
          <a:xfrm>
            <a:off x="630125" y="1606150"/>
            <a:ext cx="2250900" cy="24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після відходу російських військ із Бучі (квітень 2022) на вулиці Яблунській виявили тіла вбитих цивільних. Москва: постановка, тіла «підкинули» після відходу.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3" name="Google Shape;473;p59"/>
          <p:cNvSpPr txBox="1"/>
          <p:nvPr/>
        </p:nvSpPr>
        <p:spPr>
          <a:xfrm>
            <a:off x="3306288" y="1606150"/>
            <a:ext cx="2250900" cy="3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Спростування (NYT Visual Investigations): супутникові знімки Maxar з датами показали, що тіла лежали на тих самих місцях ще 11 березня — за тижні до відходу росіян. Заперечення розсипалось на одній часовій мітці.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4" name="Google Shape;474;p59"/>
          <p:cNvSpPr txBox="1"/>
          <p:nvPr/>
        </p:nvSpPr>
        <p:spPr>
          <a:xfrm>
            <a:off x="6134501" y="1606150"/>
            <a:ext cx="24762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Техніки: супутникова хронолокація (14) + геолокація відео дрона (03) + зіставлення «до/після» (03) + аналіз тіней (03) + крос-джерельна верифікація (11).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Один знімок із датою переважив офіційну заяву держави. Сила верифікованого доказу.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75" name="Google Shape;475;p59"/>
          <p:cNvPicPr preferRelativeResize="0"/>
          <p:nvPr/>
        </p:nvPicPr>
        <p:blipFill rotWithShape="1">
          <a:blip r:embed="rId4">
            <a:alphaModFix/>
          </a:blip>
          <a:srcRect b="6232" l="26238" r="26606" t="6232"/>
          <a:stretch/>
        </p:blipFill>
        <p:spPr>
          <a:xfrm>
            <a:off x="1843052" y="3550049"/>
            <a:ext cx="1038073" cy="108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0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81" name="Google Shape;481;p60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0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0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9: ДИПФЕЙК ЗЕЛЕНСЬКОГО —  ПРОВАЛ, ЩО НАВЧИВ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85" name="Google Shape;485;p60"/>
          <p:cNvSpPr txBox="1"/>
          <p:nvPr/>
        </p:nvSpPr>
        <p:spPr>
          <a:xfrm>
            <a:off x="630125" y="1606150"/>
            <a:ext cx="22509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березень 2022 — на зламаному сайті «Україна 24» з'явилось відео, де «Зеленський» закликає військових скласти зброю.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6" name="Google Shape;486;p60"/>
          <p:cNvSpPr txBox="1"/>
          <p:nvPr/>
        </p:nvSpPr>
        <p:spPr>
          <a:xfrm>
            <a:off x="3306300" y="1606150"/>
            <a:ext cx="26547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Чому фейк провалився швидко: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Невідповідність розміру голови й тіла, неприродні рухи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Тон і артикуляція не збігаються з автентичними зразками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Президент одразу спростував власним відео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Платформи й аналітики позначили контент за години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7" name="Google Shape;487;p60"/>
          <p:cNvSpPr txBox="1"/>
          <p:nvPr/>
        </p:nvSpPr>
        <p:spPr>
          <a:xfrm>
            <a:off x="6106300" y="1606150"/>
            <a:ext cx="2654700" cy="16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Поганий дипфейк 2022-го викрили легко. Питання Уроку 03: </a:t>
            </a: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чи викриєте ви хороший дипфейк 2026-го?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15"/>
              </a:spcBef>
              <a:spcAft>
                <a:spcPts val="7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88" name="Google Shape;488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2099" y="2947477"/>
            <a:ext cx="1718249" cy="17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1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94" name="Google Shape;494;p61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495" name="Google Shape;495;p61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1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1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1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10: ARUP — ДИПФЕЙК, ЩО ВКРАВ $25 МЛН (2024)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499" name="Google Shape;499;p61"/>
          <p:cNvSpPr txBox="1"/>
          <p:nvPr/>
        </p:nvSpPr>
        <p:spPr>
          <a:xfrm>
            <a:off x="630125" y="1606150"/>
            <a:ext cx="2531400" cy="29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Дипфейки — це не лише пропаганда. Це зброя шахрайства.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січень 2024, Гонконг. Працівник інженерної компанії Arup (та сама, що проєктувала Сіднейський оперний театр) приєднався до відеодзвінка з «фінансовим директором» і колегам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p61"/>
          <p:cNvSpPr txBox="1"/>
          <p:nvPr/>
        </p:nvSpPr>
        <p:spPr>
          <a:xfrm>
            <a:off x="3306300" y="1606150"/>
            <a:ext cx="2654700" cy="29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сталося: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Усі учасники дзвінка були дипфейками — AI-копії реальних співробітників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Працівник, переконаний «живою» нарадою, переказав HK$200 млн (≈$25,6 млн) у 15 транзакціях на 5 рахунків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Шахрайство викрили лише коли працівник згодом звірився з головним офісом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1" name="Google Shape;501;p61"/>
          <p:cNvSpPr txBox="1"/>
          <p:nvPr/>
        </p:nvSpPr>
        <p:spPr>
          <a:xfrm>
            <a:off x="6359800" y="1606150"/>
            <a:ext cx="22509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Зсув загрози: у 2022-му дипфейк намагався переконати націю. У 2024-му — переконав одну людину на нараді. Другий сценарій масштабованіший і небезпечніший для бізнесу.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02" name="Google Shape;50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1725" y="3133675"/>
            <a:ext cx="1788976" cy="17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2"/>
          <p:cNvSpPr/>
          <p:nvPr/>
        </p:nvSpPr>
        <p:spPr>
          <a:xfrm>
            <a:off x="383025" y="34966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2"/>
          <p:cNvSpPr/>
          <p:nvPr/>
        </p:nvSpPr>
        <p:spPr>
          <a:xfrm>
            <a:off x="4547545" y="34966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2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ДИПФЕЙКИ: 4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РІВНЕВА ПЕРЕВІРКА + MEDIA FORENSICS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10" name="Google Shape;510;p62"/>
          <p:cNvSpPr/>
          <p:nvPr/>
        </p:nvSpPr>
        <p:spPr>
          <a:xfrm>
            <a:off x="348525" y="1283050"/>
            <a:ext cx="8392500" cy="2213400"/>
          </a:xfrm>
          <a:prstGeom prst="roundRect">
            <a:avLst>
              <a:gd fmla="val 84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2"/>
          <p:cNvSpPr txBox="1"/>
          <p:nvPr/>
        </p:nvSpPr>
        <p:spPr>
          <a:xfrm>
            <a:off x="465975" y="3681150"/>
            <a:ext cx="40026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Протокол Уроку 03, застосований до будь-якого відео/аудіо-«доказу»: аудіо окремо. клонований голос (ElevenLabs-клас) перевіряється спектрально й порівнянням просодії з автентичними зразками.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2" name="Google Shape;512;p62"/>
          <p:cNvSpPr txBox="1"/>
          <p:nvPr/>
        </p:nvSpPr>
        <p:spPr>
          <a:xfrm>
            <a:off x="4671950" y="3681150"/>
            <a:ext cx="400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Урок Arup: жоден рівень окремо недостатній — і процедурний контроль (звірка з головним офісом, друга авторизація платежу) часто рятує там, де технічна детекція не встигає.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513" name="Google Shape;513;p62"/>
          <p:cNvGraphicFramePr/>
          <p:nvPr/>
        </p:nvGraphicFramePr>
        <p:xfrm>
          <a:off x="822113" y="14913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481275"/>
                <a:gridCol w="2482025"/>
                <a:gridCol w="248202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Рівень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Дія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Інструмент / шард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 Артефакти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Межі обличчя, моргання, очі, текстура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Ручний огляд + FakeCatcher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 Провенанс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Найраніше завантаження, ланцюг поширення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InVID/WeVerify ·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Provenance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 Метадані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EXIF, перекодування, часові мітки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→ /analyze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 AI-детекція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Автоматична оцінка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Deepware ·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Media Forensics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3"/>
          <p:cNvSpPr/>
          <p:nvPr/>
        </p:nvSpPr>
        <p:spPr>
          <a:xfrm>
            <a:off x="5071675" y="1772475"/>
            <a:ext cx="3674700" cy="1366500"/>
          </a:xfrm>
          <a:prstGeom prst="roundRect">
            <a:avLst>
              <a:gd fmla="val 20829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9" name="Google Shape;519;p63"/>
          <p:cNvSpPr/>
          <p:nvPr/>
        </p:nvSpPr>
        <p:spPr>
          <a:xfrm>
            <a:off x="383025" y="1772475"/>
            <a:ext cx="4690200" cy="3051000"/>
          </a:xfrm>
          <a:prstGeom prst="roundRect">
            <a:avLst>
              <a:gd fmla="val 13375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3"/>
          <p:cNvSpPr txBox="1"/>
          <p:nvPr/>
        </p:nvSpPr>
        <p:spPr>
          <a:xfrm>
            <a:off x="5265175" y="1956750"/>
            <a:ext cx="358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1415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ELA для Bucha, sun-position для MH17, similar для будь-якого вкинутого «ексклюзиву» —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один шард закриває весь Урок 03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локально й відтворювано.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1" name="Google Shape;521;p63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ШАРД MEDIA FORENSICS ЗБЛИЗЬКА              (НАШ «ДЕТЕКТОР ПІДРОБОК»)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22" name="Google Shape;522;p63"/>
          <p:cNvSpPr txBox="1"/>
          <p:nvPr/>
        </p:nvSpPr>
        <p:spPr>
          <a:xfrm>
            <a:off x="287975" y="126505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Це найпотужніший верифікаційний шард ArkhamMirror. Що він робить: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3" name="Google Shape;523;p63"/>
          <p:cNvSpPr txBox="1"/>
          <p:nvPr/>
        </p:nvSpPr>
        <p:spPr>
          <a:xfrm>
            <a:off x="631525" y="1956750"/>
            <a:ext cx="53319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/analyze {document_id}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integrity_status, warnings, метадані EXIF, C2PA-підпис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/ela {analysis_id, quality:95, scale:15}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Error Level Analysis: підсвічує редаговані зони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is_potentially_edited + confidence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/sun-position {analysis_id}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хронолокація: чи відповідає тінь заявленому часу/місцю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/sun-position/manual {lat, lon, datetime}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/similar {analysis_id, hash_type:"phash", threshold:15, search_type:"both"}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reverse search: де ще з'являвся цей кадр (внутрішньо + зовнішньо)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threshold = Hamming distance 0–64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GET /c2pa/supported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перевірка криптопідпису походження (Content Credentials)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/ai/junior-analyst {query, analysis_ids}</a:t>
            </a:r>
            <a:b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 → локальна LLM пояснює знахідки природною мовою</a:t>
            </a:r>
            <a:endParaRPr sz="1200"/>
          </a:p>
        </p:txBody>
      </p:sp>
      <p:pic>
        <p:nvPicPr>
          <p:cNvPr id="524" name="Google Shape;524;p63"/>
          <p:cNvPicPr preferRelativeResize="0"/>
          <p:nvPr/>
        </p:nvPicPr>
        <p:blipFill rotWithShape="1">
          <a:blip r:embed="rId4">
            <a:alphaModFix/>
          </a:blip>
          <a:srcRect b="0" l="130" r="140" t="0"/>
          <a:stretch/>
        </p:blipFill>
        <p:spPr>
          <a:xfrm>
            <a:off x="4964375" y="3246200"/>
            <a:ext cx="2068667" cy="178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4"/>
          <p:cNvSpPr txBox="1"/>
          <p:nvPr/>
        </p:nvSpPr>
        <p:spPr>
          <a:xfrm>
            <a:off x="287975" y="174850"/>
            <a:ext cx="872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ВІЗУАЛЬНА ФОРЕНЗИКА: УРОК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30" name="Google Shape;530;p64"/>
          <p:cNvSpPr txBox="1"/>
          <p:nvPr/>
        </p:nvSpPr>
        <p:spPr>
          <a:xfrm>
            <a:off x="287975" y="779125"/>
            <a:ext cx="705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В епоху дипфейків і заперечень відеодоказ не є самодостатнім.                                           Доказом його робить верифікований провенанс і часова мітка.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1" name="Google Shape;531;p64"/>
          <p:cNvSpPr txBox="1"/>
          <p:nvPr/>
        </p:nvSpPr>
        <p:spPr>
          <a:xfrm>
            <a:off x="483625" y="1685050"/>
            <a:ext cx="42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забираєте: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2" name="Google Shape;532;p64"/>
          <p:cNvSpPr/>
          <p:nvPr/>
        </p:nvSpPr>
        <p:spPr>
          <a:xfrm>
            <a:off x="383025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64"/>
          <p:cNvSpPr txBox="1"/>
          <p:nvPr/>
        </p:nvSpPr>
        <p:spPr>
          <a:xfrm>
            <a:off x="526730" y="2255041"/>
            <a:ext cx="26349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Супутник із датою — найсильніший аргумент проти «це постановка»</a:t>
            </a:r>
            <a:endParaRPr sz="13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4" name="Google Shape;534;p64"/>
          <p:cNvSpPr/>
          <p:nvPr/>
        </p:nvSpPr>
        <p:spPr>
          <a:xfrm>
            <a:off x="3158923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4"/>
          <p:cNvSpPr txBox="1"/>
          <p:nvPr/>
        </p:nvSpPr>
        <p:spPr>
          <a:xfrm>
            <a:off x="3302625" y="2255050"/>
            <a:ext cx="26349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Геолокація + хронолокація перетворюють «відео з інтернету» на доказ, прив'язаний до простору й часу</a:t>
            </a:r>
            <a:endParaRPr sz="13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6" name="Google Shape;536;p64"/>
          <p:cNvSpPr/>
          <p:nvPr/>
        </p:nvSpPr>
        <p:spPr>
          <a:xfrm>
            <a:off x="5937522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4"/>
          <p:cNvSpPr txBox="1"/>
          <p:nvPr/>
        </p:nvSpPr>
        <p:spPr>
          <a:xfrm>
            <a:off x="6081326" y="2255041"/>
            <a:ext cx="26349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Дипфейки тепер атакують і нації (Зеленський), і окремих людей (Arup) — детекція стає обов'язковою</a:t>
            </a:r>
            <a:endParaRPr sz="13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8" name="Google Shape;538;p64"/>
          <p:cNvSpPr/>
          <p:nvPr/>
        </p:nvSpPr>
        <p:spPr>
          <a:xfrm>
            <a:off x="383025" y="34169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4"/>
          <p:cNvSpPr txBox="1"/>
          <p:nvPr/>
        </p:nvSpPr>
        <p:spPr>
          <a:xfrm>
            <a:off x="598617" y="3593741"/>
            <a:ext cx="395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Технічну детекцію доповнює процедура: друга авторизація, звірка по незалежному каналу</a:t>
            </a:r>
            <a:endParaRPr sz="13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0" name="Google Shape;540;p64"/>
          <p:cNvSpPr/>
          <p:nvPr/>
        </p:nvSpPr>
        <p:spPr>
          <a:xfrm>
            <a:off x="4547545" y="34169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4"/>
          <p:cNvSpPr txBox="1"/>
          <p:nvPr/>
        </p:nvSpPr>
        <p:spPr>
          <a:xfrm>
            <a:off x="4763137" y="3593741"/>
            <a:ext cx="3953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Перевіряйте відео й аудіо незалежно — їх фабрикують окремо</a:t>
            </a:r>
            <a:endParaRPr sz="13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7164">
            <a:off x="2367287" y="2140726"/>
            <a:ext cx="440942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5"/>
          <p:cNvSpPr txBox="1"/>
          <p:nvPr/>
        </p:nvSpPr>
        <p:spPr>
          <a:xfrm>
            <a:off x="1384750" y="1058525"/>
            <a:ext cx="650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VI — Великомасштабна обробка даних</a:t>
            </a:r>
            <a:endParaRPr b="1" sz="3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11: PANDORA/PANAMA PAPERS — OSINT У ПРОМИСЛОВОМУ МАСШТАБІ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53" name="Google Shape;553;p66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66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6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66"/>
          <p:cNvSpPr txBox="1"/>
          <p:nvPr/>
        </p:nvSpPr>
        <p:spPr>
          <a:xfrm>
            <a:off x="630125" y="1606150"/>
            <a:ext cx="2531400" cy="27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 Panama Papers (2016) — 11,5 млн документів Mossack Fonseca. Pandora Papers (2021) — 11,9 млн документів про офшори політиків і олігархів. Найбільші журналістські витоки в історії.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7" name="Google Shape;557;p66"/>
          <p:cNvSpPr txBox="1"/>
          <p:nvPr/>
        </p:nvSpPr>
        <p:spPr>
          <a:xfrm>
            <a:off x="3306300" y="1606150"/>
            <a:ext cx="26547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Виклик: як знайти злочин у терабайтах PDF, листів, сканів, таблиць різними мовами?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8" name="Google Shape;558;p66"/>
          <p:cNvSpPr txBox="1"/>
          <p:nvPr/>
        </p:nvSpPr>
        <p:spPr>
          <a:xfrm>
            <a:off x="6359800" y="1606150"/>
            <a:ext cx="2250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Це чистий Урок 05–06–07: entity resolution + графи знань + пайплайни обробки на масштабі, недосяжному вручну.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7"/>
          <p:cNvSpPr txBox="1"/>
          <p:nvPr/>
        </p:nvSpPr>
        <p:spPr>
          <a:xfrm>
            <a:off x="11229775" y="155990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564" name="Google Shape;564;p67"/>
          <p:cNvSpPr txBox="1"/>
          <p:nvPr/>
        </p:nvSpPr>
        <p:spPr>
          <a:xfrm>
            <a:off x="11033900" y="208690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565" name="Google Shape;565;p67"/>
          <p:cNvSpPr txBox="1"/>
          <p:nvPr/>
        </p:nvSpPr>
        <p:spPr>
          <a:xfrm>
            <a:off x="11033900" y="1671200"/>
            <a:ext cx="70524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566" name="Google Shape;566;p67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PANDORA PAPERS: СТЕК ICIJ =                         ШАРДИ ARKHAMMIRROR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67" name="Google Shape;567;p67"/>
          <p:cNvSpPr txBox="1"/>
          <p:nvPr/>
        </p:nvSpPr>
        <p:spPr>
          <a:xfrm>
            <a:off x="287975" y="115970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Міжнародний консорціум (ICIJ) застосував рівно те, що в платформі: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8" name="Google Shape;568;p67"/>
          <p:cNvSpPr/>
          <p:nvPr/>
        </p:nvSpPr>
        <p:spPr>
          <a:xfrm>
            <a:off x="348525" y="1671200"/>
            <a:ext cx="8392500" cy="2556600"/>
          </a:xfrm>
          <a:prstGeom prst="roundRect">
            <a:avLst>
              <a:gd fmla="val 84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9" name="Google Shape;569;p67"/>
          <p:cNvGraphicFramePr/>
          <p:nvPr/>
        </p:nvGraphicFramePr>
        <p:xfrm>
          <a:off x="1018563" y="18906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350325"/>
                <a:gridCol w="2351050"/>
                <a:gridCol w="23510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Задача ICIJ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Технологія ICIJ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Шард ArkhamMirror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OCR мільйонів сканів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Tesseract, Apache Tika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OCR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(gpu-paddle pool)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Витяг сутностей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NER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Дедублікація осіб/компаній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Entity resolution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Entities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Граф «хто володіє чим через кого»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Neo4j + Linkurious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Graph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Пошук по корпусу природною мовою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Повнотекст + семантика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Search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(hybrid)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Структурування листів у дані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Claims</a:t>
                      </a: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+ </a:t>
                      </a: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Parse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p67"/>
          <p:cNvSpPr/>
          <p:nvPr/>
        </p:nvSpPr>
        <p:spPr>
          <a:xfrm>
            <a:off x="348525" y="4227800"/>
            <a:ext cx="8446800" cy="5793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Той самий граф знань, що ви будували в Gephi на десятках вузлів — тут на мільйонах. Принцип ідентичний; ArkhamMirror масштабує його через worker-пули й pgvector.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8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PANDORA PAPERS: ДЕ AI ЗМІНЮЄ ГРУ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76" name="Google Shape;576;p68"/>
          <p:cNvSpPr/>
          <p:nvPr/>
        </p:nvSpPr>
        <p:spPr>
          <a:xfrm>
            <a:off x="383025" y="916600"/>
            <a:ext cx="4168500" cy="3792300"/>
          </a:xfrm>
          <a:prstGeom prst="roundRect">
            <a:avLst>
              <a:gd fmla="val 10722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68"/>
          <p:cNvSpPr/>
          <p:nvPr/>
        </p:nvSpPr>
        <p:spPr>
          <a:xfrm>
            <a:off x="4547549" y="916600"/>
            <a:ext cx="4168500" cy="3792300"/>
          </a:xfrm>
          <a:prstGeom prst="roundRect">
            <a:avLst>
              <a:gd fmla="val 1206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8"/>
          <p:cNvSpPr txBox="1"/>
          <p:nvPr/>
        </p:nvSpPr>
        <p:spPr>
          <a:xfrm>
            <a:off x="469350" y="1067800"/>
            <a:ext cx="40197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Без AI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роки роботи армії людей.                                        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 AI-стеком 2026: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Мультимодальний OCR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(Урок 03) читає навіть зім'яті скани й рукописні правки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Векторні ембедінги + RAG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(Урок 02) — «знайди всі документи, де ця особа пов'язана з трастом на Кіпрі» природною мовою (шард Search, режим semantic)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LLM-екстракція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структурує вільний текст листів у таблицю сутностей (шард Entities + Claims)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Граф-алгоритми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автоматично підсвічують аномальні ланцюги володіння (центральність, спільноти)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9" name="Google Shape;579;p68"/>
          <p:cNvSpPr txBox="1"/>
          <p:nvPr/>
        </p:nvSpPr>
        <p:spPr>
          <a:xfrm>
            <a:off x="4696350" y="1067800"/>
            <a:ext cx="4019700" cy="25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лишається за людиною: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«Це ухилення від податків / це законна оптимізація» — юридичне судження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Оцінка суспільного інтересу публікації конкретного імені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Фінальна відповідальність за кожне твердження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360045" marR="360045" rtl="0" algn="l">
              <a:spcBef>
                <a:spcPts val="700"/>
              </a:spcBef>
              <a:spcAft>
                <a:spcPts val="1415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Масштаб робить AI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необхідністю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але не змінює правил: кожне ім'я у звіті — верифіковане людиною.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7164">
            <a:off x="2367287" y="2140726"/>
            <a:ext cx="440942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69"/>
          <p:cNvSpPr txBox="1"/>
          <p:nvPr/>
        </p:nvSpPr>
        <p:spPr>
          <a:xfrm>
            <a:off x="1384750" y="1058525"/>
            <a:ext cx="650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VII — Колаборація і провали</a:t>
            </a:r>
            <a:endParaRPr b="1" sz="3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0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591" name="Google Shape;591;p70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 12: SEDITION HUNTERS — СИЛА КРАУДСОРСИНГУ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592" name="Google Shape;592;p70"/>
          <p:cNvSpPr/>
          <p:nvPr/>
        </p:nvSpPr>
        <p:spPr>
          <a:xfrm>
            <a:off x="383025" y="1385950"/>
            <a:ext cx="4168500" cy="3323100"/>
          </a:xfrm>
          <a:prstGeom prst="roundRect">
            <a:avLst>
              <a:gd fmla="val 10722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70"/>
          <p:cNvSpPr/>
          <p:nvPr/>
        </p:nvSpPr>
        <p:spPr>
          <a:xfrm>
            <a:off x="4547549" y="1385950"/>
            <a:ext cx="4168500" cy="3323100"/>
          </a:xfrm>
          <a:prstGeom prst="roundRect">
            <a:avLst>
              <a:gd fmla="val 1206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70"/>
          <p:cNvSpPr txBox="1"/>
          <p:nvPr/>
        </p:nvSpPr>
        <p:spPr>
          <a:xfrm>
            <a:off x="607400" y="1725550"/>
            <a:ext cx="3850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штурм Капітолію 6 січня 2021.                Тисячі годин відео, тисячі учасників. Спільнота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#SeditionHunters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колективно ідентифікувала фігурантів з відкритих джерел; матеріали допомогли ФБР.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5" name="Google Shape;595;p70"/>
          <p:cNvSpPr txBox="1"/>
          <p:nvPr/>
        </p:nvSpPr>
        <p:spPr>
          <a:xfrm>
            <a:off x="4748000" y="1609450"/>
            <a:ext cx="3924000" cy="27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Техніки (Уроки 03–04–05):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Геолокація відео всередині й навколо будівлі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Facial recognition + зіставлення з соцмережами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Хронолокація: реконструкція хронології за метаданими роликів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Краудсорсинг: розподіл праці між сотнями волонтерів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360045" marR="360045" rtl="0" algn="l">
              <a:spcBef>
                <a:spcPts val="700"/>
              </a:spcBef>
              <a:spcAft>
                <a:spcPts val="1415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Зразок того, як відкритий колективний OSINT доповнює офіційне слідство.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1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01" name="Google Shape;601;p71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02" name="Google Shape;602;p71"/>
          <p:cNvSpPr txBox="1"/>
          <p:nvPr/>
        </p:nvSpPr>
        <p:spPr>
          <a:xfrm>
            <a:off x="287750" y="191595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rgbClr val="FFFFFF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03" name="Google Shape;603;p71"/>
          <p:cNvSpPr/>
          <p:nvPr/>
        </p:nvSpPr>
        <p:spPr>
          <a:xfrm>
            <a:off x="383025" y="1385950"/>
            <a:ext cx="4168500" cy="3323100"/>
          </a:xfrm>
          <a:prstGeom prst="roundRect">
            <a:avLst>
              <a:gd fmla="val 10722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71"/>
          <p:cNvSpPr/>
          <p:nvPr/>
        </p:nvSpPr>
        <p:spPr>
          <a:xfrm>
            <a:off x="4547549" y="1385950"/>
            <a:ext cx="4168500" cy="3323100"/>
          </a:xfrm>
          <a:prstGeom prst="roundRect">
            <a:avLst>
              <a:gd fmla="val 12067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71"/>
          <p:cNvSpPr txBox="1"/>
          <p:nvPr/>
        </p:nvSpPr>
        <p:spPr>
          <a:xfrm>
            <a:off x="607400" y="1601300"/>
            <a:ext cx="38508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Контекст: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після вибухів на Бостонському марафоні (2013) користувачі Reddit «вирахували» підозрюваного. Невинного студента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Суніла Тріпаті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публічно звинуватили. Він не мав жодного стосунку. Його родину зацькували.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6" name="Google Shape;606;p71"/>
          <p:cNvSpPr txBox="1"/>
          <p:nvPr/>
        </p:nvSpPr>
        <p:spPr>
          <a:xfrm>
            <a:off x="4748000" y="1497700"/>
            <a:ext cx="3924000" cy="30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пішло не так (прямо Урок 13):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Confirmation bias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— побачили те, що хотіли побачити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Поверхнева схожість прийнята за ідентифікацію (порушено Урок 05)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Швидкість переважила верифікацію (порушено правило трьох джерел, Урок 11)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Натовп без методології і без відповідальної особи за висновок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360045" rtl="0" algn="l">
              <a:spcBef>
                <a:spcPts val="700"/>
              </a:spcBef>
              <a:spcAft>
                <a:spcPts val="1415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Та сама техніка (краудсорс + розпізнавання облич) дала і взірець (J6), і катастрофу (Бостон). Різниця —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дисципліна верифікації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7" name="Google Shape;607;p71"/>
          <p:cNvSpPr txBox="1"/>
          <p:nvPr/>
        </p:nvSpPr>
        <p:spPr>
          <a:xfrm>
            <a:off x="287975" y="174850"/>
            <a:ext cx="872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ЗВОРОТНИЙ БІК: BOSTON 2013 — КОЛИ НАТОВП ПОМИЛИВСЯ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2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13" name="Google Shape;613;p72"/>
          <p:cNvSpPr txBox="1"/>
          <p:nvPr/>
        </p:nvSpPr>
        <p:spPr>
          <a:xfrm>
            <a:off x="287975" y="174850"/>
            <a:ext cx="8726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КРАУДСОРСИНГ: УРОК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14" name="Google Shape;614;p72"/>
          <p:cNvSpPr txBox="1"/>
          <p:nvPr/>
        </p:nvSpPr>
        <p:spPr>
          <a:xfrm>
            <a:off x="483625" y="12215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15" name="Google Shape;615;p72"/>
          <p:cNvSpPr/>
          <p:nvPr/>
        </p:nvSpPr>
        <p:spPr>
          <a:xfrm>
            <a:off x="348525" y="1109875"/>
            <a:ext cx="8446800" cy="7308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Розпізнавання облич дає схожість, а не ідентичність. Схожість без підтвердження — це звинувачення невинного.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6" name="Google Shape;616;p72"/>
          <p:cNvSpPr txBox="1"/>
          <p:nvPr/>
        </p:nvSpPr>
        <p:spPr>
          <a:xfrm>
            <a:off x="348525" y="2126125"/>
            <a:ext cx="59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Що забираєте: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7" name="Google Shape;617;p72"/>
          <p:cNvSpPr/>
          <p:nvPr/>
        </p:nvSpPr>
        <p:spPr>
          <a:xfrm>
            <a:off x="483625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2"/>
          <p:cNvSpPr/>
          <p:nvPr/>
        </p:nvSpPr>
        <p:spPr>
          <a:xfrm>
            <a:off x="2594109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2"/>
          <p:cNvSpPr/>
          <p:nvPr/>
        </p:nvSpPr>
        <p:spPr>
          <a:xfrm>
            <a:off x="4681388" y="2770716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2"/>
          <p:cNvSpPr/>
          <p:nvPr/>
        </p:nvSpPr>
        <p:spPr>
          <a:xfrm>
            <a:off x="6791872" y="2571752"/>
            <a:ext cx="2003400" cy="1830900"/>
          </a:xfrm>
          <a:prstGeom prst="roundRect">
            <a:avLst>
              <a:gd fmla="val 986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122800" lIns="122800" spcFirstLastPara="1" rIns="122800" wrap="square" tIns="122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7"/>
              <a:buFont typeface="Arial"/>
              <a:buNone/>
            </a:pPr>
            <a:r>
              <a:t/>
            </a:r>
            <a:endParaRPr b="0" i="0" sz="18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72"/>
          <p:cNvSpPr txBox="1"/>
          <p:nvPr/>
        </p:nvSpPr>
        <p:spPr>
          <a:xfrm>
            <a:off x="623300" y="3090025"/>
            <a:ext cx="17472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Facial recognition (Урок 03) повертає ймовірність, не вирок. 87% збігу ≠ «це він»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2" name="Google Shape;622;p72"/>
          <p:cNvSpPr txBox="1"/>
          <p:nvPr/>
        </p:nvSpPr>
        <p:spPr>
          <a:xfrm>
            <a:off x="2640700" y="2811800"/>
            <a:ext cx="19569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Швидкість — ворог верифікації. Помилкова ідентифікація незворотна для людини</a:t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3" name="Google Shape;623;p72"/>
          <p:cNvSpPr txBox="1"/>
          <p:nvPr/>
        </p:nvSpPr>
        <p:spPr>
          <a:xfrm>
            <a:off x="4821100" y="3132075"/>
            <a:ext cx="1863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Колективний OSINT потужний лише з методологією та особою, що відповідає за висновок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4" name="Google Shape;624;p72"/>
          <p:cNvSpPr txBox="1"/>
          <p:nvPr/>
        </p:nvSpPr>
        <p:spPr>
          <a:xfrm>
            <a:off x="6908347" y="2933093"/>
            <a:ext cx="174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Перш ніж назвати ім'я — спитайте: «а яка гіпотеза, що це НЕ він?» (ACH)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17164">
            <a:off x="2367287" y="2140726"/>
            <a:ext cx="440942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73"/>
          <p:cNvSpPr txBox="1"/>
          <p:nvPr/>
        </p:nvSpPr>
        <p:spPr>
          <a:xfrm>
            <a:off x="1384750" y="1058525"/>
            <a:ext cx="6507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Частина VIII — Дисципліна: межі AI та аналітика</a:t>
            </a:r>
            <a:endParaRPr b="1" sz="31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4"/>
          <p:cNvSpPr txBox="1"/>
          <p:nvPr/>
        </p:nvSpPr>
        <p:spPr>
          <a:xfrm>
            <a:off x="10912275" y="2219325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636" name="Google Shape;636;p74"/>
          <p:cNvSpPr txBox="1"/>
          <p:nvPr/>
        </p:nvSpPr>
        <p:spPr>
          <a:xfrm>
            <a:off x="287975" y="174850"/>
            <a:ext cx="872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КОЛИ AI ПОМИЛЯЄТЬСЯ: РЕАЛЬНІ РИЗИКИ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37" name="Google Shape;637;p74"/>
          <p:cNvSpPr/>
          <p:nvPr/>
        </p:nvSpPr>
        <p:spPr>
          <a:xfrm>
            <a:off x="348525" y="1221550"/>
            <a:ext cx="8392500" cy="30579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74"/>
          <p:cNvSpPr/>
          <p:nvPr/>
        </p:nvSpPr>
        <p:spPr>
          <a:xfrm>
            <a:off x="348525" y="4279350"/>
            <a:ext cx="8399400" cy="5136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Аналітик, що перестав перевіряти AI, перестав бути аналітиком.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9" name="Google Shape;639;p74"/>
          <p:cNvSpPr txBox="1"/>
          <p:nvPr/>
        </p:nvSpPr>
        <p:spPr>
          <a:xfrm>
            <a:off x="348525" y="731650"/>
            <a:ext cx="59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Liberation Serif"/>
                <a:ea typeface="Liberation Serif"/>
                <a:cs typeface="Liberation Serif"/>
                <a:sym typeface="Liberation Serif"/>
              </a:rPr>
              <a:t>Кожен пункт траплявся в реальних кейсах:</a:t>
            </a:r>
            <a:endParaRPr b="1">
              <a:solidFill>
                <a:srgbClr val="076CFC"/>
              </a:solidFill>
            </a:endParaRPr>
          </a:p>
        </p:txBody>
      </p:sp>
      <p:graphicFrame>
        <p:nvGraphicFramePr>
          <p:cNvPr id="640" name="Google Shape;640;p74"/>
          <p:cNvGraphicFramePr/>
          <p:nvPr/>
        </p:nvGraphicFramePr>
        <p:xfrm>
          <a:off x="630550" y="14773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2608950"/>
                <a:gridCol w="2609750"/>
                <a:gridCol w="26097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Помилка AI</a:t>
                      </a:r>
                      <a:endParaRPr b="1"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Реальний приклад</a:t>
                      </a:r>
                      <a:endParaRPr b="1"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Захист (урок / шард)</a:t>
                      </a:r>
                      <a:endParaRPr b="1"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Галюцинація геолокації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LLM впевнено вказує інше місце зі схожими орієнтирами (тести Bellingcat)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Класична верифікація (03)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Галюцинація факту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Вигаданий URL/цитата у звіті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Verify незалежним джерелом (11) ·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Claims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Confirmation bias через промпт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«Доведи X» → знайде лише X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ACH, обидві сторони (11, 13) ·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ACH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Переоцінка форми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Гладкий текст звучить переконливо без доказів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Форма ≠ зміст (13)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Хибна facial-схожість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Звинувачення Суніла Тріпаті (Бостон)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Схожість ≠ ідентичність (03, 05)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Витік PII в хмару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Компрометація розслідування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Локальні моделі (14) · </a:t>
                      </a:r>
                      <a:r>
                        <a:rPr b="1" lang="en" sz="11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ArkhamMirror offline</a:t>
                      </a:r>
                      <a:endParaRPr sz="11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5"/>
          <p:cNvSpPr/>
          <p:nvPr/>
        </p:nvSpPr>
        <p:spPr>
          <a:xfrm>
            <a:off x="38302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5"/>
          <p:cNvSpPr/>
          <p:nvPr/>
        </p:nvSpPr>
        <p:spPr>
          <a:xfrm>
            <a:off x="3158550" y="1388950"/>
            <a:ext cx="28239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75"/>
          <p:cNvSpPr/>
          <p:nvPr/>
        </p:nvSpPr>
        <p:spPr>
          <a:xfrm>
            <a:off x="5982375" y="1388950"/>
            <a:ext cx="2778600" cy="3434400"/>
          </a:xfrm>
          <a:prstGeom prst="roundRect">
            <a:avLst>
              <a:gd fmla="val 13375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75"/>
          <p:cNvSpPr txBox="1"/>
          <p:nvPr/>
        </p:nvSpPr>
        <p:spPr>
          <a:xfrm>
            <a:off x="287975" y="174850"/>
            <a:ext cx="948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BIAS: ОПЕРАТОРА І МАШИНИ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49" name="Google Shape;649;p75"/>
          <p:cNvSpPr txBox="1"/>
          <p:nvPr/>
        </p:nvSpPr>
        <p:spPr>
          <a:xfrm>
            <a:off x="287975" y="779125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Дві упередженості накладаються — і це найнебезпечніше (Урок 13).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0" name="Google Shape;650;p75"/>
          <p:cNvSpPr txBox="1"/>
          <p:nvPr/>
        </p:nvSpPr>
        <p:spPr>
          <a:xfrm>
            <a:off x="565975" y="1633600"/>
            <a:ext cx="25179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Bias оператора: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confirmation bias (Бостон), anchoring (перша гіпотеза «прилипає»), mirror imaging («вони мислять як ми»).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1" name="Google Shape;651;p75"/>
          <p:cNvSpPr txBox="1"/>
          <p:nvPr/>
        </p:nvSpPr>
        <p:spPr>
          <a:xfrm>
            <a:off x="3274175" y="1633600"/>
            <a:ext cx="25179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Bias AI: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успадковує перекоси навчальних даних («сміття на вході — сміття на виході, у масштабі»), отруєння контексту через промпт, недетермінованість (MoE: однаковий запит → різні відповіді).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2" name="Google Shape;652;p75"/>
          <p:cNvSpPr txBox="1"/>
          <p:nvPr/>
        </p:nvSpPr>
        <p:spPr>
          <a:xfrm>
            <a:off x="6057125" y="1633600"/>
            <a:ext cx="2778600" cy="29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Захист = метод, а не інтуїція: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eration Serif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ACH проти confirmation bias (шард ACH + /ai/devils-advocate)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Кілька незалежних джерел проти anchoring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Фіксація промптів і відповідей дослівно проти недетермінованості (EventBus-лог)</a:t>
            </a:r>
            <a:endParaRPr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5905" lvl="0" marL="450215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chemeClr val="lt1"/>
              </a:buClr>
              <a:buSzPts val="1200"/>
              <a:buFont typeface="IBM Plex Sans"/>
              <a:buChar char="●"/>
            </a:pP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Перехресна перевірка AI первинними джерелами — завжди</a:t>
            </a:r>
            <a:endParaRPr b="1" sz="12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6"/>
          <p:cNvSpPr txBox="1"/>
          <p:nvPr/>
        </p:nvSpPr>
        <p:spPr>
          <a:xfrm>
            <a:off x="287975" y="174850"/>
            <a:ext cx="8726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КЕЙСИ БАЛАНСУВАЛИ НА МЕЖІ. ДЕ САМЕ МЕЖА ДЛЯ ВАС (УРОК 14):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58" name="Google Shape;658;p76"/>
          <p:cNvSpPr/>
          <p:nvPr/>
        </p:nvSpPr>
        <p:spPr>
          <a:xfrm>
            <a:off x="348525" y="1221550"/>
            <a:ext cx="8392500" cy="24567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6"/>
          <p:cNvSpPr/>
          <p:nvPr/>
        </p:nvSpPr>
        <p:spPr>
          <a:xfrm>
            <a:off x="348525" y="3678350"/>
            <a:ext cx="8399400" cy="1114500"/>
          </a:xfrm>
          <a:prstGeom prst="roundRect">
            <a:avLst>
              <a:gd fmla="val 29318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Принцип: легальність джерела і пропорційність методу — частина методології. Незаконно здобутий доказ знищує кейс і аналітика. Шард Provenance фіксує походження, щоб це завжди можна було довести.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60" name="Google Shape;660;p76"/>
          <p:cNvGraphicFramePr/>
          <p:nvPr/>
        </p:nvGraphicFramePr>
        <p:xfrm>
          <a:off x="1511925" y="169742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3060075"/>
                <a:gridCol w="306007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Можна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Не можна</a:t>
                      </a:r>
                      <a:endParaRPr b="1"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Публічні пости, відкриті реєстри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Несанкціонований доступ до акаунтів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Архівування публічного контенту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Купівля викрадених PII (GDPR)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Reverse search, геолокація фото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Сталкінг, стеження без підстав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Sock puppet для збору (з межами)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Провокація, entrapment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Facial recognition як гіпотеза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Публічне звинувачення за схожістю</a:t>
                      </a:r>
                      <a:endParaRPr sz="12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7"/>
          <p:cNvSpPr/>
          <p:nvPr/>
        </p:nvSpPr>
        <p:spPr>
          <a:xfrm>
            <a:off x="383025" y="1511450"/>
            <a:ext cx="4119900" cy="3312000"/>
          </a:xfrm>
          <a:prstGeom prst="roundRect">
            <a:avLst>
              <a:gd fmla="val 882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77"/>
          <p:cNvSpPr/>
          <p:nvPr/>
        </p:nvSpPr>
        <p:spPr>
          <a:xfrm>
            <a:off x="4498498" y="1511450"/>
            <a:ext cx="4187100" cy="3312000"/>
          </a:xfrm>
          <a:prstGeom prst="roundRect">
            <a:avLst>
              <a:gd fmla="val 942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77"/>
          <p:cNvSpPr txBox="1"/>
          <p:nvPr/>
        </p:nvSpPr>
        <p:spPr>
          <a:xfrm>
            <a:off x="528675" y="1689800"/>
            <a:ext cx="3828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1. ПОСТАНОВКА     Мета, аудиторія, рішення (Урок 11)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2. ЗБІР           Соцмережі, API, скрапінг, витоки — архівувати! (04,07)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          → ArkhamMirror: INGEST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ОБРОБКА        Переклад, OCR, транскрипція, нормалізація (01,03)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          → OCR · PARSE · EMBED · MEDIA FORENSICS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4. ЗВ'ЯЗУВАННЯ    Entity resolution → граф знань (05,06)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          → ENTITIES · GRAPH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5. АНАЛІЗ         Патерни, кластери, центральність (09,12,14)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          → PATTERNS · ANOMALIES · TIMELINE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6. ВЕРИФІКАЦІЯ    3 джерела, форензика, ACH, суперечності (03,11,13)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↓          → CONTRADICTIONS · ACH · CREDIBILITY · PROVENANCE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7. ПРОДУКТ        BLUF, рівні впевненості, звіт (11,14)</a:t>
            </a:r>
            <a:b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0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→ REPORTS · SUMMARY · EXPORT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8" name="Google Shape;668;p77"/>
          <p:cNvSpPr txBox="1"/>
          <p:nvPr/>
        </p:nvSpPr>
        <p:spPr>
          <a:xfrm>
            <a:off x="287975" y="174850"/>
            <a:ext cx="872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УНІВЕРСАЛЬНИЙ ВОРКФЛОУ AI</a:t>
            </a: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28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OSINT = ПАЙПЛАЙН ARKHAMMIRROR</a:t>
            </a:r>
            <a:endParaRPr sz="28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69" name="Google Shape;669;p77"/>
          <p:cNvSpPr txBox="1"/>
          <p:nvPr/>
        </p:nvSpPr>
        <p:spPr>
          <a:xfrm>
            <a:off x="287975" y="1111250"/>
            <a:ext cx="634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Усі 12 кейсів — варіації одного каркаса. Це і є підсумок курсу: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0" name="Google Shape;670;p77"/>
          <p:cNvSpPr txBox="1"/>
          <p:nvPr/>
        </p:nvSpPr>
        <p:spPr>
          <a:xfrm>
            <a:off x="4776325" y="1689800"/>
            <a:ext cx="3688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Кожен кейс сьогодні пройшов саме ці сім кроків. Ваша курсова пройде їх теж — і ArkhamMirror проведе вас через кожен шард.</a:t>
            </a:r>
            <a:endParaRPr b="1" sz="1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8"/>
          <p:cNvSpPr txBox="1"/>
          <p:nvPr/>
        </p:nvSpPr>
        <p:spPr>
          <a:xfrm>
            <a:off x="287975" y="174850"/>
            <a:ext cx="869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НАСКРІЗНИЙ КЕЙС: ДЕЗІНФОРМАЦІЙНА МЕРЕЖА В ARKHAMMIRROR ЗА 2 ГОДИНИ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76" name="Google Shape;676;p78"/>
          <p:cNvSpPr/>
          <p:nvPr/>
        </p:nvSpPr>
        <p:spPr>
          <a:xfrm>
            <a:off x="287750" y="1956400"/>
            <a:ext cx="8572200" cy="2898300"/>
          </a:xfrm>
          <a:prstGeom prst="roundRect">
            <a:avLst>
              <a:gd fmla="val 1552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78"/>
          <p:cNvSpPr txBox="1"/>
          <p:nvPr/>
        </p:nvSpPr>
        <p:spPr>
          <a:xfrm>
            <a:off x="323725" y="1172400"/>
            <a:ext cx="80790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Як агентний воркфлоу (Урок 11) проганяє кейс через платформу:</a:t>
            </a:r>
            <a:endParaRPr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ЗАДАЧА: «Профіль мережі клонів-сайтів типу Doppelganger + бриф</a:t>
            </a:r>
            <a:r>
              <a:rPr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»</a:t>
            </a:r>
            <a:endParaRPr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8" name="Google Shape;678;p78"/>
          <p:cNvSpPr txBox="1"/>
          <p:nvPr/>
        </p:nvSpPr>
        <p:spPr>
          <a:xfrm>
            <a:off x="674800" y="2114200"/>
            <a:ext cx="7052400" cy="25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1. INGEST        47 статей + скріншоти 17 клон-доменів        [15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2. OCR/PARSE     автоматично (EventBus) → текст + метадані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3. EMBEDDINGS    семантична кластеризація наративів (5 мов)   [10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4. ENTITIES      витяг доменів, реєстраторів, хостингу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5. GRAPH         центральність → SDA/Struktura як «диригент»  [20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6. PATTERNS      часові сплески + cosine similarity текстів   [15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7. CONTRADICT.   клон vs оригінал ЗМІ → доведення підробки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8. ACH           H1 держоперація / H2 органіка / H3 накрут    [15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/ai/devils-advocate → атака провідної гіпотези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9. REPORT        BLUF + Key Judgements + рівні впевненості    [30 хв]</a:t>
            </a:r>
            <a:b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→ Аналітик: атрибуція, підпис, вичитка                     [~45 хв]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15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Час: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~2 год замість 2–3 днів. </a:t>
            </a:r>
            <a:r>
              <a:rPr b="1"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Ручна робота людини:</a:t>
            </a: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там, де вона незамінна.</a:t>
            </a:r>
            <a:endParaRPr b="1"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9"/>
          <p:cNvSpPr/>
          <p:nvPr/>
        </p:nvSpPr>
        <p:spPr>
          <a:xfrm>
            <a:off x="4572000" y="12878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Кожне судження має явний рівень впевненості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4" name="Google Shape;684;p79"/>
          <p:cNvSpPr/>
          <p:nvPr/>
        </p:nvSpPr>
        <p:spPr>
          <a:xfrm>
            <a:off x="4572000" y="20126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AI-висновки (геолокація, атрибуція) перехресно перевірені первинними джерелами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5" name="Google Shape;685;p79"/>
          <p:cNvSpPr/>
          <p:nvPr/>
        </p:nvSpPr>
        <p:spPr>
          <a:xfrm>
            <a:off x="4572000" y="27374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Чутливі дані не покидали локальне середовище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6" name="Google Shape;686;p79"/>
          <p:cNvSpPr/>
          <p:nvPr/>
        </p:nvSpPr>
        <p:spPr>
          <a:xfrm>
            <a:off x="4572000" y="34622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Facial/AI-збіги подані як ймовірність, не як вирок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7" name="Google Shape;687;p79"/>
          <p:cNvSpPr/>
          <p:nvPr/>
        </p:nvSpPr>
        <p:spPr>
          <a:xfrm>
            <a:off x="4572000" y="41870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Під звітом стоїть мій підпис — і я відповідаю за висновок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8" name="Google Shape;688;p79"/>
          <p:cNvSpPr txBox="1"/>
          <p:nvPr/>
        </p:nvSpPr>
        <p:spPr>
          <a:xfrm>
            <a:off x="287975" y="174850"/>
            <a:ext cx="948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ЧЕК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ЛИСТ ЗРІЛОГО AI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OSINT АНАЛІТИКА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689" name="Google Shape;689;p79"/>
          <p:cNvSpPr txBox="1"/>
          <p:nvPr/>
        </p:nvSpPr>
        <p:spPr>
          <a:xfrm>
            <a:off x="287975" y="821350"/>
            <a:ext cx="42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Роздрукуйте й тримайте біля монітора:</a:t>
            </a:r>
            <a:endParaRPr b="1">
              <a:solidFill>
                <a:srgbClr val="076CFC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0" name="Google Shape;690;p79"/>
          <p:cNvSpPr/>
          <p:nvPr/>
        </p:nvSpPr>
        <p:spPr>
          <a:xfrm>
            <a:off x="348525" y="12878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Я знаю, яке рішення приймуть на основі мого звіту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1" name="Google Shape;691;p79"/>
          <p:cNvSpPr/>
          <p:nvPr/>
        </p:nvSpPr>
        <p:spPr>
          <a:xfrm>
            <a:off x="348525" y="20126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Кожен ключовий факт підтверджено трьома незалежними джерелами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2" name="Google Shape;692;p79"/>
          <p:cNvSpPr/>
          <p:nvPr/>
        </p:nvSpPr>
        <p:spPr>
          <a:xfrm>
            <a:off x="348525" y="27374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Я заархівував докази до того, як їх видалили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3" name="Google Shape;693;p79"/>
          <p:cNvSpPr/>
          <p:nvPr/>
        </p:nvSpPr>
        <p:spPr>
          <a:xfrm>
            <a:off x="348525" y="34622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Я документував походження і законність кожного набору даних (Provenance)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4" name="Google Shape;694;p79"/>
          <p:cNvSpPr/>
          <p:nvPr/>
        </p:nvSpPr>
        <p:spPr>
          <a:xfrm>
            <a:off x="348525" y="4187075"/>
            <a:ext cx="4220700" cy="724800"/>
          </a:xfrm>
          <a:prstGeom prst="roundRect">
            <a:avLst>
              <a:gd fmla="val 50000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Я перевірив альтернативні гіпотези (ACH), а не лише улюблену</a:t>
            </a:r>
            <a:endParaRPr sz="12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0"/>
          <p:cNvSpPr/>
          <p:nvPr/>
        </p:nvSpPr>
        <p:spPr>
          <a:xfrm>
            <a:off x="348525" y="1221550"/>
            <a:ext cx="8392500" cy="2846400"/>
          </a:xfrm>
          <a:prstGeom prst="roundRect">
            <a:avLst>
              <a:gd fmla="val 1040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80"/>
          <p:cNvSpPr/>
          <p:nvPr/>
        </p:nvSpPr>
        <p:spPr>
          <a:xfrm>
            <a:off x="348525" y="4068025"/>
            <a:ext cx="8399400" cy="724800"/>
          </a:xfrm>
          <a:prstGeom prst="roundRect">
            <a:avLst>
              <a:gd fmla="val 50000" name="adj"/>
            </a:avLst>
          </a:prstGeom>
          <a:solidFill>
            <a:srgbClr val="076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Інструменти однакові. Різниця завжди в дисципліні.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01" name="Google Shape;701;p80"/>
          <p:cNvGraphicFramePr/>
          <p:nvPr/>
        </p:nvGraphicFramePr>
        <p:xfrm>
          <a:off x="709775" y="1562075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{FD23F0F0-E5CF-4907-9DB9-065889FB5509}</a:tableStyleId>
              </a:tblPr>
              <a:tblGrid>
                <a:gridCol w="3835000"/>
                <a:gridCol w="38350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Зразок (MH17, Скрипалі, Bucha, Pandora, Bybit)</a:t>
                      </a:r>
                      <a:endParaRPr b="1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Провал (Boston 2013)</a:t>
                      </a:r>
                      <a:endParaRPr b="1"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6CF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Багато незалежних джерел сходяться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Одна поверхнева схожість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Методологія документована покроково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Натовп без методу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Верифікація перед публікацією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Швидкість поперед усього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Альтернативи перевірені (ACH)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Підтвердили те, що хотіли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Чесність про невизначеність (Аль-Ахлі)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Категоричність без підстав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Відповідальна особа за висновок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Колективна безвідповідальність</a:t>
                      </a:r>
                      <a:endParaRPr>
                        <a:solidFill>
                          <a:srgbClr val="FFFFFF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34925" marB="34925" marR="73025" marL="73025" anchor="ctr">
                    <a:lnL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02" name="Google Shape;702;p80"/>
          <p:cNvSpPr txBox="1"/>
          <p:nvPr/>
        </p:nvSpPr>
        <p:spPr>
          <a:xfrm>
            <a:off x="287975" y="174850"/>
            <a:ext cx="9489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29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ЩО ВІДРІЗНЯЄ КЕЙСИ</a:t>
            </a:r>
            <a:r>
              <a:rPr lang="en" sz="29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-</a:t>
            </a:r>
            <a:r>
              <a:rPr lang="en" sz="29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ЗРАЗКИ ВІД ПРОВАЛІВ</a:t>
            </a:r>
            <a:endParaRPr sz="29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1"/>
          <p:cNvSpPr txBox="1"/>
          <p:nvPr/>
        </p:nvSpPr>
        <p:spPr>
          <a:xfrm>
            <a:off x="10585900" y="127350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708" name="Google Shape;708;p81"/>
          <p:cNvSpPr txBox="1"/>
          <p:nvPr/>
        </p:nvSpPr>
        <p:spPr>
          <a:xfrm>
            <a:off x="10390025" y="1800500"/>
            <a:ext cx="7319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2" marL="0" rtl="0" algn="l">
              <a:spcBef>
                <a:spcPts val="700"/>
              </a:spcBef>
              <a:spcAft>
                <a:spcPts val="600"/>
              </a:spcAft>
              <a:buClr>
                <a:schemeClr val="dk1"/>
              </a:buClr>
              <a:buSzPts val="1400"/>
              <a:buFont typeface="Liberation Sans"/>
              <a:buAutoNum type="arabicPeriod"/>
            </a:pPr>
            <a:r>
              <a:t/>
            </a:r>
            <a:endParaRPr b="1">
              <a:solidFill>
                <a:schemeClr val="dk1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709" name="Google Shape;709;p81"/>
          <p:cNvSpPr txBox="1"/>
          <p:nvPr/>
        </p:nvSpPr>
        <p:spPr>
          <a:xfrm>
            <a:off x="10390025" y="1384800"/>
            <a:ext cx="70524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0" name="Google Shape;710;p81"/>
          <p:cNvSpPr txBox="1"/>
          <p:nvPr/>
        </p:nvSpPr>
        <p:spPr>
          <a:xfrm>
            <a:off x="287972" y="174850"/>
            <a:ext cx="7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ПИТАННЯ ДЛЯ ОБГОВОРЕННЯ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11" name="Google Shape;711;p81"/>
          <p:cNvSpPr/>
          <p:nvPr/>
        </p:nvSpPr>
        <p:spPr>
          <a:xfrm>
            <a:off x="383025" y="1007400"/>
            <a:ext cx="2778600" cy="18510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81"/>
          <p:cNvSpPr txBox="1"/>
          <p:nvPr/>
        </p:nvSpPr>
        <p:spPr>
          <a:xfrm>
            <a:off x="526729" y="1162615"/>
            <a:ext cx="2634900" cy="16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Питання 1.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У кейсі Навального журналісти купували телефонні білінги на чорному ринку. Де межа між виправданим розслідуванням у суспільному інтересі й порушенням приватності? Чи могли б ви застосувати цей метод у власній роботі — і чому ні?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3" name="Google Shape;713;p81"/>
          <p:cNvSpPr/>
          <p:nvPr/>
        </p:nvSpPr>
        <p:spPr>
          <a:xfrm>
            <a:off x="3158920" y="1007400"/>
            <a:ext cx="2778600" cy="18510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81"/>
          <p:cNvSpPr txBox="1"/>
          <p:nvPr/>
        </p:nvSpPr>
        <p:spPr>
          <a:xfrm>
            <a:off x="3302624" y="1194290"/>
            <a:ext cx="26349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Питання 2.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Bellingcat показав: дорожча модель (GPT-5 Pro за €200) геолокує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гірше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за дешеву. Чому «новіше/дорожче» в AI не означає «точніше» для OSINT — і як це міняє ваш вибір інструменту?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5" name="Google Shape;715;p81"/>
          <p:cNvSpPr/>
          <p:nvPr/>
        </p:nvSpPr>
        <p:spPr>
          <a:xfrm>
            <a:off x="5937514" y="1007400"/>
            <a:ext cx="2778600" cy="18510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81"/>
          <p:cNvSpPr txBox="1"/>
          <p:nvPr/>
        </p:nvSpPr>
        <p:spPr>
          <a:xfrm>
            <a:off x="6081218" y="1194303"/>
            <a:ext cx="2634900" cy="14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Питання 3.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Та сама зв'язка «краудсорс + розпізнавання облич» дала взірець (Sedition Hunters) і трагедію (Бостон 2013). Що конкретно треба додати до техніки, щоб вона не нашкодила невинному?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7" name="Google Shape;717;p81"/>
          <p:cNvSpPr/>
          <p:nvPr/>
        </p:nvSpPr>
        <p:spPr>
          <a:xfrm>
            <a:off x="383025" y="2858375"/>
            <a:ext cx="4168500" cy="18510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81"/>
          <p:cNvSpPr txBox="1"/>
          <p:nvPr/>
        </p:nvSpPr>
        <p:spPr>
          <a:xfrm>
            <a:off x="598616" y="3111576"/>
            <a:ext cx="3953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Питання 4.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У кейсі Аль-Ахлі різні поважні OSINT-групи дійшли різних висновків. Чи це провал OSINT — чи його зрілість? Як ви формулюєте висновок, коли дані дозволяють лише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виключити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але не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встановити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?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19" name="Google Shape;719;p81"/>
          <p:cNvSpPr/>
          <p:nvPr/>
        </p:nvSpPr>
        <p:spPr>
          <a:xfrm>
            <a:off x="4547539" y="2858375"/>
            <a:ext cx="4168500" cy="18510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81"/>
          <p:cNvSpPr txBox="1"/>
          <p:nvPr/>
        </p:nvSpPr>
        <p:spPr>
          <a:xfrm>
            <a:off x="4763131" y="3111576"/>
            <a:ext cx="39531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Питання 5.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AI здатен пройти майже весь пайплайн ArkhamMirror автономно. Які кроки ви </a:t>
            </a:r>
            <a:r>
              <a:rPr b="1"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ніколи</a:t>
            </a:r>
            <a:r>
              <a:rPr lang="en"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не делегуєте машині — і як аргументуєте це замовнику, що хоче «все автоматизувати»?</a:t>
            </a:r>
            <a:endParaRPr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2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726" name="Google Shape;726;p82"/>
          <p:cNvSpPr txBox="1"/>
          <p:nvPr/>
        </p:nvSpPr>
        <p:spPr>
          <a:xfrm>
            <a:off x="287972" y="174850"/>
            <a:ext cx="7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ПІДСУМОК КУРСУ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27" name="Google Shape;727;p82"/>
          <p:cNvSpPr/>
          <p:nvPr/>
        </p:nvSpPr>
        <p:spPr>
          <a:xfrm>
            <a:off x="376175" y="821350"/>
            <a:ext cx="8379600" cy="817500"/>
          </a:xfrm>
          <a:prstGeom prst="roundRect">
            <a:avLst>
              <a:gd fmla="val 28486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7250" lIns="97250" spcFirstLastPara="1" rIns="97250" wrap="square" tIns="97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82"/>
          <p:cNvSpPr txBox="1"/>
          <p:nvPr/>
        </p:nvSpPr>
        <p:spPr>
          <a:xfrm>
            <a:off x="639000" y="860650"/>
            <a:ext cx="7976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60045" rtl="0" algn="l">
              <a:spcBef>
                <a:spcPts val="0"/>
              </a:spcBef>
              <a:spcAft>
                <a:spcPts val="1415"/>
              </a:spcAft>
              <a:buNone/>
            </a:pPr>
            <a:r>
              <a:rPr lang="en" sz="13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 16 уроків ви пройшли шлях від «що таке OSINT» до повного AI-підсиленого розслідування у власній локальній платформі. Сьогодні бачили, що це працює не в теорії — у судах, трибуналах і на перших шпальтах.</a:t>
            </a:r>
            <a:endParaRPr sz="13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9" name="Google Shape;729;p82"/>
          <p:cNvSpPr txBox="1"/>
          <p:nvPr/>
        </p:nvSpPr>
        <p:spPr>
          <a:xfrm>
            <a:off x="483625" y="1685050"/>
            <a:ext cx="428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П'ять речей, які забираєте назавжди: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0" name="Google Shape;730;p82"/>
          <p:cNvSpPr/>
          <p:nvPr/>
        </p:nvSpPr>
        <p:spPr>
          <a:xfrm>
            <a:off x="383025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82"/>
          <p:cNvSpPr txBox="1"/>
          <p:nvPr/>
        </p:nvSpPr>
        <p:spPr>
          <a:xfrm>
            <a:off x="526730" y="2255041"/>
            <a:ext cx="26349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OSINT-цикл (Збір→Обробка→Аналіз→Дія) — AI підсилює кожен етап, але не змінює логіку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2" name="Google Shape;732;p82"/>
          <p:cNvSpPr/>
          <p:nvPr/>
        </p:nvSpPr>
        <p:spPr>
          <a:xfrm>
            <a:off x="3158923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82"/>
          <p:cNvSpPr txBox="1"/>
          <p:nvPr/>
        </p:nvSpPr>
        <p:spPr>
          <a:xfrm>
            <a:off x="3302628" y="2255041"/>
            <a:ext cx="2634900" cy="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Верифікація — серце ремесла. Три незалежні джерела. Провенанс.  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А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рхівна копія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4" name="Google Shape;734;p82"/>
          <p:cNvSpPr/>
          <p:nvPr/>
        </p:nvSpPr>
        <p:spPr>
          <a:xfrm>
            <a:off x="5937522" y="2124550"/>
            <a:ext cx="27786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82"/>
          <p:cNvSpPr txBox="1"/>
          <p:nvPr/>
        </p:nvSpPr>
        <p:spPr>
          <a:xfrm>
            <a:off x="6081226" y="2193641"/>
            <a:ext cx="2634900" cy="1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Entity resolution + графи перетворюють фрагменти на картину — від паспортів до гаманців, від десятків вузлів до мільйонів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6" name="Google Shape;736;p82"/>
          <p:cNvSpPr/>
          <p:nvPr/>
        </p:nvSpPr>
        <p:spPr>
          <a:xfrm>
            <a:off x="383025" y="34169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82"/>
          <p:cNvSpPr txBox="1"/>
          <p:nvPr/>
        </p:nvSpPr>
        <p:spPr>
          <a:xfrm>
            <a:off x="598617" y="3593741"/>
            <a:ext cx="39531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Дисципліна гіпотез (ACH) і робота з bias відрізняють аналітика від натовпу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8" name="Google Shape;738;p82"/>
          <p:cNvSpPr/>
          <p:nvPr/>
        </p:nvSpPr>
        <p:spPr>
          <a:xfrm>
            <a:off x="4547545" y="3416950"/>
            <a:ext cx="4168500" cy="1292400"/>
          </a:xfrm>
          <a:prstGeom prst="roundRect">
            <a:avLst>
              <a:gd fmla="val 16319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71050" lIns="71050" spcFirstLastPara="1" rIns="71050" wrap="square" tIns="71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t/>
            </a:r>
            <a:endParaRPr b="0" i="0" sz="10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82"/>
          <p:cNvSpPr txBox="1"/>
          <p:nvPr/>
        </p:nvSpPr>
        <p:spPr>
          <a:xfrm>
            <a:off x="4763137" y="3593741"/>
            <a:ext cx="39531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4425" lIns="64425" spcFirstLastPara="1" rIns="64425" wrap="square" tIns="6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прискорює — людина відповідає.                  Підпис під звітом завжди людський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3"/>
          <p:cNvSpPr/>
          <p:nvPr/>
        </p:nvSpPr>
        <p:spPr>
          <a:xfrm>
            <a:off x="287750" y="1644550"/>
            <a:ext cx="8572200" cy="3210300"/>
          </a:xfrm>
          <a:prstGeom prst="roundRect">
            <a:avLst>
              <a:gd fmla="val 15524" name="adj"/>
            </a:avLst>
          </a:prstGeom>
          <a:solidFill>
            <a:srgbClr val="2828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83"/>
          <p:cNvSpPr txBox="1"/>
          <p:nvPr/>
        </p:nvSpPr>
        <p:spPr>
          <a:xfrm>
            <a:off x="614400" y="1854850"/>
            <a:ext cx="7915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Застосуйте каркас зі слайда 44 до власного кейсу в ArkhamMirror: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86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Sans"/>
              <a:buChar char="●"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Оберіть реальний публічний кейс (мережа каналів, домен, подія, особа, крипто-адреса)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86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Sans"/>
              <a:buChar char="●"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Проженіть його через шарди: Ingest → Entities → Graph → ACH → Report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86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iberation Serif"/>
              <a:buChar char="●"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Використайте мінімум 3 AI-інструменти курсу — і </a:t>
            </a:r>
            <a:r>
              <a:rPr b="1"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задокументуйте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де редагували AI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86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Sans"/>
              <a:buChar char="●"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Структуруйте звіт за BLUF + рівні впевненості (Урок 11)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68605" lvl="0" marL="450215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BM Plex Sans"/>
              <a:buChar char="●"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Будьте готові відповісти: «де AI помилявся і як ви це виправили»</a:t>
            </a:r>
            <a:endParaRPr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360045" marR="360045" rtl="0" algn="l">
              <a:spcBef>
                <a:spcPts val="700"/>
              </a:spcBef>
              <a:spcAft>
                <a:spcPts val="1415"/>
              </a:spcAft>
              <a:buNone/>
            </a:pP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Найкращі курсові — не ті, де AI зробив усе. А ті, де видно </a:t>
            </a:r>
            <a:r>
              <a:rPr b="1"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думку аналітика поверх роботи машини</a:t>
            </a:r>
            <a:r>
              <a:rPr lang="en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6" name="Google Shape;746;p83"/>
          <p:cNvSpPr txBox="1"/>
          <p:nvPr/>
        </p:nvSpPr>
        <p:spPr>
          <a:xfrm>
            <a:off x="287972" y="174850"/>
            <a:ext cx="7976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30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ДАЛІ: ВАША КУРСОВА РОБОТА</a:t>
            </a:r>
            <a:endParaRPr sz="30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747" name="Google Shape;747;p83"/>
          <p:cNvSpPr txBox="1"/>
          <p:nvPr/>
        </p:nvSpPr>
        <p:spPr>
          <a:xfrm>
            <a:off x="287975" y="869950"/>
            <a:ext cx="4284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Наступне заняття — </a:t>
            </a:r>
            <a:r>
              <a:rPr b="1"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захист курсових робіт</a:t>
            </a:r>
            <a:r>
              <a:rPr lang="en">
                <a:solidFill>
                  <a:srgbClr val="076CFC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(</a:t>
            </a:r>
            <a:r>
              <a:rPr lang="en" u="sng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Урок-16-Захист-курсових-робіт</a:t>
            </a:r>
            <a:r>
              <a:rPr lang="en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).</a:t>
            </a:r>
            <a:endParaRPr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84"/>
          <p:cNvSpPr txBox="1"/>
          <p:nvPr/>
        </p:nvSpPr>
        <p:spPr>
          <a:xfrm>
            <a:off x="483625" y="1388950"/>
            <a:ext cx="775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753" name="Google Shape;753;p84"/>
          <p:cNvSpPr/>
          <p:nvPr/>
        </p:nvSpPr>
        <p:spPr>
          <a:xfrm>
            <a:off x="771597" y="1273300"/>
            <a:ext cx="7600800" cy="2477400"/>
          </a:xfrm>
          <a:prstGeom prst="roundRect">
            <a:avLst>
              <a:gd fmla="val 986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7250" lIns="97250" spcFirstLastPara="1" rIns="97250" wrap="square" tIns="97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84"/>
          <p:cNvSpPr txBox="1"/>
          <p:nvPr/>
        </p:nvSpPr>
        <p:spPr>
          <a:xfrm>
            <a:off x="1118700" y="1538225"/>
            <a:ext cx="6966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Інструменти змінюються щомісяця. Моделі застарівають за рік. GPT-5 виявляється гіршим за попередника в геолокації. Незмінним лишається одне: дисциплінований розум, що ставить правильні питання, перевіряє відповіді й несе відповідальність за висновок.</a:t>
            </a:r>
            <a:endParaRPr b="1" sz="16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Саме це робить вас аналітиком.                                                                                      AI — і ArkhamMirror —</a:t>
            </a:r>
            <a:r>
              <a:rPr b="1" lang="en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16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лише підсилювачі.</a:t>
            </a:r>
            <a:endParaRPr b="1" sz="16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