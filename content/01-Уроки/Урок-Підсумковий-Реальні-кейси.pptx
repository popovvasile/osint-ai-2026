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3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6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</p:sldIdLst>
  <p:sldSz cx="9144000" cy="5143500"/>
  <p:notesSz cx="6858000" cy="9144000"/>
  <p:embeddedFontLst>
    <p:embeddedFont>
      <p:font typeface="IBM Plex Mono"/>
      <p:regular r:id="rId75"/>
      <p:bold r:id="rId76"/>
      <p:italic r:id="rId77"/>
      <p:boldItalic r:id="rId78"/>
    </p:embeddedFont>
    <p:embeddedFont>
      <p:font typeface="IBM Plex Mono SemiBold"/>
      <p:regular r:id="rId79"/>
    </p:embeddedFont>
    <p:embeddedFont>
      <p:font typeface="IBM Plex Sans"/>
      <p:regular r:id="rId80"/>
      <p:bold r:id="rId81"/>
      <p:italic r:id="rId82"/>
      <p:boldItalic r:id="rId81"/>
    </p:embeddedFont>
    <p:embeddedFont>
      <p:font typeface="Noto Sans CJK SC"/>
      <p:regular r:id="rId83"/>
      <p:bold r:id="rId84"/>
      <p:italic r:id="rId84"/>
    </p:embeddedFont>
    <p:embeddedFont>
      <p:font typeface="Noto Sans Devanagari"/>
      <p:regular r:id="rId85"/>
      <p:bold r:id="rId86"/>
      <p:italic r:id="rId8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font" Target="fonts/Font_1_IBM_Plex_Mono_Regular.fntdata"/><Relationship Id="rId76" Type="http://schemas.openxmlformats.org/officeDocument/2006/relationships/font" Target="fonts/Font_2_IBM_Plex_Mono_Bold.fntdata"/><Relationship Id="rId77" Type="http://schemas.openxmlformats.org/officeDocument/2006/relationships/font" Target="fonts/Font_3_IBM_Plex_Mono_Italic.fntdata"/><Relationship Id="rId78" Type="http://schemas.openxmlformats.org/officeDocument/2006/relationships/font" Target="fonts/Font_4_IBM_Plex_Mono_BoldItalic.fntdata"/><Relationship Id="rId79" Type="http://schemas.openxmlformats.org/officeDocument/2006/relationships/font" Target="fonts/Font_5_IBM_Plex_Mono_SemiBold_Regular.fntdata"/><Relationship Id="rId80" Type="http://schemas.openxmlformats.org/officeDocument/2006/relationships/font" Target="fonts/Font_6_IBM_Plex_Sans_Regular.fntdata"/><Relationship Id="rId81" Type="http://schemas.openxmlformats.org/officeDocument/2006/relationships/font" Target="fonts/Font_7_IBM_Plex_Sans_Bold.fntdata"/><Relationship Id="rId82" Type="http://schemas.openxmlformats.org/officeDocument/2006/relationships/font" Target="fonts/Font_8_IBM_Plex_Sans_Italic.fntdata"/><Relationship Id="rId83" Type="http://schemas.openxmlformats.org/officeDocument/2006/relationships/font" Target="fonts/Font_9_Noto_Sans_CJK_SC_Regular.fntdata"/><Relationship Id="rId84" Type="http://schemas.openxmlformats.org/officeDocument/2006/relationships/font" Target="fonts/Font_10_Noto_Sans_CJK_SC_Bold.fntdata"/><Relationship Id="rId85" Type="http://schemas.openxmlformats.org/officeDocument/2006/relationships/font" Target="fonts/Font_11_Noto_Sans_Devanagari_Regular.fntdata"/><Relationship Id="rId86" Type="http://schemas.openxmlformats.org/officeDocument/2006/relationships/font" Target="fonts/Font_12_Noto_Sans_Devanagari_Bold.fntdata"/><Relationship Id="rId8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2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FBFDFF-ED30-4130-A67B-FBFB6ECC3A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81360" tIns="81360" rIns="81360" bIns="8136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Цей урок не повторює весь курс. Він збирає в одну систему ті інструменти й методи, які реально допомагають працювати з відкритими даними, ризиками, графами, зображеннями, ботами й просторовим аналізом.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Принцип уроку: AI прискорює, але не замінює аналітика. Інструменти допомагають мислити системно, а не автоматично.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не урок про «один чарівний сервіс». Це урок про робочий стек аналітика.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Інструмент не є методологією. Методологія — це те, як ви поєднуєте інструменти.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Arkham Mirror більше схожий на аналітичну лабораторію, то osintflow — на конвеєр для повторюваних розслідувань.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 цьому курсі Shadowbroker — не «сенсаційний сервіс», а ще один елемент дисципліни у роботі з даними.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Далі ми розглянемо не «інструменти заради інструментів», а задачі, які вони допомагають вирішити.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Тому хороший аналітик мислить не категоріями «правда / неправда», а категоріями ймовірності, впливу і впевненості.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Висока ймовірність не завжди означає високий пріоритет. Інколи важливішим є масштаб наслідків.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Синтетичний приклад тут використано як навчальну модель, не як реальний кейс.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Хороше розслідування постійно оновлює ймовірності, а не просто збирає факти в одну купу.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Найгірша помилка — поводитись так, ніби невизначеності не існує.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У цьому курсі ми дивимось на Foundry як на операційну платформу, а не як на магічний продукт.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не «один клік». Це інфраструктура для дисциплінованої командної роботи.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відповідь на ці питання нечітка, платформа ще не стала робочою системою розслідування.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Для невеликої команди іноді простіший стек кращий за великий enterprise-сервіс.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навчальний приклад, який показує, чому Foundry корисний не тільки для бізнесу, а й для складних розслідувань.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Maltego — це не просто візуалізація. Це спосіб мислити через зв’язки.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AI тут виконує роль помічника-редактора, а не автоматичного аналітика.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Не кожен вузол важливий. Важливий той, що змінює картину.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не доведення злочину. Це шлях до коректної перевірки гіпотези.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ви не архівували дані, ви можете втратити кейс раніше, ніж його зрозумієте.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Збір без цілі створює шум. Збір із ціллю створює доказову базу.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Scraping без контролю якості — це не збір, а генерація помилок.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Важливо: сам збір ще нічого не доводить. Далі потрібні аналіз і верифікація.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Іноді продуктова аналітика випадково показує те, що приховано в іншому шарі розслідування.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допомагає покращувати не лише розслідування, а й сам процес мислення.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Аналітика допомагає поставити правильне питання, а не завершити справу за вас.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Це не тільки про «фейкові картинки». Це про походження, контекст і ознаки редагування.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AI — це інструмент для підозри, а не для остаточного судження.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Модель може бути дуже впевненою і все одно помилковою.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фото важливе для висновку, ви не маєте права покладатися лише на візуальне враження.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не можете пояснити, не можете публікувати як факт.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Ботів видно не по одному посту, а по патерну поведінки.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Виявлення ботів — це поєднання статистики, графів і контексту.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Контент може бути різним, а інфраструктура — однаковою.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Щоб розрізнити ці варіанти, потрібен повний контекст.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Саме тоді виявлення ботів перестає бути технічним вправлянням і стає розслідуванням.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Геолокація — це не здогадка. Це побудова перевірюваної просторової моделі.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Один орієнтир може ввести в оману. Кілька незалежних ознак дають твердіший висновок.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1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Авто-розбиття для читабельності: частина 2 з 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орієнтири не збігаються, не підганяйте карту під бажаний висновок.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Навіть у синтетичному прикладі головне не «вгадати», а довести.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Гарний геолокаційний висновок завжди чесний щодо того, чого він не знає.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Кожен інструмент — це окремий вузол у цьому ланцюгу, а не автономна відповідь.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Професійний аналітик не боїться сказати «ще не знаю».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Якщо ви можете пройти цей чекліст без підглядання, ви вже мислите як аналітик, а не як користувач інструментів.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OSINT — це не гонитва за сенсацією. Це дисципліна, у якій дані, ризик, інструменти й людська відповідальність мають працювати разом.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Далі — захист вашої курсової роботи.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AC1ED8-DEE7-4D31-A86A-C864ACBFEC7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ECE142-19D5-4FA8-AEF5-25F5A7096D7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0B6A3C-CE11-48A4-985C-C57457DFDA7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4E5CAE-1B72-44C0-BBED-86D5C894215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FF9572-B5BC-474D-9B4A-3C8EC231DAC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8F0720-BD40-483F-9A4D-2F0833FB3FC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2ADB0F-4B37-4714-ADB1-DCF46EEAC4C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935507-8CFC-4DF8-ABD4-041E6A8020E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5BDAC5-F611-43EE-90E3-B730B582875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FD1C7D-7CDB-48BF-AD41-983D0E78885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3CD9D3-B0D2-431A-83D7-BB8C3A5D5FB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E05906-B615-4D44-907F-BB232C0AE5E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E9DF25-787C-4F05-9E0F-9F4E7A92948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D45C68D-931C-480B-9F11-17469484024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1ECA87-B96E-4505-AED6-04CACEB2611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11785D-227F-4215-9116-3E8AF3E75C8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96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96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2E3905-84FF-4D13-A6D6-8156CA0DF46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F6B6D8-5948-479C-97BD-3616CD6A053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32F131-3EA7-47AD-B1AF-B910753E5B7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2BE56E8-E1FA-4220-9F01-49425C186A8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81;p2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9E3A85-D9A0-44D9-BD81-25688715557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9EF0BA-004F-4040-A96E-1CA4C1C4E46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99;p25"/>
          <p:cNvPicPr/>
          <p:nvPr/>
        </p:nvPicPr>
        <p:blipFill>
          <a:blip r:embed="rId2"/>
          <a:stretch/>
        </p:blipFill>
        <p:spPr>
          <a:xfrm>
            <a:off x="287640" y="2292480"/>
            <a:ext cx="1427040" cy="2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100;p25"/>
          <p:cNvSpPr/>
          <p:nvPr/>
        </p:nvSpPr>
        <p:spPr>
          <a:xfrm>
            <a:off x="496800" y="446040"/>
            <a:ext cx="7570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900" b="1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68" name="Google Shape;101;p25"/>
          <p:cNvSpPr/>
          <p:nvPr/>
        </p:nvSpPr>
        <p:spPr>
          <a:xfrm>
            <a:off x="348840" y="2250360"/>
            <a:ext cx="128016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sp>
        <p:nvSpPr>
          <p:cNvPr id="69" name="Google Shape;102;p25"/>
          <p:cNvSpPr/>
          <p:nvPr/>
        </p:nvSpPr>
        <p:spPr>
          <a:xfrm>
            <a:off x="1715400" y="2282040"/>
            <a:ext cx="2436840" cy="2905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100" b="0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70" name="Google Shape;103;p25"/>
          <p:cNvSpPr/>
          <p:nvPr/>
        </p:nvSpPr>
        <p:spPr>
          <a:xfrm>
            <a:off x="190080" y="4185360"/>
            <a:ext cx="299520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100" b="0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71" name="TextBox 103"/>
          <p:cNvSpPr/>
          <p:nvPr/>
        </p:nvSpPr>
        <p:spPr>
          <a:xfrm>
            <a:off x="731520" y="1097280"/>
            <a:ext cx="14662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Підсумковий урок: інструменти, ризики та розслідування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04"/>
          <p:cNvSpPr/>
          <p:nvPr/>
        </p:nvSpPr>
        <p:spPr>
          <a:xfrm>
            <a:off x="731520" y="2743200"/>
            <a:ext cx="5388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C8C8C8"/>
                </a:solidFill>
                <a:effectLst/>
                <a:uFillTx/>
                <a:latin typeface="Arial"/>
                <a:ea typeface="Arial"/>
              </a:rPr>
              <a:t>Курс: AI для OSINT 2026. Підсумкова лекція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08;p26"/>
          <p:cNvSpPr/>
          <p:nvPr/>
        </p:nvSpPr>
        <p:spPr>
          <a:xfrm>
            <a:off x="4444560" y="501840"/>
            <a:ext cx="4210920" cy="41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74" name="Google Shape;109;p26"/>
          <p:cNvSpPr/>
          <p:nvPr/>
        </p:nvSpPr>
        <p:spPr>
          <a:xfrm>
            <a:off x="196200" y="1258560"/>
            <a:ext cx="3669120" cy="11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IBM Plex Sans"/>
            </a:endParaRPr>
          </a:p>
        </p:txBody>
      </p:sp>
      <p:sp>
        <p:nvSpPr>
          <p:cNvPr id="75" name="Google Shape;110;p26"/>
          <p:cNvSpPr/>
          <p:nvPr/>
        </p:nvSpPr>
        <p:spPr>
          <a:xfrm>
            <a:off x="196200" y="150480"/>
            <a:ext cx="41263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sp>
        <p:nvSpPr>
          <p:cNvPr id="76" name="TextBox 110"/>
          <p:cNvSpPr/>
          <p:nvPr/>
        </p:nvSpPr>
        <p:spPr>
          <a:xfrm>
            <a:off x="640080" y="365760"/>
            <a:ext cx="3865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1. Заголовок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1"/>
          <p:cNvSpPr/>
          <p:nvPr/>
        </p:nvSpPr>
        <p:spPr>
          <a:xfrm>
            <a:off x="731520" y="1463040"/>
            <a:ext cx="107895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Підсумковий урок: інструменти, ризики та розслідування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Курс «AI для OSINT 2026»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Лектор: Василь Попов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15;p27"/>
          <p:cNvSpPr/>
          <p:nvPr/>
        </p:nvSpPr>
        <p:spPr>
          <a:xfrm>
            <a:off x="287640" y="1145880"/>
            <a:ext cx="8571960" cy="3708720"/>
          </a:xfrm>
          <a:prstGeom prst="roundRect">
            <a:avLst>
              <a:gd name="adj" fmla="val 719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Google Shape;116;p27"/>
          <p:cNvGraphicFramePr/>
          <p:nvPr/>
        </p:nvGraphicFramePr>
        <p:xfrm>
          <a:off x="692280" y="1363680"/>
          <a:ext cx="7758720" cy="3304800"/>
        </p:xfrm>
        <a:graphic>
          <a:graphicData uri="http://schemas.openxmlformats.org/drawingml/2006/table">
            <a:tbl>
              <a:tblPr/>
              <a:tblGrid>
                <a:gridCol w="1939320"/>
                <a:gridCol w="1940040"/>
                <a:gridCol w="1939320"/>
                <a:gridCol w="194004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Блок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Уроки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Ключова навичка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ArkhamMirror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Основи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01–02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OSINT-цикл, GenAI, промптинг, RAG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Search, Embeddings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Верифікація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Дипфейки, форензика зображень/відео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Forensics, Provenance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Збір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04, 07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Соцмережі, скрапінг, API, пайплайни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Ingest, OCR, Parse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Зв'язки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05–06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Entity resolution, графи знань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Entities, 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Патерни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09–10, 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Кластеризація, тренди, real-time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Patterns, Anomalies, Timeline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Продукт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11, 14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Звіти, шаблони, візуалізація, агенти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Reports, Letters, Summary, 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Дисципліна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13, 14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Bias, право, етика, ACH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ACH, Credibility, Claims, Contradictions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117;p27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81" name="TextBox 117"/>
          <p:cNvSpPr/>
          <p:nvPr/>
        </p:nvSpPr>
        <p:spPr>
          <a:xfrm>
            <a:off x="640080" y="365760"/>
            <a:ext cx="6664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2. Мета підсумкового уроку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8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Після цього заняття ви зможете: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Описати, як пов’язані між собою інструменти курсу та які задачі вони вирішують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Оцінювати ризик не інтуїтивно, а через ймовірність, вплив і невизначеність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Розуміти, де Palantir Foundry корисний для OSINT-команди, а де його краще не використовувати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Поєднувати Maltego з AI, не втрачаючи контроль над верифікацією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Планувати збір даних через Facebook scraper і Google API scraper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Використовувати PostHog як джерело поведінкових сигналів у розслідуваннях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Розпізнавати сильні й слабкі місця AI image detection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22;p28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84" name="Google Shape;123;p28"/>
          <p:cNvSpPr/>
          <p:nvPr/>
        </p:nvSpPr>
        <p:spPr>
          <a:xfrm>
            <a:off x="348480" y="82152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85" name="Google Shape;124;p28"/>
          <p:cNvSpPr/>
          <p:nvPr/>
        </p:nvSpPr>
        <p:spPr>
          <a:xfrm>
            <a:off x="348480" y="1921680"/>
            <a:ext cx="56865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86" name="Google Shape;125;p28"/>
          <p:cNvSpPr/>
          <p:nvPr/>
        </p:nvSpPr>
        <p:spPr>
          <a:xfrm>
            <a:off x="432720" y="232200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87" name="Google Shape;126;p28"/>
          <p:cNvSpPr/>
          <p:nvPr/>
        </p:nvSpPr>
        <p:spPr>
          <a:xfrm>
            <a:off x="432720" y="284868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88" name="Google Shape;127;p28"/>
          <p:cNvSpPr/>
          <p:nvPr/>
        </p:nvSpPr>
        <p:spPr>
          <a:xfrm>
            <a:off x="432720" y="336096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89" name="Google Shape;128;p28"/>
          <p:cNvSpPr/>
          <p:nvPr/>
        </p:nvSpPr>
        <p:spPr>
          <a:xfrm>
            <a:off x="432720" y="388764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90" name="Google Shape;129;p28"/>
          <p:cNvSpPr/>
          <p:nvPr/>
        </p:nvSpPr>
        <p:spPr>
          <a:xfrm>
            <a:off x="432720" y="439992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pic>
        <p:nvPicPr>
          <p:cNvPr id="91" name="Google Shape;130;p28"/>
          <p:cNvPicPr/>
          <p:nvPr/>
        </p:nvPicPr>
        <p:blipFill>
          <a:blip r:embed="rId2"/>
          <a:stretch/>
        </p:blipFill>
        <p:spPr>
          <a:xfrm>
            <a:off x="6948360" y="455760"/>
            <a:ext cx="1577880" cy="98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130"/>
          <p:cNvSpPr/>
          <p:nvPr/>
        </p:nvSpPr>
        <p:spPr>
          <a:xfrm>
            <a:off x="640080" y="365760"/>
            <a:ext cx="9896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2. Мета підсумкового уроку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31"/>
          <p:cNvSpPr/>
          <p:nvPr/>
        </p:nvSpPr>
        <p:spPr>
          <a:xfrm>
            <a:off x="731520" y="1463040"/>
            <a:ext cx="10789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Виявляти ботів і координовану поведінку через OSINT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Будувати геолокацію та карти в QGIS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35;p29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95" name="Google Shape;136;p29"/>
          <p:cNvSpPr/>
          <p:nvPr/>
        </p:nvSpPr>
        <p:spPr>
          <a:xfrm>
            <a:off x="348480" y="82152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96" name="Google Shape;137;p29"/>
          <p:cNvSpPr/>
          <p:nvPr/>
        </p:nvSpPr>
        <p:spPr>
          <a:xfrm>
            <a:off x="38304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8;p29"/>
          <p:cNvSpPr/>
          <p:nvPr/>
        </p:nvSpPr>
        <p:spPr>
          <a:xfrm>
            <a:off x="526680" y="15775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98" name="Google Shape;139;p29"/>
          <p:cNvSpPr/>
          <p:nvPr/>
        </p:nvSpPr>
        <p:spPr>
          <a:xfrm>
            <a:off x="315900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40;p29"/>
          <p:cNvSpPr/>
          <p:nvPr/>
        </p:nvSpPr>
        <p:spPr>
          <a:xfrm>
            <a:off x="3302640" y="157752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100" name="Google Shape;141;p29"/>
          <p:cNvSpPr/>
          <p:nvPr/>
        </p:nvSpPr>
        <p:spPr>
          <a:xfrm>
            <a:off x="593748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2;p29"/>
          <p:cNvSpPr/>
          <p:nvPr/>
        </p:nvSpPr>
        <p:spPr>
          <a:xfrm>
            <a:off x="6081120" y="157752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02" name="Google Shape;143;p29"/>
          <p:cNvSpPr/>
          <p:nvPr/>
        </p:nvSpPr>
        <p:spPr>
          <a:xfrm>
            <a:off x="38304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4;p29"/>
          <p:cNvSpPr/>
          <p:nvPr/>
        </p:nvSpPr>
        <p:spPr>
          <a:xfrm>
            <a:off x="526680" y="28699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04" name="Google Shape;145;p29"/>
          <p:cNvSpPr/>
          <p:nvPr/>
        </p:nvSpPr>
        <p:spPr>
          <a:xfrm>
            <a:off x="315900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6;p29"/>
          <p:cNvSpPr/>
          <p:nvPr/>
        </p:nvSpPr>
        <p:spPr>
          <a:xfrm>
            <a:off x="3302640" y="28699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06" name="Google Shape;147;p29"/>
          <p:cNvSpPr/>
          <p:nvPr/>
        </p:nvSpPr>
        <p:spPr>
          <a:xfrm>
            <a:off x="593748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8;p29"/>
          <p:cNvSpPr/>
          <p:nvPr/>
        </p:nvSpPr>
        <p:spPr>
          <a:xfrm>
            <a:off x="6081120" y="286992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108" name="Google Shape;149;p29"/>
          <p:cNvSpPr/>
          <p:nvPr/>
        </p:nvSpPr>
        <p:spPr>
          <a:xfrm>
            <a:off x="348480" y="3954960"/>
            <a:ext cx="8399160" cy="7765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09" name="TextBox 149"/>
          <p:cNvSpPr/>
          <p:nvPr/>
        </p:nvSpPr>
        <p:spPr>
          <a:xfrm>
            <a:off x="640080" y="365760"/>
            <a:ext cx="5515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3. Як читати цей урок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50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Кожен великий блок побудований однаково: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1. Що це за інструмент або метод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2. Яку проблему він вирішує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3. Як ним користуватись на практиці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4. Які типові помилки трапляються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5. Де потрібна верифікація людиною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6. Як це вбудувати в OSINT-процес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54;p30"/>
          <p:cNvPicPr/>
          <p:nvPr/>
        </p:nvPicPr>
        <p:blipFill>
          <a:blip r:embed="rId2"/>
          <a:stretch/>
        </p:blipFill>
        <p:spPr>
          <a:xfrm rot="20982600">
            <a:off x="2367000" y="236160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Google Shape;155;p30"/>
          <p:cNvSpPr/>
          <p:nvPr/>
        </p:nvSpPr>
        <p:spPr>
          <a:xfrm>
            <a:off x="66600" y="920520"/>
            <a:ext cx="914364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36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sp>
        <p:nvSpPr>
          <p:cNvPr id="113" name="TextBox 155"/>
          <p:cNvSpPr/>
          <p:nvPr/>
        </p:nvSpPr>
        <p:spPr>
          <a:xfrm>
            <a:off x="640080" y="365760"/>
            <a:ext cx="4171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4. Карта уроку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56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0 — Тема: Короткий recap інструментів; Роль у роботі аналітика: Контекст і робоче середовище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1 — Тема: Probability risk management; Роль у роботі аналітика: Оцінка невизначеності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2 — Тема: Palantir Foundry; Роль у роботі аналітика: Масштаб і дані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3 — Тема: Maltego + AI; Роль у роботі аналітика: Графи й гіпотези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4 — Тема: Facebook scraper, Google API scraper; Роль у роботі аналітика: Збір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5 — Тема: PostHog; Роль у роботі аналітика: Поведінкові сигнали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6 — Тема: AI image detection; Роль у роботі аналітика: Верифікація медіа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60;p31"/>
          <p:cNvSpPr/>
          <p:nvPr/>
        </p:nvSpPr>
        <p:spPr>
          <a:xfrm>
            <a:off x="348480" y="1809720"/>
            <a:ext cx="4201560" cy="2918880"/>
          </a:xfrm>
          <a:prstGeom prst="roundRect">
            <a:avLst>
              <a:gd name="adj" fmla="val 519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61;p31"/>
          <p:cNvSpPr/>
          <p:nvPr/>
        </p:nvSpPr>
        <p:spPr>
          <a:xfrm>
            <a:off x="4546080" y="1809720"/>
            <a:ext cx="4201560" cy="2918880"/>
          </a:xfrm>
          <a:prstGeom prst="roundRect">
            <a:avLst>
              <a:gd name="adj" fmla="val 7491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2;p31"/>
          <p:cNvSpPr/>
          <p:nvPr/>
        </p:nvSpPr>
        <p:spPr>
          <a:xfrm>
            <a:off x="4607640" y="1870920"/>
            <a:ext cx="407844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18" name="Google Shape;163;p31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19" name="Google Shape;164;p31"/>
          <p:cNvSpPr/>
          <p:nvPr/>
        </p:nvSpPr>
        <p:spPr>
          <a:xfrm>
            <a:off x="348480" y="82152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20" name="Google Shape;165;p31"/>
          <p:cNvSpPr/>
          <p:nvPr/>
        </p:nvSpPr>
        <p:spPr>
          <a:xfrm>
            <a:off x="444960" y="1870920"/>
            <a:ext cx="4104720" cy="23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21" name="TextBox 165"/>
          <p:cNvSpPr/>
          <p:nvPr/>
        </p:nvSpPr>
        <p:spPr>
          <a:xfrm>
            <a:off x="640080" y="365760"/>
            <a:ext cx="7402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4. Карта уроку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66"/>
          <p:cNvSpPr/>
          <p:nvPr/>
        </p:nvSpPr>
        <p:spPr>
          <a:xfrm>
            <a:off x="731520" y="1463040"/>
            <a:ext cx="1078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7 — Тема: Bot detection with OSINT; Роль у роботі аналітика: Виявлення координованої поведінки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8 — Тема: QGIS for geolocation; Роль у роботі аналітика: Просторовий аналіз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9 — Тема: Синтез; Роль у роботі аналітика: Єдиний workflow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0 — Короткий recap інструментів курсу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70;p32"/>
          <p:cNvSpPr/>
          <p:nvPr/>
        </p:nvSpPr>
        <p:spPr>
          <a:xfrm>
            <a:off x="348480" y="1809720"/>
            <a:ext cx="8392320" cy="291888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4" name="Google Shape;171;p32"/>
          <p:cNvGraphicFramePr/>
          <p:nvPr/>
        </p:nvGraphicFramePr>
        <p:xfrm>
          <a:off x="687600" y="1974240"/>
          <a:ext cx="7714080" cy="2798640"/>
        </p:xfrm>
        <a:graphic>
          <a:graphicData uri="http://schemas.openxmlformats.org/drawingml/2006/table">
            <a:tbl>
              <a:tblPr/>
              <a:tblGrid>
                <a:gridCol w="2570760"/>
                <a:gridCol w="2571480"/>
                <a:gridCol w="2571480"/>
              </a:tblGrid>
              <a:tr h="229680"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Група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Етап циклу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 · OCR · Parse · Documents · Embed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Збір + Обробка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 (semantic/keyword/hybrid) · Embeddings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Доступ до корпусу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124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ANALYSIS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Claims · Contradictions · ACH · Entities · Credibility · Provenance · Patterns · Anomalies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Аналіз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VISUALIZE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 (force + geospatial) · Timeline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Інтерпретація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Reports · Letters · Packets · Summary · Templates · 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Поширення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72;p32"/>
          <p:cNvSpPr/>
          <p:nvPr/>
        </p:nvSpPr>
        <p:spPr>
          <a:xfrm>
            <a:off x="387000" y="1283040"/>
            <a:ext cx="66726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126" name="Google Shape;173;p32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pic>
        <p:nvPicPr>
          <p:cNvPr id="127" name="Google Shape;174;p32"/>
          <p:cNvPicPr/>
          <p:nvPr/>
        </p:nvPicPr>
        <p:blipFill>
          <a:blip r:embed="rId2"/>
          <a:stretch/>
        </p:blipFill>
        <p:spPr>
          <a:xfrm>
            <a:off x="6842520" y="75600"/>
            <a:ext cx="1897920" cy="189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174"/>
          <p:cNvSpPr/>
          <p:nvPr/>
        </p:nvSpPr>
        <p:spPr>
          <a:xfrm>
            <a:off x="640080" y="365760"/>
            <a:ext cx="6030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5. Навіщо нам цей recap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75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Перед тим як перейти до методів, треба коротко згадати інструменти, які проходять крізь увесь курс.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Вони виконують різні ролі: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одні збирають дані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інші допомагають будувати гіпотези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треті верифікують картинку, граф або сигнал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четверті допомагають пояснити результат команді або клієнту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79;p33"/>
          <p:cNvSpPr/>
          <p:nvPr/>
        </p:nvSpPr>
        <p:spPr>
          <a:xfrm>
            <a:off x="288000" y="174960"/>
            <a:ext cx="7976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31" name="Google Shape;180;p33"/>
          <p:cNvSpPr/>
          <p:nvPr/>
        </p:nvSpPr>
        <p:spPr>
          <a:xfrm>
            <a:off x="38304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1;p33"/>
          <p:cNvSpPr/>
          <p:nvPr/>
        </p:nvSpPr>
        <p:spPr>
          <a:xfrm>
            <a:off x="526680" y="135648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33" name="Google Shape;182;p33"/>
          <p:cNvSpPr/>
          <p:nvPr/>
        </p:nvSpPr>
        <p:spPr>
          <a:xfrm>
            <a:off x="315900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83;p33"/>
          <p:cNvSpPr/>
          <p:nvPr/>
        </p:nvSpPr>
        <p:spPr>
          <a:xfrm>
            <a:off x="3302640" y="135648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35" name="Google Shape;184;p33"/>
          <p:cNvSpPr/>
          <p:nvPr/>
        </p:nvSpPr>
        <p:spPr>
          <a:xfrm>
            <a:off x="593748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85;p33"/>
          <p:cNvSpPr/>
          <p:nvPr/>
        </p:nvSpPr>
        <p:spPr>
          <a:xfrm>
            <a:off x="6081120" y="135648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37" name="Google Shape;186;p33"/>
          <p:cNvSpPr/>
          <p:nvPr/>
        </p:nvSpPr>
        <p:spPr>
          <a:xfrm>
            <a:off x="383040" y="2472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87;p33"/>
          <p:cNvSpPr/>
          <p:nvPr/>
        </p:nvSpPr>
        <p:spPr>
          <a:xfrm>
            <a:off x="598680" y="2648880"/>
            <a:ext cx="3952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39" name="Google Shape;188;p33"/>
          <p:cNvSpPr/>
          <p:nvPr/>
        </p:nvSpPr>
        <p:spPr>
          <a:xfrm>
            <a:off x="4547520" y="2472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89;p33"/>
          <p:cNvSpPr/>
          <p:nvPr/>
        </p:nvSpPr>
        <p:spPr>
          <a:xfrm>
            <a:off x="4763160" y="2648880"/>
            <a:ext cx="3952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41" name="Google Shape;190;p33"/>
          <p:cNvSpPr/>
          <p:nvPr/>
        </p:nvSpPr>
        <p:spPr>
          <a:xfrm>
            <a:off x="7962840" y="932040"/>
            <a:ext cx="7489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42" name="Google Shape;191;p33"/>
          <p:cNvSpPr/>
          <p:nvPr/>
        </p:nvSpPr>
        <p:spPr>
          <a:xfrm>
            <a:off x="348480" y="376452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43" name="TextBox 191"/>
          <p:cNvSpPr/>
          <p:nvPr/>
        </p:nvSpPr>
        <p:spPr>
          <a:xfrm>
            <a:off x="640080" y="365760"/>
            <a:ext cx="9255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6. Arkham Mirror: для чого він був у курсі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92"/>
          <p:cNvSpPr/>
          <p:nvPr/>
        </p:nvSpPr>
        <p:spPr>
          <a:xfrm>
            <a:off x="731520" y="1463040"/>
            <a:ext cx="1078956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Arkham Mirror — це локальна аналітична платформа для роботи з документами, текстами, медіа і зв’язками.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Його сильні сторони: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локальна робота з чутливими даними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пошук по корпусу документів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графова логіка для сутностей і зв’язків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зручний спосіб збирати докази в один ланцюг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важливо пам’ятати: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не заміна мислення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не «відповідь на все»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середовище для дисциплінованої роботи з даними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96;p34"/>
          <p:cNvSpPr/>
          <p:nvPr/>
        </p:nvSpPr>
        <p:spPr>
          <a:xfrm>
            <a:off x="348480" y="2424240"/>
            <a:ext cx="8399160" cy="230472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97;p34"/>
          <p:cNvSpPr/>
          <p:nvPr/>
        </p:nvSpPr>
        <p:spPr>
          <a:xfrm>
            <a:off x="396720" y="19432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7" name="Google Shape;198;p34"/>
          <p:cNvGraphicFramePr/>
          <p:nvPr/>
        </p:nvGraphicFramePr>
        <p:xfrm>
          <a:off x="629280" y="2678040"/>
          <a:ext cx="5429520" cy="1996920"/>
        </p:xfrm>
        <a:graphic>
          <a:graphicData uri="http://schemas.openxmlformats.org/drawingml/2006/table">
            <a:tbl>
              <a:tblPr/>
              <a:tblGrid>
                <a:gridCol w="2714760"/>
                <a:gridCol w="271476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Ризик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Рішення платформи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Витік PII в комерційний LLM-API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Локальна LLM через Ollama, ARKHAM_OFFLINE_MODE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Дані залишають вашу юрисдикцію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Усе в локальному PostgreSQL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Неможливість відтворити аналіз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EventBus логує кожну подію + версію моделі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C2PA / підробка медіа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 перевіряє підписи локально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48" name="Google Shape;199;p34"/>
          <p:cNvSpPr/>
          <p:nvPr/>
        </p:nvSpPr>
        <p:spPr>
          <a:xfrm>
            <a:off x="6214680" y="2837880"/>
            <a:ext cx="23742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IBM Plex Sans"/>
            </a:endParaRPr>
          </a:p>
        </p:txBody>
      </p:sp>
      <p:sp>
        <p:nvSpPr>
          <p:cNvPr id="149" name="Google Shape;200;p34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50" name="Google Shape;201;p34"/>
          <p:cNvSpPr/>
          <p:nvPr/>
        </p:nvSpPr>
        <p:spPr>
          <a:xfrm>
            <a:off x="348480" y="128304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51" name="TextBox 201"/>
          <p:cNvSpPr/>
          <p:nvPr/>
        </p:nvSpPr>
        <p:spPr>
          <a:xfrm>
            <a:off x="640080" y="365760"/>
            <a:ext cx="9629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7. osintflow: що дає автоматизація процесу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02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osintflow корисний там, де потрібно не просто зібрати дані, а повторювано пройти один і той самий процес.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Застосування: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потокова обробка джерел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запуск повторюваних кроків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розподіл задач між етапами аналізу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контроль версій і трасування результатів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06;p35"/>
          <p:cNvSpPr/>
          <p:nvPr/>
        </p:nvSpPr>
        <p:spPr>
          <a:xfrm>
            <a:off x="442080" y="616680"/>
            <a:ext cx="8259120" cy="15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6400" tIns="86400" rIns="86400" bIns="86400" anchor="ctr">
            <a:spAutoFit/>
          </a:bodyPr>
          <a:p>
            <a:endParaRPr lang="en-US" sz="453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pic>
        <p:nvPicPr>
          <p:cNvPr id="154" name="Google Shape;207;p35"/>
          <p:cNvPicPr/>
          <p:nvPr/>
        </p:nvPicPr>
        <p:blipFill>
          <a:blip r:embed="rId2"/>
          <a:stretch/>
        </p:blipFill>
        <p:spPr>
          <a:xfrm>
            <a:off x="2777400" y="1720080"/>
            <a:ext cx="3359160" cy="33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Box 207"/>
          <p:cNvSpPr/>
          <p:nvPr/>
        </p:nvSpPr>
        <p:spPr>
          <a:xfrm>
            <a:off x="640080" y="365760"/>
            <a:ext cx="10349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8. OSINT Copilot: як AI допомагає, а не заважає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08"/>
          <p:cNvSpPr/>
          <p:nvPr/>
        </p:nvSpPr>
        <p:spPr>
          <a:xfrm>
            <a:off x="731520" y="1463040"/>
            <a:ext cx="107895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OSINT Copilot потрібен для роботи з текстом, запитами, чернетками висновків і структурою думки.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Добрі сценарії: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сформулювати гіпотезу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узагальнити великий масив нотаток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знайти пропуски в аргументації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перетворити хаотичний список фактів у зрозумілий план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Погані сценарії: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сліпо довіряти висновку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пропускати верифікацію джерел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використовувати AI як єдине джерело істини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12;p36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58" name="Google Shape;213;p36"/>
          <p:cNvSpPr/>
          <p:nvPr/>
        </p:nvSpPr>
        <p:spPr>
          <a:xfrm>
            <a:off x="372240" y="1376280"/>
            <a:ext cx="8399160" cy="988200"/>
          </a:xfrm>
          <a:prstGeom prst="roundRect">
            <a:avLst>
              <a:gd name="adj" fmla="val 2124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59" name="Google Shape;214;p36"/>
          <p:cNvSpPr/>
          <p:nvPr/>
        </p:nvSpPr>
        <p:spPr>
          <a:xfrm>
            <a:off x="372240" y="2364840"/>
            <a:ext cx="8399160" cy="988200"/>
          </a:xfrm>
          <a:prstGeom prst="roundRect">
            <a:avLst>
              <a:gd name="adj" fmla="val 2124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60" name="Google Shape;215;p36"/>
          <p:cNvSpPr/>
          <p:nvPr/>
        </p:nvSpPr>
        <p:spPr>
          <a:xfrm>
            <a:off x="372240" y="3353040"/>
            <a:ext cx="8399160" cy="988200"/>
          </a:xfrm>
          <a:prstGeom prst="roundRect">
            <a:avLst>
              <a:gd name="adj" fmla="val 2281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61" name="TextBox 215"/>
          <p:cNvSpPr/>
          <p:nvPr/>
        </p:nvSpPr>
        <p:spPr>
          <a:xfrm>
            <a:off x="640080" y="365760"/>
            <a:ext cx="1157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9. Shadowbroker: чому він потрібен у робочому стеку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16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Shadowbroker варто сприймати як інструмент для роботи з даними, які потребують акуратного, обережного й структурованого аналізу.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Урок для аналітика: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завжди розуміти походження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відокремлювати факт від припущення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змішувати сирий сигнал і підтверджений висновок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фіксувати, де саме з’явився доказ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220;p37"/>
          <p:cNvSpPr/>
          <p:nvPr/>
        </p:nvSpPr>
        <p:spPr>
          <a:xfrm>
            <a:off x="288000" y="174960"/>
            <a:ext cx="97970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64" name="Google Shape;221;p37"/>
          <p:cNvSpPr/>
          <p:nvPr/>
        </p:nvSpPr>
        <p:spPr>
          <a:xfrm>
            <a:off x="348480" y="884880"/>
            <a:ext cx="8392320" cy="291888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Google Shape;222;p37"/>
          <p:cNvGraphicFramePr/>
          <p:nvPr/>
        </p:nvGraphicFramePr>
        <p:xfrm>
          <a:off x="559800" y="1035000"/>
          <a:ext cx="7969680" cy="2643480"/>
        </p:xfrm>
        <a:graphic>
          <a:graphicData uri="http://schemas.openxmlformats.org/drawingml/2006/table">
            <a:tbl>
              <a:tblPr/>
              <a:tblGrid>
                <a:gridCol w="2656080"/>
                <a:gridCol w="2656800"/>
                <a:gridCol w="2656800"/>
              </a:tblGrid>
              <a:tr h="9972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Техніка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Урок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ArkhamMirror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Збір із соцмереж, поки не видалили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04, 07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(масове завантаження)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Хронолокація за тінями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→ sun-position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Пошук дублікатів того самого фото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→ similar (phash, Hamming distance)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Геолокація за орієнтирами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(geospatial вид)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Entity resolution: той самий «Бук»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(унікальні маркери)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Маршрут конвою як ланцюг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Timeline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Архівна копія доказів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Documents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Provenance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Спростування 6 версій Москви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03, 13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Contradictions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(doc-vs-doc)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223;p37"/>
          <p:cNvSpPr/>
          <p:nvPr/>
        </p:nvSpPr>
        <p:spPr>
          <a:xfrm>
            <a:off x="348480" y="380412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67" name="TextBox 223"/>
          <p:cNvSpPr/>
          <p:nvPr/>
        </p:nvSpPr>
        <p:spPr>
          <a:xfrm>
            <a:off x="640080" y="365760"/>
            <a:ext cx="10103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10. Recap: як ці інструменти працюють разом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24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Arkham Mirror — Основна роль: Локальна аналітика; Найкраще працює з: Документи, зв’язки, звіти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osintflow — Основна роль: Процес і автоматизація; Найкраще працює з: Повторювані pipeline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OSINT Copilot — Основна роль: Мислення й текст; Найкраще працює з: Чернетки, структури, підсумки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Shadowbroker — Основна роль: Обережний аналіз даних; Найкраще працює з: Сирі сигнали, сліди, підтвердження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1 — Probability risk management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28;p38"/>
          <p:cNvSpPr/>
          <p:nvPr/>
        </p:nvSpPr>
        <p:spPr>
          <a:xfrm>
            <a:off x="483480" y="1388880"/>
            <a:ext cx="7758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9;p38"/>
          <p:cNvSpPr/>
          <p:nvPr/>
        </p:nvSpPr>
        <p:spPr>
          <a:xfrm>
            <a:off x="288000" y="174960"/>
            <a:ext cx="89272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71" name="Google Shape;230;p38"/>
          <p:cNvSpPr/>
          <p:nvPr/>
        </p:nvSpPr>
        <p:spPr>
          <a:xfrm>
            <a:off x="348480" y="166356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2" name="Google Shape;231;p38"/>
          <p:cNvSpPr/>
          <p:nvPr/>
        </p:nvSpPr>
        <p:spPr>
          <a:xfrm>
            <a:off x="348480" y="224064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3" name="Google Shape;232;p38"/>
          <p:cNvSpPr/>
          <p:nvPr/>
        </p:nvSpPr>
        <p:spPr>
          <a:xfrm>
            <a:off x="348480" y="281988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4" name="Google Shape;233;p38"/>
          <p:cNvSpPr/>
          <p:nvPr/>
        </p:nvSpPr>
        <p:spPr>
          <a:xfrm>
            <a:off x="348480" y="339912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5" name="Google Shape;234;p38"/>
          <p:cNvSpPr/>
          <p:nvPr/>
        </p:nvSpPr>
        <p:spPr>
          <a:xfrm>
            <a:off x="4572000" y="166356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6" name="Google Shape;235;p38"/>
          <p:cNvSpPr/>
          <p:nvPr/>
        </p:nvSpPr>
        <p:spPr>
          <a:xfrm>
            <a:off x="4572000" y="224064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7" name="Google Shape;236;p38"/>
          <p:cNvSpPr/>
          <p:nvPr/>
        </p:nvSpPr>
        <p:spPr>
          <a:xfrm>
            <a:off x="4572000" y="281988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8" name="Google Shape;237;p38"/>
          <p:cNvSpPr/>
          <p:nvPr/>
        </p:nvSpPr>
        <p:spPr>
          <a:xfrm>
            <a:off x="4572000" y="3399120"/>
            <a:ext cx="422316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79" name="Google Shape;238;p38"/>
          <p:cNvSpPr/>
          <p:nvPr/>
        </p:nvSpPr>
        <p:spPr>
          <a:xfrm>
            <a:off x="348480" y="397656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80" name="TextBox 238"/>
          <p:cNvSpPr/>
          <p:nvPr/>
        </p:nvSpPr>
        <p:spPr>
          <a:xfrm>
            <a:off x="640080" y="365760"/>
            <a:ext cx="9375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11. Чому OSINT завжди працює з ризиком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39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 розслідуваннях майже ніколи немає повної картини.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Є лише: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часткові дані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неповні джерела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суперечливі сигнали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обмежений час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помилки в інтерпретації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43;p39"/>
          <p:cNvSpPr/>
          <p:nvPr/>
        </p:nvSpPr>
        <p:spPr>
          <a:xfrm>
            <a:off x="483480" y="2168640"/>
            <a:ext cx="2003040" cy="24325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44;p39"/>
          <p:cNvSpPr/>
          <p:nvPr/>
        </p:nvSpPr>
        <p:spPr>
          <a:xfrm>
            <a:off x="2594160" y="1904040"/>
            <a:ext cx="2003040" cy="24325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45;p39"/>
          <p:cNvSpPr/>
          <p:nvPr/>
        </p:nvSpPr>
        <p:spPr>
          <a:xfrm>
            <a:off x="4681440" y="2168640"/>
            <a:ext cx="2003040" cy="24325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46;p39"/>
          <p:cNvSpPr/>
          <p:nvPr/>
        </p:nvSpPr>
        <p:spPr>
          <a:xfrm>
            <a:off x="6791760" y="1904040"/>
            <a:ext cx="2003040" cy="24325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47;p39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48;p39"/>
          <p:cNvSpPr/>
          <p:nvPr/>
        </p:nvSpPr>
        <p:spPr>
          <a:xfrm>
            <a:off x="288000" y="174960"/>
            <a:ext cx="89272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88" name="Google Shape;249;p39"/>
          <p:cNvSpPr/>
          <p:nvPr/>
        </p:nvSpPr>
        <p:spPr>
          <a:xfrm>
            <a:off x="348480" y="82152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189" name="Google Shape;250;p39"/>
          <p:cNvSpPr/>
          <p:nvPr/>
        </p:nvSpPr>
        <p:spPr>
          <a:xfrm>
            <a:off x="387000" y="1504080"/>
            <a:ext cx="66726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90" name="Google Shape;251;p39"/>
          <p:cNvSpPr/>
          <p:nvPr/>
        </p:nvSpPr>
        <p:spPr>
          <a:xfrm>
            <a:off x="623160" y="2689200"/>
            <a:ext cx="1746720" cy="13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91" name="Google Shape;252;p39"/>
          <p:cNvSpPr/>
          <p:nvPr/>
        </p:nvSpPr>
        <p:spPr>
          <a:xfrm>
            <a:off x="2710440" y="2356920"/>
            <a:ext cx="1746720" cy="13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92" name="Google Shape;253;p39"/>
          <p:cNvSpPr/>
          <p:nvPr/>
        </p:nvSpPr>
        <p:spPr>
          <a:xfrm>
            <a:off x="4821120" y="2441520"/>
            <a:ext cx="1746720" cy="18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93" name="Google Shape;254;p39"/>
          <p:cNvSpPr/>
          <p:nvPr/>
        </p:nvSpPr>
        <p:spPr>
          <a:xfrm>
            <a:off x="6908400" y="2232720"/>
            <a:ext cx="174672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94" name="TextBox 254"/>
          <p:cNvSpPr/>
          <p:nvPr/>
        </p:nvSpPr>
        <p:spPr>
          <a:xfrm>
            <a:off x="640080" y="365760"/>
            <a:ext cx="7237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12. Ймовірність, ризик і вплив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55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Ризик у розслідуванні можна уявити як: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Risk = Probability \times Impact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Пояснення: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Probability — наскільки ймовірно, що подія або гіпотеза правдиві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Impact — наскільки серйозними будуть наслідки помилки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Risk — що станеться, якщо ви помилитесь і зробите висновок занадто рано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259;p40"/>
          <p:cNvSpPr/>
          <p:nvPr/>
        </p:nvSpPr>
        <p:spPr>
          <a:xfrm>
            <a:off x="216360" y="202320"/>
            <a:ext cx="62794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97" name="Google Shape;260;p40"/>
          <p:cNvSpPr/>
          <p:nvPr/>
        </p:nvSpPr>
        <p:spPr>
          <a:xfrm>
            <a:off x="348480" y="1310760"/>
            <a:ext cx="8392320" cy="356760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8" name="Google Shape;261;p40"/>
          <p:cNvGraphicFramePr/>
          <p:nvPr/>
        </p:nvGraphicFramePr>
        <p:xfrm>
          <a:off x="525240" y="2035800"/>
          <a:ext cx="4780800" cy="2503080"/>
        </p:xfrm>
        <a:graphic>
          <a:graphicData uri="http://schemas.openxmlformats.org/drawingml/2006/table">
            <a:tbl>
              <a:tblPr/>
              <a:tblGrid>
                <a:gridCol w="1838160"/>
                <a:gridCol w="294264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Інструмент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Результат тестів Bellingcat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ChatGPT o4-mini-high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Найкращий серед LLM (червень 2025)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Google Lens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Сильний, часто переграє LLM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GPT-5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Гірший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за o4-mini-high — швидше, але менш точно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GPT-5 Pro (€200/міс)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 точніший за дешеву модель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StreetCLIP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Спеціалізована: країна / регіон / місто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GeoSpy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Геолокація лише з пікселів (без EXIF), до метра в місті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262;p40"/>
          <p:cNvSpPr/>
          <p:nvPr/>
        </p:nvSpPr>
        <p:spPr>
          <a:xfrm>
            <a:off x="5455440" y="1600920"/>
            <a:ext cx="3188520" cy="29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00" name="TextBox 262"/>
          <p:cNvSpPr/>
          <p:nvPr/>
        </p:nvSpPr>
        <p:spPr>
          <a:xfrm>
            <a:off x="640080" y="365760"/>
            <a:ext cx="7252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13. Матриця ризику для OSINT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63"/>
          <p:cNvSpPr/>
          <p:nvPr/>
        </p:nvSpPr>
        <p:spPr>
          <a:xfrm>
            <a:off x="731520" y="1463040"/>
            <a:ext cx="107895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Низька — Вплив низький: Спостерігати; Вплив середній: Відкласти; Вплив високий: Не публікувати без підтвердження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Середня — Вплив низький: Перевірити; Вплив середній: Аналізувати; Вплив високий: Додавати друге джерело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Висока — Вплив низький: Зафіксувати; Вплив середній: Підтвердити; Вплив високий: Діяти обережно й швидко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Практика: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для кожної гіпотези ставте оцінку впевненості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окремо оцінюйте шкоду від помилки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плутайте «цікаво» з «важливо»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67;p41"/>
          <p:cNvSpPr/>
          <p:nvPr/>
        </p:nvSpPr>
        <p:spPr>
          <a:xfrm>
            <a:off x="216360" y="202320"/>
            <a:ext cx="885564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03" name="Google Shape;268;p41"/>
          <p:cNvSpPr/>
          <p:nvPr/>
        </p:nvSpPr>
        <p:spPr>
          <a:xfrm>
            <a:off x="348480" y="142884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04" name="Google Shape;269;p41"/>
          <p:cNvSpPr/>
          <p:nvPr/>
        </p:nvSpPr>
        <p:spPr>
          <a:xfrm>
            <a:off x="348480" y="2126160"/>
            <a:ext cx="59349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05" name="Google Shape;270;p41"/>
          <p:cNvSpPr/>
          <p:nvPr/>
        </p:nvSpPr>
        <p:spPr>
          <a:xfrm>
            <a:off x="48348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71;p41"/>
          <p:cNvSpPr/>
          <p:nvPr/>
        </p:nvSpPr>
        <p:spPr>
          <a:xfrm>
            <a:off x="25941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72;p41"/>
          <p:cNvSpPr/>
          <p:nvPr/>
        </p:nvSpPr>
        <p:spPr>
          <a:xfrm>
            <a:off x="468144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73;p41"/>
          <p:cNvSpPr/>
          <p:nvPr/>
        </p:nvSpPr>
        <p:spPr>
          <a:xfrm>
            <a:off x="67917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74;p41"/>
          <p:cNvSpPr/>
          <p:nvPr/>
        </p:nvSpPr>
        <p:spPr>
          <a:xfrm>
            <a:off x="623160" y="3089880"/>
            <a:ext cx="17467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10" name="Google Shape;275;p41"/>
          <p:cNvSpPr/>
          <p:nvPr/>
        </p:nvSpPr>
        <p:spPr>
          <a:xfrm>
            <a:off x="2640600" y="2644560"/>
            <a:ext cx="1886760" cy="17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1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11" name="Google Shape;276;p41"/>
          <p:cNvSpPr/>
          <p:nvPr/>
        </p:nvSpPr>
        <p:spPr>
          <a:xfrm>
            <a:off x="4821120" y="3274560"/>
            <a:ext cx="17467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12" name="Google Shape;277;p41"/>
          <p:cNvSpPr/>
          <p:nvPr/>
        </p:nvSpPr>
        <p:spPr>
          <a:xfrm>
            <a:off x="6908400" y="3129120"/>
            <a:ext cx="17467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13" name="Google Shape;278;p41"/>
          <p:cNvSpPr/>
          <p:nvPr/>
        </p:nvSpPr>
        <p:spPr>
          <a:xfrm>
            <a:off x="10608120" y="202320"/>
            <a:ext cx="29995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Box 278"/>
          <p:cNvSpPr/>
          <p:nvPr/>
        </p:nvSpPr>
        <p:spPr>
          <a:xfrm>
            <a:off x="640080" y="365760"/>
            <a:ext cx="6491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14. Приклад оцінки ризику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79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у вас є фото з місця події, але без EXIF.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Гіпотези: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H1: фото справжнє, зроблене на місці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H2: фото перезалите з іншого джерела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H3: фото змінене або згенероване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Як мислити: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ймовірність H1 не можна ставити високу без контексту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якщо фото буде використано в публікації, вплив помилки високий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отже, потрібні додаткові сигнали: пошук дублікатів, верифікація орієнтирів, аналіз метаданих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83;p42"/>
          <p:cNvSpPr/>
          <p:nvPr/>
        </p:nvSpPr>
        <p:spPr>
          <a:xfrm>
            <a:off x="348480" y="1315800"/>
            <a:ext cx="8392320" cy="343260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84;p42"/>
          <p:cNvSpPr/>
          <p:nvPr/>
        </p:nvSpPr>
        <p:spPr>
          <a:xfrm>
            <a:off x="10649880" y="131580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Google Shape;285;p42"/>
          <p:cNvGraphicFramePr/>
          <p:nvPr/>
        </p:nvGraphicFramePr>
        <p:xfrm>
          <a:off x="610200" y="1555920"/>
          <a:ext cx="5185800" cy="2981520"/>
        </p:xfrm>
        <a:graphic>
          <a:graphicData uri="http://schemas.openxmlformats.org/drawingml/2006/table">
            <a:tbl>
              <a:tblPr/>
              <a:tblGrid>
                <a:gridCol w="2592720"/>
                <a:gridCol w="259272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Принцип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Як проявився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OSINT </a:t>
                      </a: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звужує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простір версій, не завжди закриває його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Фізика виключила одну траєкторію, але не дала фінальної атрибуції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Фізика &gt; емоції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Розрахунок часу вільного падіння переважив гарячі заяви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Дуельні наративи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Обидві сторони вкидали «докази» в перші хвилини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Чесність про невизначеність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«Не можемо встановити без доступу до місця» — теж висновок (рівень впевненості, Урок 11)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Швидкість = ризик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Найгірші помилки зробили ті, хто публікував за 10 хвилин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86;p42"/>
          <p:cNvSpPr/>
          <p:nvPr/>
        </p:nvSpPr>
        <p:spPr>
          <a:xfrm>
            <a:off x="5984280" y="1555920"/>
            <a:ext cx="260964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20" name="Google Shape;287;p42"/>
          <p:cNvSpPr/>
          <p:nvPr/>
        </p:nvSpPr>
        <p:spPr>
          <a:xfrm>
            <a:off x="216360" y="202320"/>
            <a:ext cx="813996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21" name="TextBox 287"/>
          <p:cNvSpPr/>
          <p:nvPr/>
        </p:nvSpPr>
        <p:spPr>
          <a:xfrm>
            <a:off x="640080" y="365760"/>
            <a:ext cx="10730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15. Bayesian thinking без формальної складності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88"/>
          <p:cNvSpPr/>
          <p:nvPr/>
        </p:nvSpPr>
        <p:spPr>
          <a:xfrm>
            <a:off x="731520" y="1463040"/>
            <a:ext cx="107895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 обов’язково робити складну математику. Але важливо думати байєсівськи: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що я вважав до цього?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який новий сигнал це змінює?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справді новий доказ сильніший за старі припущення?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не переоцінюю я зручну гіпотезу?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92;p43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93;p43"/>
          <p:cNvSpPr/>
          <p:nvPr/>
        </p:nvSpPr>
        <p:spPr>
          <a:xfrm>
            <a:off x="194040" y="154080"/>
            <a:ext cx="661104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25" name="Google Shape;294;p43"/>
          <p:cNvSpPr/>
          <p:nvPr/>
        </p:nvSpPr>
        <p:spPr>
          <a:xfrm>
            <a:off x="194040" y="1283040"/>
            <a:ext cx="66726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226" name="Google Shape;295;p43"/>
          <p:cNvSpPr/>
          <p:nvPr/>
        </p:nvSpPr>
        <p:spPr>
          <a:xfrm>
            <a:off x="383040" y="1789200"/>
            <a:ext cx="2778120" cy="3033720"/>
          </a:xfrm>
          <a:prstGeom prst="roundRect">
            <a:avLst>
              <a:gd name="adj" fmla="val 1050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96;p43"/>
          <p:cNvSpPr/>
          <p:nvPr/>
        </p:nvSpPr>
        <p:spPr>
          <a:xfrm>
            <a:off x="3159000" y="1789200"/>
            <a:ext cx="3241080" cy="3033720"/>
          </a:xfrm>
          <a:prstGeom prst="roundRect">
            <a:avLst>
              <a:gd name="adj" fmla="val 1333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97;p43"/>
          <p:cNvSpPr/>
          <p:nvPr/>
        </p:nvSpPr>
        <p:spPr>
          <a:xfrm>
            <a:off x="6400440" y="1789200"/>
            <a:ext cx="2315520" cy="3033720"/>
          </a:xfrm>
          <a:prstGeom prst="roundRect">
            <a:avLst>
              <a:gd name="adj" fmla="val 1207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98;p43"/>
          <p:cNvSpPr/>
          <p:nvPr/>
        </p:nvSpPr>
        <p:spPr>
          <a:xfrm>
            <a:off x="483480" y="1991160"/>
            <a:ext cx="2318760" cy="16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99;p43"/>
          <p:cNvSpPr/>
          <p:nvPr/>
        </p:nvSpPr>
        <p:spPr>
          <a:xfrm>
            <a:off x="6525000" y="1991160"/>
            <a:ext cx="23187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31" name="Google Shape;300;p43"/>
          <p:cNvSpPr/>
          <p:nvPr/>
        </p:nvSpPr>
        <p:spPr>
          <a:xfrm>
            <a:off x="3287880" y="1915920"/>
            <a:ext cx="2999520" cy="27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5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pic>
        <p:nvPicPr>
          <p:cNvPr id="232" name="Google Shape;301;p43"/>
          <p:cNvPicPr/>
          <p:nvPr/>
        </p:nvPicPr>
        <p:blipFill>
          <a:blip r:embed="rId2"/>
          <a:stretch/>
        </p:blipFill>
        <p:spPr>
          <a:xfrm>
            <a:off x="1595520" y="3312360"/>
            <a:ext cx="1674000" cy="145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302;p43"/>
          <p:cNvPicPr/>
          <p:nvPr/>
        </p:nvPicPr>
        <p:blipFill>
          <a:blip r:embed="rId3"/>
          <a:stretch/>
        </p:blipFill>
        <p:spPr>
          <a:xfrm rot="19582200">
            <a:off x="7397640" y="3488400"/>
            <a:ext cx="1217160" cy="119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Box 302"/>
          <p:cNvSpPr/>
          <p:nvPr/>
        </p:nvSpPr>
        <p:spPr>
          <a:xfrm>
            <a:off x="640080" y="365760"/>
            <a:ext cx="8709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16. Типові помилки в risk management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03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Плутати ймовірність і доведеність.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Публікувати висновок раніше, ніж зібрано друге підтвердження.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Ігнорувати вартість помилки.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фіксувати рівень впевненості в нотатках.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розрізняти сильний сигнал і сильну інтерпретацію.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2 — Palantir Foundry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307;p44"/>
          <p:cNvSpPr/>
          <p:nvPr/>
        </p:nvSpPr>
        <p:spPr>
          <a:xfrm>
            <a:off x="1384920" y="716760"/>
            <a:ext cx="6507720" cy="22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45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pic>
        <p:nvPicPr>
          <p:cNvPr id="237" name="Google Shape;308;p44"/>
          <p:cNvPicPr/>
          <p:nvPr/>
        </p:nvPicPr>
        <p:blipFill>
          <a:blip r:embed="rId2"/>
          <a:stretch/>
        </p:blipFill>
        <p:spPr>
          <a:xfrm>
            <a:off x="3334680" y="2476440"/>
            <a:ext cx="3041640" cy="331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Box 308"/>
          <p:cNvSpPr/>
          <p:nvPr/>
        </p:nvSpPr>
        <p:spPr>
          <a:xfrm>
            <a:off x="640080" y="365760"/>
            <a:ext cx="6788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17. Що таке Palantir Foundry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09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Palantir Foundry — це платформа для роботи з великими масивами даних, пайплайнами, моделями доступу та аналітичними об’єктами.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Для OSINT-команди це може означати: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інтеграцію багатьох джерел у єдине середовище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контроль якості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побудову робочих сутностей і бізнес-логіки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масштабування аналітики на команду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313;p45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41" name="Google Shape;314;p45"/>
          <p:cNvSpPr/>
          <p:nvPr/>
        </p:nvSpPr>
        <p:spPr>
          <a:xfrm>
            <a:off x="372240" y="137628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42" name="Google Shape;315;p45"/>
          <p:cNvSpPr/>
          <p:nvPr/>
        </p:nvSpPr>
        <p:spPr>
          <a:xfrm>
            <a:off x="372240" y="236484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43" name="Google Shape;316;p45"/>
          <p:cNvSpPr/>
          <p:nvPr/>
        </p:nvSpPr>
        <p:spPr>
          <a:xfrm>
            <a:off x="372240" y="335304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44" name="TextBox 316"/>
          <p:cNvSpPr/>
          <p:nvPr/>
        </p:nvSpPr>
        <p:spPr>
          <a:xfrm>
            <a:off x="640080" y="365760"/>
            <a:ext cx="11296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18. Де Foundry може бути корисний у розслідуванні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17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Сильні сценарії: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багатоджерельні справи з великою кількістю таблиць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розслідування, де багато команд працюють паралельно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повторювані звіти з однаковими перевірками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інтеграція з внутрішніми базами та зовнішніми джерелами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він дає: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порядок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доступність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контрольованість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321;p46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22;p46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23;p46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49" name="Google Shape;324;p46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25;p46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26;p46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27;p46"/>
          <p:cNvSpPr/>
          <p:nvPr/>
        </p:nvSpPr>
        <p:spPr>
          <a:xfrm>
            <a:off x="6208200" y="1612080"/>
            <a:ext cx="2322360" cy="16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53" name="Google Shape;328;p46"/>
          <p:cNvSpPr/>
          <p:nvPr/>
        </p:nvSpPr>
        <p:spPr>
          <a:xfrm>
            <a:off x="483480" y="1509120"/>
            <a:ext cx="2322360" cy="10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54" name="Google Shape;329;p46"/>
          <p:cNvSpPr/>
          <p:nvPr/>
        </p:nvSpPr>
        <p:spPr>
          <a:xfrm>
            <a:off x="3205080" y="1509120"/>
            <a:ext cx="2730600" cy="33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" name="Google Shape;330;p46"/>
          <p:cNvPicPr/>
          <p:nvPr/>
        </p:nvPicPr>
        <p:blipFill>
          <a:blip r:embed="rId2"/>
          <a:stretch/>
        </p:blipFill>
        <p:spPr>
          <a:xfrm>
            <a:off x="1420560" y="3111120"/>
            <a:ext cx="1526040" cy="14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330"/>
          <p:cNvSpPr/>
          <p:nvPr/>
        </p:nvSpPr>
        <p:spPr>
          <a:xfrm>
            <a:off x="640080" y="365760"/>
            <a:ext cx="14527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18. Де Foundry може бути корисний у розслідуванні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31"/>
          <p:cNvSpPr/>
          <p:nvPr/>
        </p:nvSpPr>
        <p:spPr>
          <a:xfrm>
            <a:off x="731520" y="1463040"/>
            <a:ext cx="1078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повторюваність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335;p47"/>
          <p:cNvSpPr/>
          <p:nvPr/>
        </p:nvSpPr>
        <p:spPr>
          <a:xfrm>
            <a:off x="288000" y="174960"/>
            <a:ext cx="872568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59" name="Google Shape;336;p47"/>
          <p:cNvSpPr/>
          <p:nvPr/>
        </p:nvSpPr>
        <p:spPr>
          <a:xfrm>
            <a:off x="348480" y="1221480"/>
            <a:ext cx="8392320" cy="284616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37;p47"/>
          <p:cNvSpPr/>
          <p:nvPr/>
        </p:nvSpPr>
        <p:spPr>
          <a:xfrm>
            <a:off x="348480" y="4068000"/>
            <a:ext cx="8399160" cy="72432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261" name="Google Shape;338;p47"/>
          <p:cNvGraphicFramePr/>
          <p:nvPr/>
        </p:nvGraphicFramePr>
        <p:xfrm>
          <a:off x="667080" y="1383120"/>
          <a:ext cx="7734240" cy="2615040"/>
        </p:xfrm>
        <a:graphic>
          <a:graphicData uri="http://schemas.openxmlformats.org/drawingml/2006/table">
            <a:tbl>
              <a:tblPr/>
              <a:tblGrid>
                <a:gridCol w="2916360"/>
                <a:gridCol w="1141560"/>
                <a:gridCol w="3675960"/>
              </a:tblGrid>
              <a:tr h="20592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Крок розслідування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Урок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ArkhamMirror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35496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Витоки паспортів, білінгів, перельотів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05, 07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→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Parse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5496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Витяг осіб, телефонів, рейсів, адрес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(NER)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5496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Дедублікація: «Боширов» = Чепіга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(об'єднання сутностей)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5496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«Хто з ким літав/дзвонив»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06, 14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(force) → betweenness/PageRank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92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Зв'язок адреси з базою ГРУ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5496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Кожне твердження → доказ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Claims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evidence (supports/refutes)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92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Надійність кожного джерела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Credibility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62" name="TextBox 338"/>
          <p:cNvSpPr/>
          <p:nvPr/>
        </p:nvSpPr>
        <p:spPr>
          <a:xfrm>
            <a:off x="640080" y="365760"/>
            <a:ext cx="8257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19. Псевдопроцес роботи з Foundry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39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Завантажити джерела даних.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Очистити та нормалізувати поля.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Зв’язати сутності між джерелами.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Позначити джерельну надійність.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Створити робочі датамоделі.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доступ і аудит.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Побудувати аналітичний шар для команди.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343;p48"/>
          <p:cNvSpPr/>
          <p:nvPr/>
        </p:nvSpPr>
        <p:spPr>
          <a:xfrm>
            <a:off x="383040" y="2008080"/>
            <a:ext cx="3277080" cy="28148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44;p48"/>
          <p:cNvSpPr/>
          <p:nvPr/>
        </p:nvSpPr>
        <p:spPr>
          <a:xfrm>
            <a:off x="3660480" y="2008080"/>
            <a:ext cx="5134320" cy="28148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45;p48"/>
          <p:cNvSpPr/>
          <p:nvPr/>
        </p:nvSpPr>
        <p:spPr>
          <a:xfrm>
            <a:off x="288000" y="174960"/>
            <a:ext cx="872568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67" name="Google Shape;346;p48"/>
          <p:cNvSpPr/>
          <p:nvPr/>
        </p:nvSpPr>
        <p:spPr>
          <a:xfrm>
            <a:off x="348480" y="142884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68" name="Google Shape;347;p48"/>
          <p:cNvSpPr/>
          <p:nvPr/>
        </p:nvSpPr>
        <p:spPr>
          <a:xfrm>
            <a:off x="521640" y="2215080"/>
            <a:ext cx="2999520" cy="11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69" name="Google Shape;348;p48"/>
          <p:cNvSpPr/>
          <p:nvPr/>
        </p:nvSpPr>
        <p:spPr>
          <a:xfrm>
            <a:off x="3756960" y="2189160"/>
            <a:ext cx="4940640" cy="25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270" name="Google Shape;349;p48"/>
          <p:cNvPicPr/>
          <p:nvPr/>
        </p:nvPicPr>
        <p:blipFill>
          <a:blip r:embed="rId2"/>
          <a:stretch/>
        </p:blipFill>
        <p:spPr>
          <a:xfrm>
            <a:off x="2236680" y="3071160"/>
            <a:ext cx="1284840" cy="160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Box 349"/>
          <p:cNvSpPr/>
          <p:nvPr/>
        </p:nvSpPr>
        <p:spPr>
          <a:xfrm>
            <a:off x="640080" y="365760"/>
            <a:ext cx="6771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20. Foundry і осинт-команда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50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Які питання задає аналітик: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хто може змінювати дані?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хто бачить чутливі поля?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є журнал дій?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можна повторити результат через тиждень?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зрозуміло, звідки взялася кожна сутність?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354;p49"/>
          <p:cNvSpPr/>
          <p:nvPr/>
        </p:nvSpPr>
        <p:spPr>
          <a:xfrm>
            <a:off x="483480" y="12214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55;p49"/>
          <p:cNvSpPr/>
          <p:nvPr/>
        </p:nvSpPr>
        <p:spPr>
          <a:xfrm>
            <a:off x="10261800" y="4203720"/>
            <a:ext cx="70520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75" name="Google Shape;356;p49"/>
          <p:cNvSpPr/>
          <p:nvPr/>
        </p:nvSpPr>
        <p:spPr>
          <a:xfrm>
            <a:off x="288000" y="174960"/>
            <a:ext cx="872568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76" name="Google Shape;357;p49"/>
          <p:cNvSpPr/>
          <p:nvPr/>
        </p:nvSpPr>
        <p:spPr>
          <a:xfrm>
            <a:off x="348480" y="126144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77" name="Google Shape;358;p49"/>
          <p:cNvSpPr/>
          <p:nvPr/>
        </p:nvSpPr>
        <p:spPr>
          <a:xfrm>
            <a:off x="348480" y="1958760"/>
            <a:ext cx="59349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78" name="Google Shape;359;p49"/>
          <p:cNvSpPr/>
          <p:nvPr/>
        </p:nvSpPr>
        <p:spPr>
          <a:xfrm>
            <a:off x="483480" y="2576160"/>
            <a:ext cx="2003040" cy="15793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60;p49"/>
          <p:cNvSpPr/>
          <p:nvPr/>
        </p:nvSpPr>
        <p:spPr>
          <a:xfrm>
            <a:off x="2594160" y="2404440"/>
            <a:ext cx="2003040" cy="15793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61;p49"/>
          <p:cNvSpPr/>
          <p:nvPr/>
        </p:nvSpPr>
        <p:spPr>
          <a:xfrm>
            <a:off x="4681440" y="2576160"/>
            <a:ext cx="2003040" cy="15793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62;p49"/>
          <p:cNvSpPr/>
          <p:nvPr/>
        </p:nvSpPr>
        <p:spPr>
          <a:xfrm>
            <a:off x="6791760" y="2404440"/>
            <a:ext cx="2003040" cy="157932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63;p49"/>
          <p:cNvSpPr/>
          <p:nvPr/>
        </p:nvSpPr>
        <p:spPr>
          <a:xfrm>
            <a:off x="541800" y="2904120"/>
            <a:ext cx="18867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83" name="Google Shape;364;p49"/>
          <p:cNvSpPr/>
          <p:nvPr/>
        </p:nvSpPr>
        <p:spPr>
          <a:xfrm>
            <a:off x="2640600" y="2639880"/>
            <a:ext cx="188676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84" name="Google Shape;365;p49"/>
          <p:cNvSpPr/>
          <p:nvPr/>
        </p:nvSpPr>
        <p:spPr>
          <a:xfrm>
            <a:off x="4821120" y="2696040"/>
            <a:ext cx="174672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85" name="Google Shape;366;p49"/>
          <p:cNvSpPr/>
          <p:nvPr/>
        </p:nvSpPr>
        <p:spPr>
          <a:xfrm>
            <a:off x="6908400" y="2824560"/>
            <a:ext cx="17467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86" name="Google Shape;367;p49"/>
          <p:cNvSpPr/>
          <p:nvPr/>
        </p:nvSpPr>
        <p:spPr>
          <a:xfrm>
            <a:off x="348480" y="426348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287" name="TextBox 367"/>
          <p:cNvSpPr/>
          <p:nvPr/>
        </p:nvSpPr>
        <p:spPr>
          <a:xfrm>
            <a:off x="640080" y="365760"/>
            <a:ext cx="4656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21. Межі Foundry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68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Foundry корисний, але не всюди доречний.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Обмеження: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висока вартість і складність впровадження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потреба в дисципліні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залежність від корпоративної інфраструктури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можливі бар’єри приватності та юрисдикції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372;p50"/>
          <p:cNvSpPr/>
          <p:nvPr/>
        </p:nvSpPr>
        <p:spPr>
          <a:xfrm>
            <a:off x="11082600" y="161172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73;p50"/>
          <p:cNvSpPr/>
          <p:nvPr/>
        </p:nvSpPr>
        <p:spPr>
          <a:xfrm>
            <a:off x="10886760" y="213876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74;p50"/>
          <p:cNvSpPr/>
          <p:nvPr/>
        </p:nvSpPr>
        <p:spPr>
          <a:xfrm>
            <a:off x="288000" y="174960"/>
            <a:ext cx="8725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292" name="Google Shape;375;p50"/>
          <p:cNvSpPr/>
          <p:nvPr/>
        </p:nvSpPr>
        <p:spPr>
          <a:xfrm>
            <a:off x="348480" y="950760"/>
            <a:ext cx="8392320" cy="2272320"/>
          </a:xfrm>
          <a:prstGeom prst="roundRect">
            <a:avLst>
              <a:gd name="adj" fmla="val 1526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3" name="Google Shape;376;p50"/>
          <p:cNvGraphicFramePr/>
          <p:nvPr/>
        </p:nvGraphicFramePr>
        <p:xfrm>
          <a:off x="665280" y="1334520"/>
          <a:ext cx="7758720" cy="1518480"/>
        </p:xfrm>
        <a:graphic>
          <a:graphicData uri="http://schemas.openxmlformats.org/drawingml/2006/table">
            <a:tbl>
              <a:tblPr/>
              <a:tblGrid>
                <a:gridCol w="3350160"/>
                <a:gridCol w="440856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Техніка курсу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Як застосовано в Bybit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Entity resolution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(05)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Зв'язування десятків гаманців в один кластер актора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Граф і центральність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(06, 14)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«Гаманці-мости» між зламами → той самий оператор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Часові патерни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(09)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Тестові транзакції перед атакою — підпис стилю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Крос-джерельна верифікація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(11)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Elliptic + TRM + ФБР = три незалежні підтвердження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Швидкість real-time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(10)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Атрибуція за години, поки кошти ще рухались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377;p50"/>
          <p:cNvSpPr/>
          <p:nvPr/>
        </p:nvSpPr>
        <p:spPr>
          <a:xfrm>
            <a:off x="383040" y="322344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78;p50"/>
          <p:cNvSpPr/>
          <p:nvPr/>
        </p:nvSpPr>
        <p:spPr>
          <a:xfrm>
            <a:off x="4547520" y="322344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79;p50"/>
          <p:cNvSpPr/>
          <p:nvPr/>
        </p:nvSpPr>
        <p:spPr>
          <a:xfrm>
            <a:off x="486720" y="3223440"/>
            <a:ext cx="396072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97" name="Google Shape;380;p50"/>
          <p:cNvSpPr/>
          <p:nvPr/>
        </p:nvSpPr>
        <p:spPr>
          <a:xfrm>
            <a:off x="4651200" y="3463560"/>
            <a:ext cx="39607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298" name="TextBox 380"/>
          <p:cNvSpPr/>
          <p:nvPr/>
        </p:nvSpPr>
        <p:spPr>
          <a:xfrm>
            <a:off x="640080" y="365760"/>
            <a:ext cx="8881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22. Synthetic case: newsroom data room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81"/>
          <p:cNvSpPr/>
          <p:nvPr/>
        </p:nvSpPr>
        <p:spPr>
          <a:xfrm>
            <a:off x="731520" y="1463040"/>
            <a:ext cx="107895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редакція розслідує мережу компаній, пов’язаних із підозрілими підрядами.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Foundry-логіка: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таблиці контрактів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списки бенефіціарів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реєстри компаній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email-домени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фінансові транзакції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будується: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єдина модель сутностей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контроль версій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85;p51"/>
          <p:cNvSpPr/>
          <p:nvPr/>
        </p:nvSpPr>
        <p:spPr>
          <a:xfrm>
            <a:off x="425880" y="409680"/>
            <a:ext cx="8424720" cy="22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45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pic>
        <p:nvPicPr>
          <p:cNvPr id="301" name="Google Shape;386;p51"/>
          <p:cNvPicPr/>
          <p:nvPr/>
        </p:nvPicPr>
        <p:blipFill>
          <a:blip r:embed="rId2"/>
          <a:stretch/>
        </p:blipFill>
        <p:spPr>
          <a:xfrm>
            <a:off x="2290680" y="2232720"/>
            <a:ext cx="4695840" cy="40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Box 386"/>
          <p:cNvSpPr/>
          <p:nvPr/>
        </p:nvSpPr>
        <p:spPr>
          <a:xfrm>
            <a:off x="640080" y="365760"/>
            <a:ext cx="12111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22. Synthetic case: newsroom data room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387"/>
          <p:cNvSpPr/>
          <p:nvPr/>
        </p:nvSpPr>
        <p:spPr>
          <a:xfrm>
            <a:off x="731520" y="1463040"/>
            <a:ext cx="10789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аудиторський слід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3 — Maltego + AI usage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91;p52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92;p52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06" name="Google Shape;393;p52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94;p52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95;p52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96;p52"/>
          <p:cNvSpPr/>
          <p:nvPr/>
        </p:nvSpPr>
        <p:spPr>
          <a:xfrm>
            <a:off x="506520" y="1715400"/>
            <a:ext cx="2531160" cy="26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10" name="Google Shape;397;p52"/>
          <p:cNvSpPr/>
          <p:nvPr/>
        </p:nvSpPr>
        <p:spPr>
          <a:xfrm>
            <a:off x="3306240" y="1670400"/>
            <a:ext cx="253116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11" name="Google Shape;398;p52"/>
          <p:cNvSpPr/>
          <p:nvPr/>
        </p:nvSpPr>
        <p:spPr>
          <a:xfrm>
            <a:off x="6212520" y="1670400"/>
            <a:ext cx="2361960" cy="27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312" name="Google Shape;399;p52"/>
          <p:cNvPicPr/>
          <p:nvPr/>
        </p:nvPicPr>
        <p:blipFill>
          <a:blip r:embed="rId2"/>
          <a:srcRect l="26279" t="24560" r="27948" b="25722"/>
          <a:stretch/>
        </p:blipFill>
        <p:spPr>
          <a:xfrm>
            <a:off x="4641120" y="3413880"/>
            <a:ext cx="1132560" cy="11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399"/>
          <p:cNvSpPr/>
          <p:nvPr/>
        </p:nvSpPr>
        <p:spPr>
          <a:xfrm>
            <a:off x="640080" y="365760"/>
            <a:ext cx="7545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23. Чому Maltego досі важливий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400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Maltego залишається сильним через графову логіку.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Він допомагає: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бачити зв’язки між сутностями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запускати трансформи для збагачення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швидко перевіряти гіпотези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візуалізувати мережі, які важко пояснити таблицею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404;p53"/>
          <p:cNvSpPr/>
          <p:nvPr/>
        </p:nvSpPr>
        <p:spPr>
          <a:xfrm>
            <a:off x="348480" y="1435680"/>
            <a:ext cx="8392320" cy="2424600"/>
          </a:xfrm>
          <a:prstGeom prst="roundRect">
            <a:avLst>
              <a:gd name="adj" fmla="val 1526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05;p53"/>
          <p:cNvSpPr/>
          <p:nvPr/>
        </p:nvSpPr>
        <p:spPr>
          <a:xfrm>
            <a:off x="383040" y="3860280"/>
            <a:ext cx="8392320" cy="65520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7" name="Google Shape;406;p53"/>
          <p:cNvGraphicFramePr/>
          <p:nvPr/>
        </p:nvGraphicFramePr>
        <p:xfrm>
          <a:off x="830520" y="1723680"/>
          <a:ext cx="7482600" cy="1954440"/>
        </p:xfrm>
        <a:graphic>
          <a:graphicData uri="http://schemas.openxmlformats.org/drawingml/2006/table">
            <a:tbl>
              <a:tblPr/>
              <a:tblGrid>
                <a:gridCol w="2803320"/>
                <a:gridCol w="467928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Сигнал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Що шукати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Часова синхронізація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Публікації у вікні ±5 хв, неприродні піки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Ідентичний контент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Дослівні збіги тексту між «незалежними» акаунтами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Аномальний графік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Робота строго за чужим часовим поясом, «робочі» вихідні за Москвою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Перекриття аудиторії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78–91% спільних підписників між «різними» акаунтами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Сплески реєстрацій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Масова реєстрація напередодні події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Мовні артефакти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Кальки, помилки рідної мови оператора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407;p53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19" name="Google Shape;408;p53"/>
          <p:cNvSpPr/>
          <p:nvPr/>
        </p:nvSpPr>
        <p:spPr>
          <a:xfrm>
            <a:off x="830520" y="3988080"/>
            <a:ext cx="72417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20" name="TextBox 408"/>
          <p:cNvSpPr/>
          <p:nvPr/>
        </p:nvSpPr>
        <p:spPr>
          <a:xfrm>
            <a:off x="640080" y="365760"/>
            <a:ext cx="6411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24. Як AI посилює Maltego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409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корисний на трьох етапах: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Підготовка запиту — сформулювати, що саме шукати.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Інтерпретація графа — пояснити, які вузли є важливими.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Чернетка висновку — зібрати результати у читабельний текст.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Але: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AI не може замінити перевірку джерела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AI може підсунути красиву, але хибну інтерпретацію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граф без верифікації перетворюється на візуальний шум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413;p54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414;p54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415;p54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416;p54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17;p54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418;p54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28" name="Google Shape;419;p54"/>
          <p:cNvSpPr/>
          <p:nvPr/>
        </p:nvSpPr>
        <p:spPr>
          <a:xfrm>
            <a:off x="630000" y="1606320"/>
            <a:ext cx="2250720" cy="28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29" name="Google Shape;420;p54"/>
          <p:cNvSpPr/>
          <p:nvPr/>
        </p:nvSpPr>
        <p:spPr>
          <a:xfrm>
            <a:off x="3306240" y="1606320"/>
            <a:ext cx="2250720" cy="25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30" name="Google Shape;421;p54"/>
          <p:cNvSpPr/>
          <p:nvPr/>
        </p:nvSpPr>
        <p:spPr>
          <a:xfrm>
            <a:off x="6134400" y="1606320"/>
            <a:ext cx="2475720" cy="30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331" name="Google Shape;422;p54"/>
          <p:cNvPicPr/>
          <p:nvPr/>
        </p:nvPicPr>
        <p:blipFill>
          <a:blip r:embed="rId2"/>
          <a:stretch/>
        </p:blipFill>
        <p:spPr>
          <a:xfrm>
            <a:off x="3687840" y="2937960"/>
            <a:ext cx="2147040" cy="21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Box 422"/>
          <p:cNvSpPr/>
          <p:nvPr/>
        </p:nvSpPr>
        <p:spPr>
          <a:xfrm>
            <a:off x="640080" y="365760"/>
            <a:ext cx="8480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25. Практичний workflow Maltego + AI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423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Визначити центральну сутність.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Запустити базові трансформи.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Відсіяти шум і дублікати.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Дати AI короткий опис графа.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Попросити AI знайти прогалини.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Додати відсутні вузли вручну.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зв’язки через незалежні джерела.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427;p55"/>
          <p:cNvSpPr/>
          <p:nvPr/>
        </p:nvSpPr>
        <p:spPr>
          <a:xfrm>
            <a:off x="348480" y="1435680"/>
            <a:ext cx="8392320" cy="3263040"/>
          </a:xfrm>
          <a:prstGeom prst="roundRect">
            <a:avLst>
              <a:gd name="adj" fmla="val 84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28;p55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36" name="Google Shape;429;p55"/>
          <p:cNvSpPr/>
          <p:nvPr/>
        </p:nvSpPr>
        <p:spPr>
          <a:xfrm>
            <a:off x="6523200" y="1611360"/>
            <a:ext cx="2290680" cy="19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337" name="Google Shape;430;p55"/>
          <p:cNvGraphicFramePr/>
          <p:nvPr/>
        </p:nvGraphicFramePr>
        <p:xfrm>
          <a:off x="524880" y="1611360"/>
          <a:ext cx="5767200" cy="3487680"/>
        </p:xfrm>
        <a:graphic>
          <a:graphicData uri="http://schemas.openxmlformats.org/drawingml/2006/table">
            <a:tbl>
              <a:tblPr/>
              <a:tblGrid>
                <a:gridCol w="1922040"/>
                <a:gridCol w="1512360"/>
                <a:gridCol w="233280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Техніка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Урок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/ інструмент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Кластеризація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(Louvain/Leiden)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12, 14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Gephi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Центральність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(betweenness, PageRank)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06, 14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Часові ряди й аномалії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09, 12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Anomalies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Timeline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Cosine similarity тексту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02, 09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Embeddings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Patterns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Виявлення клонів-доменів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Provenance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(typosquatting)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Семантика наративу різними мовами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(semantic) + </a:t>
                      </a: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Embeddings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Real-time алерти на нову хвилю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Patterns</a:t>
                      </a: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EventBus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38" name="TextBox 430"/>
          <p:cNvSpPr/>
          <p:nvPr/>
        </p:nvSpPr>
        <p:spPr>
          <a:xfrm>
            <a:off x="640080" y="365760"/>
            <a:ext cx="6663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26. На що дивитися в графі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31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Сильні сигнали: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вузол-мостик між кластерами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повторювані контактні дані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один домен, який з’являється в різних контекстах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часові збіги активності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Слабкі сигнали: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одиничний збіг імені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випадковий спільний хештег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випадкова присутність у тому самому просторі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435;p56"/>
          <p:cNvSpPr/>
          <p:nvPr/>
        </p:nvSpPr>
        <p:spPr>
          <a:xfrm>
            <a:off x="383040" y="349668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436;p56"/>
          <p:cNvSpPr/>
          <p:nvPr/>
        </p:nvSpPr>
        <p:spPr>
          <a:xfrm>
            <a:off x="4547520" y="349668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37;p56"/>
          <p:cNvSpPr/>
          <p:nvPr/>
        </p:nvSpPr>
        <p:spPr>
          <a:xfrm>
            <a:off x="288000" y="174960"/>
            <a:ext cx="8725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43" name="Google Shape;438;p56"/>
          <p:cNvSpPr/>
          <p:nvPr/>
        </p:nvSpPr>
        <p:spPr>
          <a:xfrm>
            <a:off x="348480" y="939960"/>
            <a:ext cx="8392320" cy="2556360"/>
          </a:xfrm>
          <a:prstGeom prst="roundRect">
            <a:avLst>
              <a:gd name="adj" fmla="val 84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Google Shape;439;p56"/>
          <p:cNvGraphicFramePr/>
          <p:nvPr/>
        </p:nvGraphicFramePr>
        <p:xfrm>
          <a:off x="646200" y="1284840"/>
          <a:ext cx="7796880" cy="2067120"/>
        </p:xfrm>
        <a:graphic>
          <a:graphicData uri="http://schemas.openxmlformats.org/drawingml/2006/table">
            <a:tbl>
              <a:tblPr/>
              <a:tblGrid>
                <a:gridCol w="2631960"/>
                <a:gridCol w="1266120"/>
                <a:gridCol w="1948680"/>
                <a:gridCol w="1949400"/>
              </a:tblGrid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Доказ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H1: Держоперація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H2: Органічний рух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H3: Комерційний накрут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Синхронізація ±5 хв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Чужий часовий пояс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Контент на обидві сторони конфлікту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Клони доменів справжніх ЗМІ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Немає монетизації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++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−−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45" name="Google Shape;440;p56"/>
          <p:cNvSpPr/>
          <p:nvPr/>
        </p:nvSpPr>
        <p:spPr>
          <a:xfrm>
            <a:off x="465840" y="3681000"/>
            <a:ext cx="400212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46" name="Google Shape;441;p56"/>
          <p:cNvSpPr/>
          <p:nvPr/>
        </p:nvSpPr>
        <p:spPr>
          <a:xfrm>
            <a:off x="4672080" y="3681000"/>
            <a:ext cx="40021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47" name="TextBox 441"/>
          <p:cNvSpPr/>
          <p:nvPr/>
        </p:nvSpPr>
        <p:spPr>
          <a:xfrm>
            <a:off x="640080" y="365760"/>
            <a:ext cx="9622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27. Synthetic case: graph of shell companies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442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є мережа компаній у трьох країнах, кілька директорів, повторювані адреси та спільний телефон.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Як працює Maltego + AI: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Maltego будує граф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AI пояснює, які вузли варто перевірити першими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аналітик звіряє реєстри компаній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виявляється, що одна адреса є хабом для кількох фірм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4 — Facebook scraper, Google API scraper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446;p57"/>
          <p:cNvSpPr/>
          <p:nvPr/>
        </p:nvSpPr>
        <p:spPr>
          <a:xfrm>
            <a:off x="288000" y="174960"/>
            <a:ext cx="8725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50" name="Google Shape;447;p57"/>
          <p:cNvSpPr/>
          <p:nvPr/>
        </p:nvSpPr>
        <p:spPr>
          <a:xfrm>
            <a:off x="483480" y="12214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48;p57"/>
          <p:cNvSpPr/>
          <p:nvPr/>
        </p:nvSpPr>
        <p:spPr>
          <a:xfrm>
            <a:off x="348480" y="126144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352" name="Google Shape;449;p57"/>
          <p:cNvSpPr/>
          <p:nvPr/>
        </p:nvSpPr>
        <p:spPr>
          <a:xfrm>
            <a:off x="348480" y="2126160"/>
            <a:ext cx="59349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53" name="Google Shape;450;p57"/>
          <p:cNvSpPr/>
          <p:nvPr/>
        </p:nvSpPr>
        <p:spPr>
          <a:xfrm>
            <a:off x="48348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51;p57"/>
          <p:cNvSpPr/>
          <p:nvPr/>
        </p:nvSpPr>
        <p:spPr>
          <a:xfrm>
            <a:off x="25941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52;p57"/>
          <p:cNvSpPr/>
          <p:nvPr/>
        </p:nvSpPr>
        <p:spPr>
          <a:xfrm>
            <a:off x="468144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53;p57"/>
          <p:cNvSpPr/>
          <p:nvPr/>
        </p:nvSpPr>
        <p:spPr>
          <a:xfrm>
            <a:off x="67917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54;p57"/>
          <p:cNvSpPr/>
          <p:nvPr/>
        </p:nvSpPr>
        <p:spPr>
          <a:xfrm>
            <a:off x="623160" y="3089880"/>
            <a:ext cx="174672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58" name="Google Shape;455;p57"/>
          <p:cNvSpPr/>
          <p:nvPr/>
        </p:nvSpPr>
        <p:spPr>
          <a:xfrm>
            <a:off x="2640600" y="2811960"/>
            <a:ext cx="195660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1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59" name="Google Shape;456;p57"/>
          <p:cNvSpPr/>
          <p:nvPr/>
        </p:nvSpPr>
        <p:spPr>
          <a:xfrm>
            <a:off x="4821120" y="3180960"/>
            <a:ext cx="17467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60" name="Google Shape;457;p57"/>
          <p:cNvSpPr/>
          <p:nvPr/>
        </p:nvSpPr>
        <p:spPr>
          <a:xfrm>
            <a:off x="6908400" y="2932920"/>
            <a:ext cx="17467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61" name="TextBox 457"/>
          <p:cNvSpPr/>
          <p:nvPr/>
        </p:nvSpPr>
        <p:spPr>
          <a:xfrm>
            <a:off x="640080" y="365760"/>
            <a:ext cx="695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28. Навіщо потрібен scraping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458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 розслідуваннях часто треба не «дивитись руками», а збирати дані системно.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Scraping допомагає: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зберегти пост до видалення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зібрати серію публікацій у часовому порядку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отримати структуру для подальшого аналізу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порівнювати великі масиви сигналів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462;p58"/>
          <p:cNvPicPr/>
          <p:nvPr/>
        </p:nvPicPr>
        <p:blipFill>
          <a:blip r:embed="rId2"/>
          <a:stretch/>
        </p:blipFill>
        <p:spPr>
          <a:xfrm rot="20982600">
            <a:off x="2367000" y="237528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Google Shape;463;p58"/>
          <p:cNvSpPr/>
          <p:nvPr/>
        </p:nvSpPr>
        <p:spPr>
          <a:xfrm>
            <a:off x="315720" y="644400"/>
            <a:ext cx="8646120" cy="29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45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sp>
        <p:nvSpPr>
          <p:cNvPr id="365" name="TextBox 463"/>
          <p:cNvSpPr/>
          <p:nvPr/>
        </p:nvSpPr>
        <p:spPr>
          <a:xfrm>
            <a:off x="640080" y="365760"/>
            <a:ext cx="8953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29. Facebook scraper: що саме важливо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464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Facebook-дані корисні, коли вас цікавлять: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сторінки, групи, коментарі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зміни контенту в часі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зв’язки між акаунтами та спільнотами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повторювані наративи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треба фіксувати: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час збору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джерело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URL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468;p59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69;p59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470;p59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71;p59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71" name="Google Shape;472;p59"/>
          <p:cNvSpPr/>
          <p:nvPr/>
        </p:nvSpPr>
        <p:spPr>
          <a:xfrm>
            <a:off x="630000" y="1606320"/>
            <a:ext cx="2250720" cy="24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72" name="Google Shape;473;p59"/>
          <p:cNvSpPr/>
          <p:nvPr/>
        </p:nvSpPr>
        <p:spPr>
          <a:xfrm>
            <a:off x="3306240" y="1606320"/>
            <a:ext cx="2250720" cy="32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73" name="Google Shape;474;p59"/>
          <p:cNvSpPr/>
          <p:nvPr/>
        </p:nvSpPr>
        <p:spPr>
          <a:xfrm>
            <a:off x="6134400" y="1606320"/>
            <a:ext cx="2475720" cy="27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374" name="Google Shape;475;p59"/>
          <p:cNvPicPr/>
          <p:nvPr/>
        </p:nvPicPr>
        <p:blipFill>
          <a:blip r:embed="rId2"/>
          <a:srcRect l="26238" t="6232" r="26606" b="6232"/>
          <a:stretch/>
        </p:blipFill>
        <p:spPr>
          <a:xfrm>
            <a:off x="1843200" y="3549960"/>
            <a:ext cx="1037880" cy="10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Box 475"/>
          <p:cNvSpPr/>
          <p:nvPr/>
        </p:nvSpPr>
        <p:spPr>
          <a:xfrm>
            <a:off x="640080" y="365760"/>
            <a:ext cx="12184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29. Facebook scraper: що саме важливо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476"/>
          <p:cNvSpPr/>
          <p:nvPr/>
        </p:nvSpPr>
        <p:spPr>
          <a:xfrm>
            <a:off x="731520" y="1463040"/>
            <a:ext cx="107895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текст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медіа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реакції й коментарі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480;p60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81;p60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82;p60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83;p60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84;p60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82" name="Google Shape;485;p60"/>
          <p:cNvSpPr/>
          <p:nvPr/>
        </p:nvSpPr>
        <p:spPr>
          <a:xfrm>
            <a:off x="630000" y="1606320"/>
            <a:ext cx="2250720" cy="18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83" name="Google Shape;486;p60"/>
          <p:cNvSpPr/>
          <p:nvPr/>
        </p:nvSpPr>
        <p:spPr>
          <a:xfrm>
            <a:off x="3306240" y="1606320"/>
            <a:ext cx="2654280" cy="30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84" name="Google Shape;487;p60"/>
          <p:cNvSpPr/>
          <p:nvPr/>
        </p:nvSpPr>
        <p:spPr>
          <a:xfrm>
            <a:off x="6106320" y="1606320"/>
            <a:ext cx="2654280" cy="16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385" name="Google Shape;488;p60"/>
          <p:cNvPicPr/>
          <p:nvPr/>
        </p:nvPicPr>
        <p:blipFill>
          <a:blip r:embed="rId2"/>
          <a:stretch/>
        </p:blipFill>
        <p:spPr>
          <a:xfrm>
            <a:off x="6822000" y="2947320"/>
            <a:ext cx="1717920" cy="17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Box 488"/>
          <p:cNvSpPr/>
          <p:nvPr/>
        </p:nvSpPr>
        <p:spPr>
          <a:xfrm>
            <a:off x="640080" y="365760"/>
            <a:ext cx="1022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30. Google API scraper: для чого він підходить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89"/>
          <p:cNvSpPr/>
          <p:nvPr/>
        </p:nvSpPr>
        <p:spPr>
          <a:xfrm>
            <a:off x="731520" y="1463040"/>
            <a:ext cx="107895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Google API scraper зручний там, де треба шукати: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сайти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індексовані сторінки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згадки брендів або людей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сліди інфраструктури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Сильна сторона: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швидке виявлення поверхні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Слабка сторона: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все індексується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результати залежать від регіону й часу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493;p61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94;p61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95;p61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96;p61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97;p61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98;p61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394" name="Google Shape;499;p61"/>
          <p:cNvSpPr/>
          <p:nvPr/>
        </p:nvSpPr>
        <p:spPr>
          <a:xfrm>
            <a:off x="630000" y="1606320"/>
            <a:ext cx="2531160" cy="29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95" name="Google Shape;500;p61"/>
          <p:cNvSpPr/>
          <p:nvPr/>
        </p:nvSpPr>
        <p:spPr>
          <a:xfrm>
            <a:off x="3306240" y="1606320"/>
            <a:ext cx="2654280" cy="29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396" name="Google Shape;501;p61"/>
          <p:cNvSpPr/>
          <p:nvPr/>
        </p:nvSpPr>
        <p:spPr>
          <a:xfrm>
            <a:off x="6359760" y="1606320"/>
            <a:ext cx="2250720" cy="23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pic>
        <p:nvPicPr>
          <p:cNvPr id="397" name="Google Shape;502;p61"/>
          <p:cNvPicPr/>
          <p:nvPr/>
        </p:nvPicPr>
        <p:blipFill>
          <a:blip r:embed="rId2"/>
          <a:stretch/>
        </p:blipFill>
        <p:spPr>
          <a:xfrm>
            <a:off x="6821640" y="3133800"/>
            <a:ext cx="1788480" cy="178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Box 502"/>
          <p:cNvSpPr/>
          <p:nvPr/>
        </p:nvSpPr>
        <p:spPr>
          <a:xfrm>
            <a:off x="640080" y="365760"/>
            <a:ext cx="13451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30. Google API scraper: для чого він підходить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503"/>
          <p:cNvSpPr/>
          <p:nvPr/>
        </p:nvSpPr>
        <p:spPr>
          <a:xfrm>
            <a:off x="731520" y="1463040"/>
            <a:ext cx="1078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потрібна нормалізація запитів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507;p62"/>
          <p:cNvSpPr/>
          <p:nvPr/>
        </p:nvSpPr>
        <p:spPr>
          <a:xfrm>
            <a:off x="383040" y="349668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508;p62"/>
          <p:cNvSpPr/>
          <p:nvPr/>
        </p:nvSpPr>
        <p:spPr>
          <a:xfrm>
            <a:off x="4547520" y="349668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509;p62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03" name="Google Shape;510;p62"/>
          <p:cNvSpPr/>
          <p:nvPr/>
        </p:nvSpPr>
        <p:spPr>
          <a:xfrm>
            <a:off x="348480" y="1283040"/>
            <a:ext cx="8392320" cy="2212920"/>
          </a:xfrm>
          <a:prstGeom prst="roundRect">
            <a:avLst>
              <a:gd name="adj" fmla="val 84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511;p62"/>
          <p:cNvSpPr/>
          <p:nvPr/>
        </p:nvSpPr>
        <p:spPr>
          <a:xfrm>
            <a:off x="465840" y="3681000"/>
            <a:ext cx="400212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05" name="Google Shape;512;p62"/>
          <p:cNvSpPr/>
          <p:nvPr/>
        </p:nvSpPr>
        <p:spPr>
          <a:xfrm>
            <a:off x="4672080" y="3681000"/>
            <a:ext cx="40021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406" name="Google Shape;513;p62"/>
          <p:cNvGraphicFramePr/>
          <p:nvPr/>
        </p:nvGraphicFramePr>
        <p:xfrm>
          <a:off x="822240" y="1491480"/>
          <a:ext cx="7444800" cy="1814040"/>
        </p:xfrm>
        <a:graphic>
          <a:graphicData uri="http://schemas.openxmlformats.org/drawingml/2006/table">
            <a:tbl>
              <a:tblPr/>
              <a:tblGrid>
                <a:gridCol w="2481120"/>
                <a:gridCol w="2481840"/>
                <a:gridCol w="248184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Рівень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Інструмент / шард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1. Артефакти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Межі обличчя, моргання, очі, текстура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Ручний огляд + FakeCatcher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2. Провенанс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Найраніше завантаження, ланцюг поширення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InVID/WeVerify · </a:t>
                      </a: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Provenance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3. Метадані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EXIF, перекодування, часові мітки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→ /analyze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4. AI-детекція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Автоматична оцінка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Deepware · </a:t>
                      </a: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07" name="TextBox 513"/>
          <p:cNvSpPr/>
          <p:nvPr/>
        </p:nvSpPr>
        <p:spPr>
          <a:xfrm>
            <a:off x="640080" y="365760"/>
            <a:ext cx="7634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31. Що важливо при зборі даних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514"/>
          <p:cNvSpPr/>
          <p:nvPr/>
        </p:nvSpPr>
        <p:spPr>
          <a:xfrm>
            <a:off x="731520" y="1463040"/>
            <a:ext cx="1078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Перед scraping завжди відповідайте на три питання: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Що саме я хочу довести або спростувати?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Які поля мені потрібні для цього?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 я збережу ланцюг походження даних?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518;p63"/>
          <p:cNvSpPr/>
          <p:nvPr/>
        </p:nvSpPr>
        <p:spPr>
          <a:xfrm>
            <a:off x="5071680" y="1772640"/>
            <a:ext cx="3674520" cy="1366200"/>
          </a:xfrm>
          <a:prstGeom prst="roundRect">
            <a:avLst>
              <a:gd name="adj" fmla="val 20829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10" name="Google Shape;519;p63"/>
          <p:cNvSpPr/>
          <p:nvPr/>
        </p:nvSpPr>
        <p:spPr>
          <a:xfrm>
            <a:off x="383040" y="1772640"/>
            <a:ext cx="4689720" cy="3050640"/>
          </a:xfrm>
          <a:prstGeom prst="roundRect">
            <a:avLst>
              <a:gd name="adj" fmla="val 13375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520;p63"/>
          <p:cNvSpPr/>
          <p:nvPr/>
        </p:nvSpPr>
        <p:spPr>
          <a:xfrm>
            <a:off x="5265000" y="1956600"/>
            <a:ext cx="35859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12" name="Google Shape;521;p63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13" name="Google Shape;522;p63"/>
          <p:cNvSpPr/>
          <p:nvPr/>
        </p:nvSpPr>
        <p:spPr>
          <a:xfrm>
            <a:off x="288000" y="1265040"/>
            <a:ext cx="70520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414" name="Google Shape;523;p63"/>
          <p:cNvSpPr/>
          <p:nvPr/>
        </p:nvSpPr>
        <p:spPr>
          <a:xfrm>
            <a:off x="631440" y="1956600"/>
            <a:ext cx="5331600" cy="26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Google Shape;524;p63"/>
          <p:cNvPicPr/>
          <p:nvPr/>
        </p:nvPicPr>
        <p:blipFill>
          <a:blip r:embed="rId2"/>
          <a:srcRect l="132" t="0" r="140" b="0"/>
          <a:stretch/>
        </p:blipFill>
        <p:spPr>
          <a:xfrm>
            <a:off x="4964400" y="3246120"/>
            <a:ext cx="2068200" cy="178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Box 524"/>
          <p:cNvSpPr/>
          <p:nvPr/>
        </p:nvSpPr>
        <p:spPr>
          <a:xfrm>
            <a:off x="640080" y="365760"/>
            <a:ext cx="6497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32. Типові ризики scraping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525"/>
          <p:cNvSpPr/>
          <p:nvPr/>
        </p:nvSpPr>
        <p:spPr>
          <a:xfrm>
            <a:off x="731520" y="1463040"/>
            <a:ext cx="1078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Rate limit — Наслідок: Неповні дані; Що робити: Робити паузи, кешувати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Зміна верстки — Наслідок: Ламається парсер; Що робити: Тестувати на невеликих вибірках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Неправильна нормалізація — Наслідок: Помилкові збіги; Що робити: Валідувати поля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Юридичні обмеження — Наслідок: Ризик для команди; Що робити: Перевіряти політику й закон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529;p64"/>
          <p:cNvSpPr/>
          <p:nvPr/>
        </p:nvSpPr>
        <p:spPr>
          <a:xfrm>
            <a:off x="288000" y="174960"/>
            <a:ext cx="87256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19" name="Google Shape;530;p64"/>
          <p:cNvSpPr/>
          <p:nvPr/>
        </p:nvSpPr>
        <p:spPr>
          <a:xfrm>
            <a:off x="288000" y="779040"/>
            <a:ext cx="70520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420" name="Google Shape;531;p64"/>
          <p:cNvSpPr/>
          <p:nvPr/>
        </p:nvSpPr>
        <p:spPr>
          <a:xfrm>
            <a:off x="483480" y="1685160"/>
            <a:ext cx="42811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21" name="Google Shape;532;p64"/>
          <p:cNvSpPr/>
          <p:nvPr/>
        </p:nvSpPr>
        <p:spPr>
          <a:xfrm>
            <a:off x="38304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533;p64"/>
          <p:cNvSpPr/>
          <p:nvPr/>
        </p:nvSpPr>
        <p:spPr>
          <a:xfrm>
            <a:off x="526680" y="2255040"/>
            <a:ext cx="2634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23" name="Google Shape;534;p64"/>
          <p:cNvSpPr/>
          <p:nvPr/>
        </p:nvSpPr>
        <p:spPr>
          <a:xfrm>
            <a:off x="315900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535;p64"/>
          <p:cNvSpPr/>
          <p:nvPr/>
        </p:nvSpPr>
        <p:spPr>
          <a:xfrm>
            <a:off x="3302640" y="2255040"/>
            <a:ext cx="263448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25" name="Google Shape;536;p64"/>
          <p:cNvSpPr/>
          <p:nvPr/>
        </p:nvSpPr>
        <p:spPr>
          <a:xfrm>
            <a:off x="593748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537;p64"/>
          <p:cNvSpPr/>
          <p:nvPr/>
        </p:nvSpPr>
        <p:spPr>
          <a:xfrm>
            <a:off x="6081480" y="2255040"/>
            <a:ext cx="263448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27" name="Google Shape;538;p64"/>
          <p:cNvSpPr/>
          <p:nvPr/>
        </p:nvSpPr>
        <p:spPr>
          <a:xfrm>
            <a:off x="383040" y="3417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539;p64"/>
          <p:cNvSpPr/>
          <p:nvPr/>
        </p:nvSpPr>
        <p:spPr>
          <a:xfrm>
            <a:off x="598680" y="3593880"/>
            <a:ext cx="395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29" name="Google Shape;540;p64"/>
          <p:cNvSpPr/>
          <p:nvPr/>
        </p:nvSpPr>
        <p:spPr>
          <a:xfrm>
            <a:off x="4547520" y="3417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541;p64"/>
          <p:cNvSpPr/>
          <p:nvPr/>
        </p:nvSpPr>
        <p:spPr>
          <a:xfrm>
            <a:off x="4763160" y="3593880"/>
            <a:ext cx="395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31" name="TextBox 541"/>
          <p:cNvSpPr/>
          <p:nvPr/>
        </p:nvSpPr>
        <p:spPr>
          <a:xfrm>
            <a:off x="640080" y="365760"/>
            <a:ext cx="8627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33. Synthetic case: community network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542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є група Facebook, де акаунти синхронно репостять однакові повідомлення.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План збору: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зібрати постинг за 30 днів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витягнути авторів, час, текст, посилання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шукати повторювані шаблони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зіставити з пошуком у Google API для перевірки зовнішніх дзеркал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5 — PostHog usage for investigations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546;p65"/>
          <p:cNvPicPr/>
          <p:nvPr/>
        </p:nvPicPr>
        <p:blipFill>
          <a:blip r:embed="rId2"/>
          <a:stretch/>
        </p:blipFill>
        <p:spPr>
          <a:xfrm rot="20982600">
            <a:off x="2367000" y="214056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Google Shape;547;p65"/>
          <p:cNvSpPr/>
          <p:nvPr/>
        </p:nvSpPr>
        <p:spPr>
          <a:xfrm>
            <a:off x="1384920" y="1058400"/>
            <a:ext cx="650772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3100" b="1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435" name="TextBox 547"/>
          <p:cNvSpPr/>
          <p:nvPr/>
        </p:nvSpPr>
        <p:spPr>
          <a:xfrm>
            <a:off x="640080" y="365760"/>
            <a:ext cx="84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34. Що таке PostHog у розслідуванні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548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PostHog зазвичай сприймають як продуктову аналітику, але в OSINT він може бути корисним як джерело поведінкових сигналів.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можна аналізувати: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події користувача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переходи між кроками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падіння конверсії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аномальні патерни використання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552;p66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38" name="Google Shape;553;p66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Google Shape;554;p66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555;p66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556;p66"/>
          <p:cNvSpPr/>
          <p:nvPr/>
        </p:nvSpPr>
        <p:spPr>
          <a:xfrm>
            <a:off x="630000" y="1606320"/>
            <a:ext cx="2531160" cy="27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42" name="Google Shape;557;p66"/>
          <p:cNvSpPr/>
          <p:nvPr/>
        </p:nvSpPr>
        <p:spPr>
          <a:xfrm>
            <a:off x="3306240" y="1606320"/>
            <a:ext cx="26542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43" name="Google Shape;558;p66"/>
          <p:cNvSpPr/>
          <p:nvPr/>
        </p:nvSpPr>
        <p:spPr>
          <a:xfrm>
            <a:off x="6359760" y="1606320"/>
            <a:ext cx="225072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44" name="TextBox 558"/>
          <p:cNvSpPr/>
          <p:nvPr/>
        </p:nvSpPr>
        <p:spPr>
          <a:xfrm>
            <a:off x="640080" y="365760"/>
            <a:ext cx="7686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35. PostHog як джерело сигналів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559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Ідея проста: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люди і боти поводяться по-різному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реальні користувачі мають природну варіативність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автоматизовані сценарії часто створюють повторювані траєкторії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На що дивитися: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однакові сесії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нетипові шляхи по продукту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різке зростання одного типу подій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підозріло регулярні інтервали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563;p67"/>
          <p:cNvSpPr/>
          <p:nvPr/>
        </p:nvSpPr>
        <p:spPr>
          <a:xfrm>
            <a:off x="11229840" y="1559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564;p67"/>
          <p:cNvSpPr/>
          <p:nvPr/>
        </p:nvSpPr>
        <p:spPr>
          <a:xfrm>
            <a:off x="11034000" y="2086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565;p67"/>
          <p:cNvSpPr/>
          <p:nvPr/>
        </p:nvSpPr>
        <p:spPr>
          <a:xfrm>
            <a:off x="11034000" y="1671120"/>
            <a:ext cx="705204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566;p67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50" name="Google Shape;567;p67"/>
          <p:cNvSpPr/>
          <p:nvPr/>
        </p:nvSpPr>
        <p:spPr>
          <a:xfrm>
            <a:off x="288000" y="1159560"/>
            <a:ext cx="70520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451" name="Google Shape;568;p67"/>
          <p:cNvSpPr/>
          <p:nvPr/>
        </p:nvSpPr>
        <p:spPr>
          <a:xfrm>
            <a:off x="348480" y="1671120"/>
            <a:ext cx="8392320" cy="2556360"/>
          </a:xfrm>
          <a:prstGeom prst="roundRect">
            <a:avLst>
              <a:gd name="adj" fmla="val 84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2" name="Google Shape;569;p67"/>
          <p:cNvGraphicFramePr/>
          <p:nvPr/>
        </p:nvGraphicFramePr>
        <p:xfrm>
          <a:off x="1018440" y="1890720"/>
          <a:ext cx="7052040" cy="2137320"/>
        </p:xfrm>
        <a:graphic>
          <a:graphicData uri="http://schemas.openxmlformats.org/drawingml/2006/table">
            <a:tbl>
              <a:tblPr/>
              <a:tblGrid>
                <a:gridCol w="2350080"/>
                <a:gridCol w="2350800"/>
                <a:gridCol w="235080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Задача ICIJ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Технологія ICIJ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ArkhamMirror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OCR мільйонів сканів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Tesseract, Apache Tika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OCR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(gpu-paddle pool)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Витяг сутностей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NER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Дедублікація осіб/компаній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Entity resolution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Граф «хто володіє чим через кого»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Neo4j + Linkurious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Пошук по корпусу природною мовою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Повнотекст + семантика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(hybrid)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Структурування листів у дані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—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Claims</a:t>
                      </a: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+ </a:t>
                      </a: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Parse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53" name="Google Shape;570;p67"/>
          <p:cNvSpPr/>
          <p:nvPr/>
        </p:nvSpPr>
        <p:spPr>
          <a:xfrm>
            <a:off x="348480" y="4227840"/>
            <a:ext cx="844632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54" name="TextBox 570"/>
          <p:cNvSpPr/>
          <p:nvPr/>
        </p:nvSpPr>
        <p:spPr>
          <a:xfrm>
            <a:off x="640080" y="365760"/>
            <a:ext cx="8527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36. PostHog для investigator workflow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571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PostHog корисний не лише для користувачів продукту, а й для команди розслідування.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Можна аналізувати: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 команда шукає документи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які гіпотези перевіряються першими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де губиться час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які кроки повторюються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575;p68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57" name="Google Shape;576;p68"/>
          <p:cNvSpPr/>
          <p:nvPr/>
        </p:nvSpPr>
        <p:spPr>
          <a:xfrm>
            <a:off x="383040" y="916560"/>
            <a:ext cx="4168080" cy="3791880"/>
          </a:xfrm>
          <a:prstGeom prst="roundRect">
            <a:avLst>
              <a:gd name="adj" fmla="val 10722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577;p68"/>
          <p:cNvSpPr/>
          <p:nvPr/>
        </p:nvSpPr>
        <p:spPr>
          <a:xfrm>
            <a:off x="4547520" y="916560"/>
            <a:ext cx="4168080" cy="3791880"/>
          </a:xfrm>
          <a:prstGeom prst="roundRect">
            <a:avLst>
              <a:gd name="adj" fmla="val 1206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Google Shape;578;p68"/>
          <p:cNvSpPr/>
          <p:nvPr/>
        </p:nvSpPr>
        <p:spPr>
          <a:xfrm>
            <a:off x="469440" y="1067760"/>
            <a:ext cx="4019400" cy="34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60" name="Google Shape;579;p68"/>
          <p:cNvSpPr/>
          <p:nvPr/>
        </p:nvSpPr>
        <p:spPr>
          <a:xfrm>
            <a:off x="4696200" y="1067760"/>
            <a:ext cx="401940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61" name="TextBox 579"/>
          <p:cNvSpPr/>
          <p:nvPr/>
        </p:nvSpPr>
        <p:spPr>
          <a:xfrm>
            <a:off x="640080" y="365760"/>
            <a:ext cx="9813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37. Synthetic case: anomalous access pattern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580"/>
          <p:cNvSpPr/>
          <p:nvPr/>
        </p:nvSpPr>
        <p:spPr>
          <a:xfrm>
            <a:off x="731520" y="1463040"/>
            <a:ext cx="1078956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у внутрішньому сервісі видно, що кілька акаунтів проходять однаковий шлях упродовж хвилин.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це може означати: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бот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тестовий скрипт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координація кількох людей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технічна помилка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робити: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часові відстані між подіями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порівняти з нормою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звірити IP / user agent / контекст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584;p69"/>
          <p:cNvPicPr/>
          <p:nvPr/>
        </p:nvPicPr>
        <p:blipFill>
          <a:blip r:embed="rId2"/>
          <a:stretch/>
        </p:blipFill>
        <p:spPr>
          <a:xfrm rot="20982600">
            <a:off x="2367000" y="214056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Google Shape;585;p69"/>
          <p:cNvSpPr/>
          <p:nvPr/>
        </p:nvSpPr>
        <p:spPr>
          <a:xfrm>
            <a:off x="1384920" y="1058400"/>
            <a:ext cx="650772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3100" b="1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465" name="TextBox 585"/>
          <p:cNvSpPr/>
          <p:nvPr/>
        </p:nvSpPr>
        <p:spPr>
          <a:xfrm>
            <a:off x="640080" y="365760"/>
            <a:ext cx="8062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38. Межа між аналітикою і доказом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586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PostHog дає сигнал, але не дає автоматичного висновку.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Потрібно пам’ятати: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аномалія не дорівнює злочину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регулярність не дорівнює автоматизації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дивний патерн не дорівнює атрибуції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6 — AI image detection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590;p70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591;p70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69" name="Google Shape;592;p70"/>
          <p:cNvSpPr/>
          <p:nvPr/>
        </p:nvSpPr>
        <p:spPr>
          <a:xfrm>
            <a:off x="383040" y="1386000"/>
            <a:ext cx="4168080" cy="3322800"/>
          </a:xfrm>
          <a:prstGeom prst="roundRect">
            <a:avLst>
              <a:gd name="adj" fmla="val 10722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593;p70"/>
          <p:cNvSpPr/>
          <p:nvPr/>
        </p:nvSpPr>
        <p:spPr>
          <a:xfrm>
            <a:off x="4547520" y="1386000"/>
            <a:ext cx="4168080" cy="3322800"/>
          </a:xfrm>
          <a:prstGeom prst="roundRect">
            <a:avLst>
              <a:gd name="adj" fmla="val 1206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594;p70"/>
          <p:cNvSpPr/>
          <p:nvPr/>
        </p:nvSpPr>
        <p:spPr>
          <a:xfrm>
            <a:off x="607320" y="1725480"/>
            <a:ext cx="38505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72" name="Google Shape;595;p70"/>
          <p:cNvSpPr/>
          <p:nvPr/>
        </p:nvSpPr>
        <p:spPr>
          <a:xfrm>
            <a:off x="4748040" y="1609560"/>
            <a:ext cx="3923640" cy="27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73" name="TextBox 595"/>
          <p:cNvSpPr/>
          <p:nvPr/>
        </p:nvSpPr>
        <p:spPr>
          <a:xfrm>
            <a:off x="640080" y="365760"/>
            <a:ext cx="11495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39. Що саме ми маємо на увазі під AI image detection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596"/>
          <p:cNvSpPr/>
          <p:nvPr/>
        </p:nvSpPr>
        <p:spPr>
          <a:xfrm>
            <a:off x="731520" y="1463040"/>
            <a:ext cx="107895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 цьому блоці йдеться про виявлення: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AI-згенерованих зображень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маніпуляцій із фото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підміни об’єктів або деталей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повторного використання зображень у новому контексті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600;p71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Google Shape;601;p71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Google Shape;602;p71"/>
          <p:cNvSpPr/>
          <p:nvPr/>
        </p:nvSpPr>
        <p:spPr>
          <a:xfrm>
            <a:off x="287640" y="191592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603;p71"/>
          <p:cNvSpPr/>
          <p:nvPr/>
        </p:nvSpPr>
        <p:spPr>
          <a:xfrm>
            <a:off x="383040" y="1386000"/>
            <a:ext cx="4168080" cy="3322800"/>
          </a:xfrm>
          <a:prstGeom prst="roundRect">
            <a:avLst>
              <a:gd name="adj" fmla="val 10722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604;p71"/>
          <p:cNvSpPr/>
          <p:nvPr/>
        </p:nvSpPr>
        <p:spPr>
          <a:xfrm>
            <a:off x="4547520" y="1386000"/>
            <a:ext cx="4168080" cy="3322800"/>
          </a:xfrm>
          <a:prstGeom prst="roundRect">
            <a:avLst>
              <a:gd name="adj" fmla="val 1206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Google Shape;605;p71"/>
          <p:cNvSpPr/>
          <p:nvPr/>
        </p:nvSpPr>
        <p:spPr>
          <a:xfrm>
            <a:off x="607320" y="1601280"/>
            <a:ext cx="38505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81" name="Google Shape;606;p71"/>
          <p:cNvSpPr/>
          <p:nvPr/>
        </p:nvSpPr>
        <p:spPr>
          <a:xfrm>
            <a:off x="4748040" y="1497600"/>
            <a:ext cx="3923640" cy="30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82" name="Google Shape;607;p71"/>
          <p:cNvSpPr/>
          <p:nvPr/>
        </p:nvSpPr>
        <p:spPr>
          <a:xfrm>
            <a:off x="288000" y="174960"/>
            <a:ext cx="8725680" cy="15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83" name="TextBox 607"/>
          <p:cNvSpPr/>
          <p:nvPr/>
        </p:nvSpPr>
        <p:spPr>
          <a:xfrm>
            <a:off x="640080" y="365760"/>
            <a:ext cx="5992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40. Які ознаки дивитися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608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Візуальні ознаки: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неприродні руки, пальці, текстури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дивна геометрія обличчя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логотипи й текст із помилками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неконсистентне освітлення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Технічні ознаки: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метадані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сліди перекодування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повторні патерни шуму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612;p72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613;p72"/>
          <p:cNvSpPr/>
          <p:nvPr/>
        </p:nvSpPr>
        <p:spPr>
          <a:xfrm>
            <a:off x="288000" y="174960"/>
            <a:ext cx="8725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487" name="Google Shape;614;p72"/>
          <p:cNvSpPr/>
          <p:nvPr/>
        </p:nvSpPr>
        <p:spPr>
          <a:xfrm>
            <a:off x="483480" y="12214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615;p72"/>
          <p:cNvSpPr/>
          <p:nvPr/>
        </p:nvSpPr>
        <p:spPr>
          <a:xfrm>
            <a:off x="348480" y="1109880"/>
            <a:ext cx="8446320" cy="73044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489" name="Google Shape;616;p72"/>
          <p:cNvSpPr/>
          <p:nvPr/>
        </p:nvSpPr>
        <p:spPr>
          <a:xfrm>
            <a:off x="348480" y="2126160"/>
            <a:ext cx="59349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90" name="Google Shape;617;p72"/>
          <p:cNvSpPr/>
          <p:nvPr/>
        </p:nvSpPr>
        <p:spPr>
          <a:xfrm>
            <a:off x="48348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618;p72"/>
          <p:cNvSpPr/>
          <p:nvPr/>
        </p:nvSpPr>
        <p:spPr>
          <a:xfrm>
            <a:off x="25941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619;p72"/>
          <p:cNvSpPr/>
          <p:nvPr/>
        </p:nvSpPr>
        <p:spPr>
          <a:xfrm>
            <a:off x="4681440" y="277056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620;p72"/>
          <p:cNvSpPr/>
          <p:nvPr/>
        </p:nvSpPr>
        <p:spPr>
          <a:xfrm>
            <a:off x="6791760" y="2571840"/>
            <a:ext cx="2003040" cy="1830600"/>
          </a:xfrm>
          <a:prstGeom prst="roundRect">
            <a:avLst>
              <a:gd name="adj" fmla="val 986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760" tIns="122760" rIns="122760" bIns="122760" anchor="ctr">
            <a:noAutofit/>
          </a:bodyPr>
          <a:p>
            <a:endParaRPr lang="en-US" sz="18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621;p72"/>
          <p:cNvSpPr/>
          <p:nvPr/>
        </p:nvSpPr>
        <p:spPr>
          <a:xfrm>
            <a:off x="623160" y="3089880"/>
            <a:ext cx="1746720" cy="13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95" name="Google Shape;622;p72"/>
          <p:cNvSpPr/>
          <p:nvPr/>
        </p:nvSpPr>
        <p:spPr>
          <a:xfrm>
            <a:off x="2640600" y="2811960"/>
            <a:ext cx="195660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1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96" name="Google Shape;623;p72"/>
          <p:cNvSpPr/>
          <p:nvPr/>
        </p:nvSpPr>
        <p:spPr>
          <a:xfrm>
            <a:off x="4821120" y="3132000"/>
            <a:ext cx="186336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97" name="Google Shape;624;p72"/>
          <p:cNvSpPr/>
          <p:nvPr/>
        </p:nvSpPr>
        <p:spPr>
          <a:xfrm>
            <a:off x="6908400" y="2932920"/>
            <a:ext cx="17467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98" name="TextBox 624"/>
          <p:cNvSpPr/>
          <p:nvPr/>
        </p:nvSpPr>
        <p:spPr>
          <a:xfrm>
            <a:off x="640080" y="365760"/>
            <a:ext cx="9223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40. Які ознаки дивитися (продовження 2)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625"/>
          <p:cNvSpPr/>
          <p:nvPr/>
        </p:nvSpPr>
        <p:spPr>
          <a:xfrm>
            <a:off x="731520" y="1463040"/>
            <a:ext cx="1078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невідповідність роздільної здатності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629;p73"/>
          <p:cNvPicPr/>
          <p:nvPr/>
        </p:nvPicPr>
        <p:blipFill>
          <a:blip r:embed="rId2"/>
          <a:stretch/>
        </p:blipFill>
        <p:spPr>
          <a:xfrm rot="20982600">
            <a:off x="2367000" y="214056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Google Shape;630;p73"/>
          <p:cNvSpPr/>
          <p:nvPr/>
        </p:nvSpPr>
        <p:spPr>
          <a:xfrm>
            <a:off x="1384920" y="1058400"/>
            <a:ext cx="650772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3100" b="1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502" name="TextBox 630"/>
          <p:cNvSpPr/>
          <p:nvPr/>
        </p:nvSpPr>
        <p:spPr>
          <a:xfrm>
            <a:off x="640080" y="365760"/>
            <a:ext cx="7271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41. AI image detection workflow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631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Знайти оригінал або найближче джерело.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метадані.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Порівняти з дублями та репостами.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тіні, перспективу та контекст.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Попросити AI дати підказки, а не вирок.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Підтвердити висновок ручною перевіркою.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635;p74"/>
          <p:cNvSpPr/>
          <p:nvPr/>
        </p:nvSpPr>
        <p:spPr>
          <a:xfrm>
            <a:off x="10912320" y="221940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636;p74"/>
          <p:cNvSpPr/>
          <p:nvPr/>
        </p:nvSpPr>
        <p:spPr>
          <a:xfrm>
            <a:off x="288000" y="174960"/>
            <a:ext cx="87256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06" name="Google Shape;637;p74"/>
          <p:cNvSpPr/>
          <p:nvPr/>
        </p:nvSpPr>
        <p:spPr>
          <a:xfrm>
            <a:off x="348480" y="1221480"/>
            <a:ext cx="8392320" cy="305748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638;p74"/>
          <p:cNvSpPr/>
          <p:nvPr/>
        </p:nvSpPr>
        <p:spPr>
          <a:xfrm>
            <a:off x="348480" y="4279320"/>
            <a:ext cx="8399160" cy="51336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08" name="Google Shape;639;p74"/>
          <p:cNvSpPr/>
          <p:nvPr/>
        </p:nvSpPr>
        <p:spPr>
          <a:xfrm>
            <a:off x="348480" y="731520"/>
            <a:ext cx="59403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09" name="Google Shape;640;p74"/>
          <p:cNvGraphicFramePr/>
          <p:nvPr/>
        </p:nvGraphicFramePr>
        <p:xfrm>
          <a:off x="630720" y="1477440"/>
          <a:ext cx="7828200" cy="2672280"/>
        </p:xfrm>
        <a:graphic>
          <a:graphicData uri="http://schemas.openxmlformats.org/drawingml/2006/table">
            <a:tbl>
              <a:tblPr/>
              <a:tblGrid>
                <a:gridCol w="2608920"/>
                <a:gridCol w="2609640"/>
                <a:gridCol w="260964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Помилка AI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Реальний приклад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Захист (урок / шард)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Галюцинація геолокації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LLM впевнено вказує інше місце зі схожими орієнтирами (тести Bellingcat)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Класична верифікація (03)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Галюцинація факту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Вигаданий URL/цитата у звіті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Verify незалежним джерелом (11) · </a:t>
                      </a: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Claims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Confirmation bias через промпт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«Доведи X» → знайде лише X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ACH, обидві сторони (11, 13) · </a:t>
                      </a: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ACH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Переоцінка форми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Гладкий текст звучить переконливо без доказів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Форма ≠ зміст (13)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Хибна facial-схожість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Звинувачення Суніла Тріпаті (Бостон)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Схожість ≠ ідентичність (03, 05)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Витік PII в хмару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Компрометація розслідування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1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Локальні моделі (14) · </a:t>
                      </a:r>
                      <a:r>
                        <a:rPr lang="en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ArkhamMirror offline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10" name="TextBox 640"/>
          <p:cNvSpPr/>
          <p:nvPr/>
        </p:nvSpPr>
        <p:spPr>
          <a:xfrm>
            <a:off x="640080" y="365760"/>
            <a:ext cx="6207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42. Чому AI помиляється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641"/>
          <p:cNvSpPr/>
          <p:nvPr/>
        </p:nvSpPr>
        <p:spPr>
          <a:xfrm>
            <a:off x="731520" y="1463040"/>
            <a:ext cx="107895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image detection слабшає, коли: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зображення сильно стиснене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кадр невеликий або розмитий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сцена нетипова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 багато схожих реальних зображень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645;p75"/>
          <p:cNvSpPr/>
          <p:nvPr/>
        </p:nvSpPr>
        <p:spPr>
          <a:xfrm>
            <a:off x="38304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646;p75"/>
          <p:cNvSpPr/>
          <p:nvPr/>
        </p:nvSpPr>
        <p:spPr>
          <a:xfrm>
            <a:off x="3158640" y="1388880"/>
            <a:ext cx="282348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647;p75"/>
          <p:cNvSpPr/>
          <p:nvPr/>
        </p:nvSpPr>
        <p:spPr>
          <a:xfrm>
            <a:off x="5982480" y="1388880"/>
            <a:ext cx="2778120" cy="3434040"/>
          </a:xfrm>
          <a:prstGeom prst="roundRect">
            <a:avLst>
              <a:gd name="adj" fmla="val 1337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648;p75"/>
          <p:cNvSpPr/>
          <p:nvPr/>
        </p:nvSpPr>
        <p:spPr>
          <a:xfrm>
            <a:off x="288000" y="174960"/>
            <a:ext cx="9488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16" name="Google Shape;649;p75"/>
          <p:cNvSpPr/>
          <p:nvPr/>
        </p:nvSpPr>
        <p:spPr>
          <a:xfrm>
            <a:off x="288000" y="779040"/>
            <a:ext cx="70520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517" name="Google Shape;650;p75"/>
          <p:cNvSpPr/>
          <p:nvPr/>
        </p:nvSpPr>
        <p:spPr>
          <a:xfrm>
            <a:off x="565920" y="1633680"/>
            <a:ext cx="25174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18" name="Google Shape;651;p75"/>
          <p:cNvSpPr/>
          <p:nvPr/>
        </p:nvSpPr>
        <p:spPr>
          <a:xfrm>
            <a:off x="3274200" y="1633680"/>
            <a:ext cx="2517480" cy="18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19" name="Google Shape;652;p75"/>
          <p:cNvSpPr/>
          <p:nvPr/>
        </p:nvSpPr>
        <p:spPr>
          <a:xfrm>
            <a:off x="6057000" y="1633680"/>
            <a:ext cx="2778120" cy="29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20" name="TextBox 652"/>
          <p:cNvSpPr/>
          <p:nvPr/>
        </p:nvSpPr>
        <p:spPr>
          <a:xfrm>
            <a:off x="640080" y="365760"/>
            <a:ext cx="10150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43. Synthetic case: suspicious photo in a report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653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у звіті з’явилось фото «об’єкта на місці події».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Перевірка: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reverse image search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аналіз тіней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перевірка горизонту і перспективи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порівняння деталей на фоні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пошук ознак генерації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657;p76"/>
          <p:cNvSpPr/>
          <p:nvPr/>
        </p:nvSpPr>
        <p:spPr>
          <a:xfrm>
            <a:off x="288000" y="174960"/>
            <a:ext cx="872568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23" name="Google Shape;658;p76"/>
          <p:cNvSpPr/>
          <p:nvPr/>
        </p:nvSpPr>
        <p:spPr>
          <a:xfrm>
            <a:off x="348480" y="1221480"/>
            <a:ext cx="8392320" cy="245628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659;p76"/>
          <p:cNvSpPr/>
          <p:nvPr/>
        </p:nvSpPr>
        <p:spPr>
          <a:xfrm>
            <a:off x="348480" y="3678480"/>
            <a:ext cx="8399160" cy="1114200"/>
          </a:xfrm>
          <a:prstGeom prst="roundRect">
            <a:avLst>
              <a:gd name="adj" fmla="val 29318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525" name="Google Shape;660;p76"/>
          <p:cNvGraphicFramePr/>
          <p:nvPr/>
        </p:nvGraphicFramePr>
        <p:xfrm>
          <a:off x="1512000" y="1697400"/>
          <a:ext cx="6119640" cy="1518480"/>
        </p:xfrm>
        <a:graphic>
          <a:graphicData uri="http://schemas.openxmlformats.org/drawingml/2006/table">
            <a:tbl>
              <a:tblPr/>
              <a:tblGrid>
                <a:gridCol w="3060000"/>
                <a:gridCol w="306000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 Можна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 можна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Публічні пости, відкриті реєстри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Несанкціонований доступ до акаунтів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Архівування публічного контенту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Купівля викрадених PII (GDPR)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Reverse search, геолокація фото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Сталкінг, стеження без підстав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Sock puppet для збору (з межами)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Провокація, entrapment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Facial recognition як гіпотеза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Публічне звинувачення за схожістю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26" name="TextBox 660"/>
          <p:cNvSpPr/>
          <p:nvPr/>
        </p:nvSpPr>
        <p:spPr>
          <a:xfrm>
            <a:off x="640080" y="365760"/>
            <a:ext cx="7131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44. Міні-чекліст для аналітика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661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Перед використанням зображення в публікації запитайте себе: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звідки це фото?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бачив я оригінал?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є дублікати?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не вирізане воно з іншого контексту?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можу я це пояснити іншому аналітику?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7 — Bot detection with OSINT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665;p77"/>
          <p:cNvSpPr/>
          <p:nvPr/>
        </p:nvSpPr>
        <p:spPr>
          <a:xfrm>
            <a:off x="383040" y="1511280"/>
            <a:ext cx="4119480" cy="3311640"/>
          </a:xfrm>
          <a:prstGeom prst="roundRect">
            <a:avLst>
              <a:gd name="adj" fmla="val 882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666;p77"/>
          <p:cNvSpPr/>
          <p:nvPr/>
        </p:nvSpPr>
        <p:spPr>
          <a:xfrm>
            <a:off x="4498560" y="1511280"/>
            <a:ext cx="4186800" cy="3311640"/>
          </a:xfrm>
          <a:prstGeom prst="roundRect">
            <a:avLst>
              <a:gd name="adj" fmla="val 942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Google Shape;667;p77"/>
          <p:cNvSpPr/>
          <p:nvPr/>
        </p:nvSpPr>
        <p:spPr>
          <a:xfrm>
            <a:off x="528840" y="1689840"/>
            <a:ext cx="3828240" cy="29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31" name="Google Shape;668;p77"/>
          <p:cNvSpPr/>
          <p:nvPr/>
        </p:nvSpPr>
        <p:spPr>
          <a:xfrm>
            <a:off x="288000" y="174960"/>
            <a:ext cx="872568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32" name="Google Shape;669;p77"/>
          <p:cNvSpPr/>
          <p:nvPr/>
        </p:nvSpPr>
        <p:spPr>
          <a:xfrm>
            <a:off x="288000" y="1111320"/>
            <a:ext cx="63403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533" name="Google Shape;670;p77"/>
          <p:cNvSpPr/>
          <p:nvPr/>
        </p:nvSpPr>
        <p:spPr>
          <a:xfrm>
            <a:off x="4776480" y="1689840"/>
            <a:ext cx="368820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6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34" name="TextBox 670"/>
          <p:cNvSpPr/>
          <p:nvPr/>
        </p:nvSpPr>
        <p:spPr>
          <a:xfrm>
            <a:off x="640080" y="365760"/>
            <a:ext cx="7740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45. Що таке bot detection у OSINT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671"/>
          <p:cNvSpPr/>
          <p:nvPr/>
        </p:nvSpPr>
        <p:spPr>
          <a:xfrm>
            <a:off x="731520" y="1463040"/>
            <a:ext cx="107895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Bot detection — це не тільки боротьба з фейковими акаунтами. Це виявлення: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автоматизованої поведінки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координованих кампаній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неавтентичних моделей активності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псевдолюдської присутності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675;p78"/>
          <p:cNvSpPr/>
          <p:nvPr/>
        </p:nvSpPr>
        <p:spPr>
          <a:xfrm>
            <a:off x="288000" y="174960"/>
            <a:ext cx="86968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37" name="Google Shape;676;p78"/>
          <p:cNvSpPr/>
          <p:nvPr/>
        </p:nvSpPr>
        <p:spPr>
          <a:xfrm>
            <a:off x="287640" y="1956240"/>
            <a:ext cx="8571960" cy="2898000"/>
          </a:xfrm>
          <a:prstGeom prst="roundRect">
            <a:avLst>
              <a:gd name="adj" fmla="val 1552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Google Shape;677;p78"/>
          <p:cNvSpPr/>
          <p:nvPr/>
        </p:nvSpPr>
        <p:spPr>
          <a:xfrm>
            <a:off x="323640" y="1172520"/>
            <a:ext cx="807876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539" name="Google Shape;678;p78"/>
          <p:cNvSpPr/>
          <p:nvPr/>
        </p:nvSpPr>
        <p:spPr>
          <a:xfrm>
            <a:off x="674640" y="2114280"/>
            <a:ext cx="7052040" cy="25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0" name="TextBox 678"/>
          <p:cNvSpPr/>
          <p:nvPr/>
        </p:nvSpPr>
        <p:spPr>
          <a:xfrm>
            <a:off x="640080" y="365760"/>
            <a:ext cx="8082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46. Ознаки ботоподібної поведінки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679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Сигнали: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надто регулярний час постингу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однотипний текст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однакові інтервали між діями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схожі фото профілю або шаблони імен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аномально швидкі реакції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Але: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жодна ознака сама по собі не доводить бота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люди теж іноді поводяться схоже через роботу або шаблони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683;p79"/>
          <p:cNvSpPr/>
          <p:nvPr/>
        </p:nvSpPr>
        <p:spPr>
          <a:xfrm>
            <a:off x="4572000" y="128772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3" name="Google Shape;684;p79"/>
          <p:cNvSpPr/>
          <p:nvPr/>
        </p:nvSpPr>
        <p:spPr>
          <a:xfrm>
            <a:off x="4572000" y="201276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4" name="Google Shape;685;p79"/>
          <p:cNvSpPr/>
          <p:nvPr/>
        </p:nvSpPr>
        <p:spPr>
          <a:xfrm>
            <a:off x="4572000" y="273744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5" name="Google Shape;686;p79"/>
          <p:cNvSpPr/>
          <p:nvPr/>
        </p:nvSpPr>
        <p:spPr>
          <a:xfrm>
            <a:off x="4572000" y="346212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6" name="Google Shape;687;p79"/>
          <p:cNvSpPr/>
          <p:nvPr/>
        </p:nvSpPr>
        <p:spPr>
          <a:xfrm>
            <a:off x="4572000" y="418716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47" name="Google Shape;688;p79"/>
          <p:cNvSpPr/>
          <p:nvPr/>
        </p:nvSpPr>
        <p:spPr>
          <a:xfrm>
            <a:off x="288000" y="174960"/>
            <a:ext cx="9488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48" name="Google Shape;689;p79"/>
          <p:cNvSpPr/>
          <p:nvPr/>
        </p:nvSpPr>
        <p:spPr>
          <a:xfrm>
            <a:off x="288000" y="821520"/>
            <a:ext cx="42811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549" name="Google Shape;690;p79"/>
          <p:cNvSpPr/>
          <p:nvPr/>
        </p:nvSpPr>
        <p:spPr>
          <a:xfrm>
            <a:off x="348480" y="128772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50" name="Google Shape;691;p79"/>
          <p:cNvSpPr/>
          <p:nvPr/>
        </p:nvSpPr>
        <p:spPr>
          <a:xfrm>
            <a:off x="348480" y="201276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51" name="Google Shape;692;p79"/>
          <p:cNvSpPr/>
          <p:nvPr/>
        </p:nvSpPr>
        <p:spPr>
          <a:xfrm>
            <a:off x="348480" y="273744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52" name="Google Shape;693;p79"/>
          <p:cNvSpPr/>
          <p:nvPr/>
        </p:nvSpPr>
        <p:spPr>
          <a:xfrm>
            <a:off x="348480" y="346212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53" name="Google Shape;694;p79"/>
          <p:cNvSpPr/>
          <p:nvPr/>
        </p:nvSpPr>
        <p:spPr>
          <a:xfrm>
            <a:off x="348480" y="4187160"/>
            <a:ext cx="4220280" cy="724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54" name="TextBox 694"/>
          <p:cNvSpPr/>
          <p:nvPr/>
        </p:nvSpPr>
        <p:spPr>
          <a:xfrm>
            <a:off x="640080" y="365760"/>
            <a:ext cx="6418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47. Як будувати перевірку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695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Зібрати серію публікацій.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Окреслити часовий профіль.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Порівняти тексти між акаунтами.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Подивитись на інфраструктуру.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Звірити взаємодію з іншими акаунтами.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повторювані контури поведінки.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699;p80"/>
          <p:cNvSpPr/>
          <p:nvPr/>
        </p:nvSpPr>
        <p:spPr>
          <a:xfrm>
            <a:off x="348480" y="1221480"/>
            <a:ext cx="8392320" cy="284616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Google Shape;700;p80"/>
          <p:cNvSpPr/>
          <p:nvPr/>
        </p:nvSpPr>
        <p:spPr>
          <a:xfrm>
            <a:off x="348480" y="4068000"/>
            <a:ext cx="8399160" cy="72432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558" name="Google Shape;701;p80"/>
          <p:cNvGraphicFramePr/>
          <p:nvPr/>
        </p:nvGraphicFramePr>
        <p:xfrm>
          <a:off x="709920" y="1562040"/>
          <a:ext cx="7669800" cy="2199240"/>
        </p:xfrm>
        <a:graphic>
          <a:graphicData uri="http://schemas.openxmlformats.org/drawingml/2006/table">
            <a:tbl>
              <a:tblPr/>
              <a:tblGrid>
                <a:gridCol w="3834720"/>
                <a:gridCol w="3834720"/>
              </a:tblGrid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Зразок (MH17, Скрипалі, Bucha, Pandora, Bybit)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Провал (Boston 2013)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Багато незалежних джерел сходяться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Одна поверхнева схожість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Методологія документована покроково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Натовп без методу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Верифікація перед публікацією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Швидкість поперед усього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Альтернативи перевірені (ACH)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Підтвердили те, що хотіли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Чесність про невизначеність (Аль-Ахлі)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Категоричність без підстав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Відповідальна особа за висновок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Колективна безвідповідальність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59" name="Google Shape;702;p80"/>
          <p:cNvSpPr/>
          <p:nvPr/>
        </p:nvSpPr>
        <p:spPr>
          <a:xfrm>
            <a:off x="288000" y="174960"/>
            <a:ext cx="948852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9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60" name="TextBox 702"/>
          <p:cNvSpPr/>
          <p:nvPr/>
        </p:nvSpPr>
        <p:spPr>
          <a:xfrm>
            <a:off x="640080" y="365760"/>
            <a:ext cx="7869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48. Bot detection і інфраструктура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703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На що дивитись поза контентом: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домени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хостинг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DNS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IP-діапазони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спільні шаблони веб-ресурсів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707;p81"/>
          <p:cNvSpPr/>
          <p:nvPr/>
        </p:nvSpPr>
        <p:spPr>
          <a:xfrm>
            <a:off x="10585800" y="12736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3" name="Google Shape;708;p81"/>
          <p:cNvSpPr/>
          <p:nvPr/>
        </p:nvSpPr>
        <p:spPr>
          <a:xfrm>
            <a:off x="10389960" y="1800360"/>
            <a:ext cx="731880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4" name="Google Shape;709;p81"/>
          <p:cNvSpPr/>
          <p:nvPr/>
        </p:nvSpPr>
        <p:spPr>
          <a:xfrm>
            <a:off x="10389960" y="1384920"/>
            <a:ext cx="70520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65" name="Google Shape;710;p81"/>
          <p:cNvSpPr/>
          <p:nvPr/>
        </p:nvSpPr>
        <p:spPr>
          <a:xfrm>
            <a:off x="288000" y="174960"/>
            <a:ext cx="7976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66" name="Google Shape;711;p81"/>
          <p:cNvSpPr/>
          <p:nvPr/>
        </p:nvSpPr>
        <p:spPr>
          <a:xfrm>
            <a:off x="383040" y="1007280"/>
            <a:ext cx="2778120" cy="185076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Google Shape;712;p81"/>
          <p:cNvSpPr/>
          <p:nvPr/>
        </p:nvSpPr>
        <p:spPr>
          <a:xfrm>
            <a:off x="526680" y="1162440"/>
            <a:ext cx="263448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68" name="Google Shape;713;p81"/>
          <p:cNvSpPr/>
          <p:nvPr/>
        </p:nvSpPr>
        <p:spPr>
          <a:xfrm>
            <a:off x="3159000" y="1007280"/>
            <a:ext cx="2778120" cy="185076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714;p81"/>
          <p:cNvSpPr/>
          <p:nvPr/>
        </p:nvSpPr>
        <p:spPr>
          <a:xfrm>
            <a:off x="3302640" y="1194120"/>
            <a:ext cx="2634480" cy="14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70" name="Google Shape;715;p81"/>
          <p:cNvSpPr/>
          <p:nvPr/>
        </p:nvSpPr>
        <p:spPr>
          <a:xfrm>
            <a:off x="5937480" y="1007280"/>
            <a:ext cx="2778120" cy="185076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716;p81"/>
          <p:cNvSpPr/>
          <p:nvPr/>
        </p:nvSpPr>
        <p:spPr>
          <a:xfrm>
            <a:off x="6081120" y="1194480"/>
            <a:ext cx="2634480" cy="14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72" name="Google Shape;717;p81"/>
          <p:cNvSpPr/>
          <p:nvPr/>
        </p:nvSpPr>
        <p:spPr>
          <a:xfrm>
            <a:off x="383040" y="2858400"/>
            <a:ext cx="4168080" cy="185076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718;p81"/>
          <p:cNvSpPr/>
          <p:nvPr/>
        </p:nvSpPr>
        <p:spPr>
          <a:xfrm>
            <a:off x="598680" y="3111480"/>
            <a:ext cx="395280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74" name="Google Shape;719;p81"/>
          <p:cNvSpPr/>
          <p:nvPr/>
        </p:nvSpPr>
        <p:spPr>
          <a:xfrm>
            <a:off x="4547520" y="2858400"/>
            <a:ext cx="4168080" cy="185076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720;p81"/>
          <p:cNvSpPr/>
          <p:nvPr/>
        </p:nvSpPr>
        <p:spPr>
          <a:xfrm>
            <a:off x="4763160" y="3111480"/>
            <a:ext cx="3952800" cy="11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76" name="TextBox 720"/>
          <p:cNvSpPr/>
          <p:nvPr/>
        </p:nvSpPr>
        <p:spPr>
          <a:xfrm>
            <a:off x="640080" y="365760"/>
            <a:ext cx="10130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49. Synthetic case: coordinated account cluster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721"/>
          <p:cNvSpPr/>
          <p:nvPr/>
        </p:nvSpPr>
        <p:spPr>
          <a:xfrm>
            <a:off x="731520" y="1463040"/>
            <a:ext cx="107895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десять акаунтів різних країн постять схожі меседжі в один і той самий час.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аналізувати: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синхронність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спільні фрази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однакові посилання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крос-платформені сліди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Висновок: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може бути бот-мережа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може бути напівручна координація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це може бути кампанія впливу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725;p82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Google Shape;726;p82"/>
          <p:cNvSpPr/>
          <p:nvPr/>
        </p:nvSpPr>
        <p:spPr>
          <a:xfrm>
            <a:off x="288000" y="174960"/>
            <a:ext cx="7976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80" name="Google Shape;727;p82"/>
          <p:cNvSpPr/>
          <p:nvPr/>
        </p:nvSpPr>
        <p:spPr>
          <a:xfrm>
            <a:off x="376200" y="821520"/>
            <a:ext cx="8379360" cy="817200"/>
          </a:xfrm>
          <a:prstGeom prst="roundRect">
            <a:avLst>
              <a:gd name="adj" fmla="val 28486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7200" tIns="97200" rIns="97200" bIns="972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Google Shape;728;p82"/>
          <p:cNvSpPr/>
          <p:nvPr/>
        </p:nvSpPr>
        <p:spPr>
          <a:xfrm>
            <a:off x="639000" y="860760"/>
            <a:ext cx="79765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82" name="Google Shape;729;p82"/>
          <p:cNvSpPr/>
          <p:nvPr/>
        </p:nvSpPr>
        <p:spPr>
          <a:xfrm>
            <a:off x="483480" y="1685160"/>
            <a:ext cx="42811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83" name="Google Shape;730;p82"/>
          <p:cNvSpPr/>
          <p:nvPr/>
        </p:nvSpPr>
        <p:spPr>
          <a:xfrm>
            <a:off x="38304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731;p82"/>
          <p:cNvSpPr/>
          <p:nvPr/>
        </p:nvSpPr>
        <p:spPr>
          <a:xfrm>
            <a:off x="526680" y="225504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85" name="Google Shape;732;p82"/>
          <p:cNvSpPr/>
          <p:nvPr/>
        </p:nvSpPr>
        <p:spPr>
          <a:xfrm>
            <a:off x="315900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Google Shape;733;p82"/>
          <p:cNvSpPr/>
          <p:nvPr/>
        </p:nvSpPr>
        <p:spPr>
          <a:xfrm>
            <a:off x="3302640" y="225504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87" name="Google Shape;734;p82"/>
          <p:cNvSpPr/>
          <p:nvPr/>
        </p:nvSpPr>
        <p:spPr>
          <a:xfrm>
            <a:off x="5937480" y="2124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Google Shape;735;p82"/>
          <p:cNvSpPr/>
          <p:nvPr/>
        </p:nvSpPr>
        <p:spPr>
          <a:xfrm>
            <a:off x="6081120" y="2193480"/>
            <a:ext cx="2634480" cy="12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89" name="Google Shape;736;p82"/>
          <p:cNvSpPr/>
          <p:nvPr/>
        </p:nvSpPr>
        <p:spPr>
          <a:xfrm>
            <a:off x="383040" y="3417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Google Shape;737;p82"/>
          <p:cNvSpPr/>
          <p:nvPr/>
        </p:nvSpPr>
        <p:spPr>
          <a:xfrm>
            <a:off x="598680" y="3593880"/>
            <a:ext cx="3952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91" name="Google Shape;738;p82"/>
          <p:cNvSpPr/>
          <p:nvPr/>
        </p:nvSpPr>
        <p:spPr>
          <a:xfrm>
            <a:off x="4547520" y="3417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Google Shape;739;p82"/>
          <p:cNvSpPr/>
          <p:nvPr/>
        </p:nvSpPr>
        <p:spPr>
          <a:xfrm>
            <a:off x="4763160" y="3593880"/>
            <a:ext cx="3952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93" name="TextBox 739"/>
          <p:cNvSpPr/>
          <p:nvPr/>
        </p:nvSpPr>
        <p:spPr>
          <a:xfrm>
            <a:off x="640080" y="365760"/>
            <a:ext cx="8388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50. Як не помилитися в bot detection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740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 робіть так: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називайте ботом кожен підозрілий акаунт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зводьте все до одного сигналу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не ігноруйте локальний контекст і мову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Робіть так: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перевіряйте повторюваність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дивіться на зв’язки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фіксуйте рівень впевненості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744;p83"/>
          <p:cNvSpPr/>
          <p:nvPr/>
        </p:nvSpPr>
        <p:spPr>
          <a:xfrm>
            <a:off x="287640" y="1644480"/>
            <a:ext cx="8571960" cy="3210120"/>
          </a:xfrm>
          <a:prstGeom prst="roundRect">
            <a:avLst>
              <a:gd name="adj" fmla="val 1552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Google Shape;745;p83"/>
          <p:cNvSpPr/>
          <p:nvPr/>
        </p:nvSpPr>
        <p:spPr>
          <a:xfrm>
            <a:off x="614520" y="1854720"/>
            <a:ext cx="79149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597" name="Google Shape;746;p83"/>
          <p:cNvSpPr/>
          <p:nvPr/>
        </p:nvSpPr>
        <p:spPr>
          <a:xfrm>
            <a:off x="288000" y="174960"/>
            <a:ext cx="7976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598" name="Google Shape;747;p83"/>
          <p:cNvSpPr/>
          <p:nvPr/>
        </p:nvSpPr>
        <p:spPr>
          <a:xfrm>
            <a:off x="288000" y="870120"/>
            <a:ext cx="4283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599" name="TextBox 747"/>
          <p:cNvSpPr/>
          <p:nvPr/>
        </p:nvSpPr>
        <p:spPr>
          <a:xfrm>
            <a:off x="640080" y="365760"/>
            <a:ext cx="9217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51. Коли bot detection стає OSINT-кейсом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748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Bot detection стає сильним кейсом тоді, коли: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 мережа, а не один акаунт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 повторюваний наратив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 інфраструктурний слід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є вплив на реальну подію або дискусію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8 — QGIS та геолокація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752;p84"/>
          <p:cNvSpPr/>
          <p:nvPr/>
        </p:nvSpPr>
        <p:spPr>
          <a:xfrm>
            <a:off x="483480" y="13888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753;p84"/>
          <p:cNvSpPr/>
          <p:nvPr/>
        </p:nvSpPr>
        <p:spPr>
          <a:xfrm>
            <a:off x="771480" y="1273320"/>
            <a:ext cx="7600320" cy="2477160"/>
          </a:xfrm>
          <a:prstGeom prst="roundRect">
            <a:avLst>
              <a:gd name="adj" fmla="val 9860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7200" tIns="97200" rIns="97200" bIns="972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Google Shape;754;p84"/>
          <p:cNvSpPr/>
          <p:nvPr/>
        </p:nvSpPr>
        <p:spPr>
          <a:xfrm>
            <a:off x="1118880" y="1538280"/>
            <a:ext cx="696600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6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04" name="TextBox 754"/>
          <p:cNvSpPr/>
          <p:nvPr/>
        </p:nvSpPr>
        <p:spPr>
          <a:xfrm>
            <a:off x="640080" y="365760"/>
            <a:ext cx="8247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52. Чому QGIS важливий для OSINT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755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QGIS дозволяє не просто дивитись на карту, а аналізувати простір.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Можна робити: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нанесення точок і маршрутів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геореференціювання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перевірку відстаней і орієнтирів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роботу з шарами даних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порівняння місця на фото з картою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99;p25"/>
          <p:cNvPicPr/>
          <p:nvPr/>
        </p:nvPicPr>
        <p:blipFill>
          <a:blip r:embed="rId1"/>
          <a:stretch/>
        </p:blipFill>
        <p:spPr>
          <a:xfrm>
            <a:off x="287640" y="2292480"/>
            <a:ext cx="1427040" cy="2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Google Shape;100;p25"/>
          <p:cNvSpPr/>
          <p:nvPr/>
        </p:nvSpPr>
        <p:spPr>
          <a:xfrm>
            <a:off x="496800" y="446040"/>
            <a:ext cx="7570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900" b="1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608" name="Google Shape;101;p25"/>
          <p:cNvSpPr/>
          <p:nvPr/>
        </p:nvSpPr>
        <p:spPr>
          <a:xfrm>
            <a:off x="348840" y="2250360"/>
            <a:ext cx="128016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IBM Plex Mono"/>
            </a:endParaRPr>
          </a:p>
        </p:txBody>
      </p:sp>
      <p:sp>
        <p:nvSpPr>
          <p:cNvPr id="609" name="Google Shape;102;p25"/>
          <p:cNvSpPr/>
          <p:nvPr/>
        </p:nvSpPr>
        <p:spPr>
          <a:xfrm>
            <a:off x="1715400" y="2282040"/>
            <a:ext cx="2436840" cy="2905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100" b="0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610" name="Google Shape;103;p25"/>
          <p:cNvSpPr/>
          <p:nvPr/>
        </p:nvSpPr>
        <p:spPr>
          <a:xfrm>
            <a:off x="190080" y="4185360"/>
            <a:ext cx="2995200" cy="8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2100" b="0" u="none" strike="noStrike">
              <a:solidFill>
                <a:schemeClr val="lt1"/>
              </a:solidFill>
              <a:effectLst/>
              <a:uFillTx/>
              <a:latin typeface="IBM Plex Mono"/>
            </a:endParaRPr>
          </a:p>
        </p:txBody>
      </p:sp>
      <p:sp>
        <p:nvSpPr>
          <p:cNvPr id="611" name="TextBox 103"/>
          <p:cNvSpPr/>
          <p:nvPr/>
        </p:nvSpPr>
        <p:spPr>
          <a:xfrm>
            <a:off x="640080" y="365760"/>
            <a:ext cx="7508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53. Базовий workflow геолокації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104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Витягнути всі видимі орієнтири.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Визначити напрям камери.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Зіставити з картою та супутником.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тіні й час доби.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Порівняти з альтернативними точками.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Зафіксувати рівень впевненості.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108;p26"/>
          <p:cNvSpPr/>
          <p:nvPr/>
        </p:nvSpPr>
        <p:spPr>
          <a:xfrm>
            <a:off x="4444560" y="501840"/>
            <a:ext cx="4210920" cy="41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300" b="1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614" name="Google Shape;109;p26"/>
          <p:cNvSpPr/>
          <p:nvPr/>
        </p:nvSpPr>
        <p:spPr>
          <a:xfrm>
            <a:off x="196200" y="1258560"/>
            <a:ext cx="3669120" cy="11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IBM Plex Sans"/>
            </a:endParaRPr>
          </a:p>
        </p:txBody>
      </p:sp>
      <p:sp>
        <p:nvSpPr>
          <p:cNvPr id="615" name="Google Shape;110;p26"/>
          <p:cNvSpPr/>
          <p:nvPr/>
        </p:nvSpPr>
        <p:spPr>
          <a:xfrm>
            <a:off x="196200" y="150480"/>
            <a:ext cx="41263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sp>
        <p:nvSpPr>
          <p:cNvPr id="616" name="TextBox 110"/>
          <p:cNvSpPr/>
          <p:nvPr/>
        </p:nvSpPr>
        <p:spPr>
          <a:xfrm>
            <a:off x="640080" y="365760"/>
            <a:ext cx="7034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54. Як використовувати QGIS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111"/>
          <p:cNvSpPr/>
          <p:nvPr/>
        </p:nvSpPr>
        <p:spPr>
          <a:xfrm>
            <a:off x="731520" y="1463040"/>
            <a:ext cx="10789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Початкові дії: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додати базові карти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створити шар точок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намалювати орієнтири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порівняти масштаб і перспективу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зберегти робочий проєкт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Практична користь: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швидко перевіряти кілька гіпотез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бачити, яка точка найкраще пояснює кадр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115;p27"/>
          <p:cNvSpPr/>
          <p:nvPr/>
        </p:nvSpPr>
        <p:spPr>
          <a:xfrm>
            <a:off x="287640" y="1145880"/>
            <a:ext cx="8571960" cy="3708720"/>
          </a:xfrm>
          <a:prstGeom prst="roundRect">
            <a:avLst>
              <a:gd name="adj" fmla="val 7197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9" name="Google Shape;116;p27"/>
          <p:cNvGraphicFramePr/>
          <p:nvPr/>
        </p:nvGraphicFramePr>
        <p:xfrm>
          <a:off x="692280" y="1363680"/>
          <a:ext cx="7758720" cy="3304800"/>
        </p:xfrm>
        <a:graphic>
          <a:graphicData uri="http://schemas.openxmlformats.org/drawingml/2006/table">
            <a:tbl>
              <a:tblPr/>
              <a:tblGrid>
                <a:gridCol w="1939320"/>
                <a:gridCol w="1940040"/>
                <a:gridCol w="1939320"/>
                <a:gridCol w="194004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Блок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Уроки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Ключова навичка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 ArkhamMirror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Основи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01–02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OSINT-цикл, GenAI, промптинг, RAG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Search, Embeddings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Верифікація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Дипфейки, форензика зображень/відео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Forensics, Provenance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Збір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04, 07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Соцмережі, скрапінг, API, пайплайни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Ingest, OCR, Parse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Зв'язки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05–06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Entity resolution, графи знань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Entities, Graph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Патерни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09–10, 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Кластеризація, тренди, real-time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Patterns, Anomalies, Timeline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Продукт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11, 14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Звіти, шаблони, візуалізація, агенти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Reports, Letters, Summary, 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Дисципліна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13, 14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Bias, право, етика, ACH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ACH, Credibility, Claims, Contradictions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20" name="Google Shape;117;p27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21" name="TextBox 117"/>
          <p:cNvSpPr/>
          <p:nvPr/>
        </p:nvSpPr>
        <p:spPr>
          <a:xfrm>
            <a:off x="640080" y="365760"/>
            <a:ext cx="10265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54. Як використовувати QGIS (продовження 2)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18"/>
          <p:cNvSpPr/>
          <p:nvPr/>
        </p:nvSpPr>
        <p:spPr>
          <a:xfrm>
            <a:off x="731520" y="1463040"/>
            <a:ext cx="10789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будувати карту доказів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122;p28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24" name="Google Shape;123;p28"/>
          <p:cNvSpPr/>
          <p:nvPr/>
        </p:nvSpPr>
        <p:spPr>
          <a:xfrm>
            <a:off x="348480" y="82152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25" name="Google Shape;124;p28"/>
          <p:cNvSpPr/>
          <p:nvPr/>
        </p:nvSpPr>
        <p:spPr>
          <a:xfrm>
            <a:off x="348480" y="1921680"/>
            <a:ext cx="56865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626" name="Google Shape;125;p28"/>
          <p:cNvSpPr/>
          <p:nvPr/>
        </p:nvSpPr>
        <p:spPr>
          <a:xfrm>
            <a:off x="432720" y="232200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27" name="Google Shape;126;p28"/>
          <p:cNvSpPr/>
          <p:nvPr/>
        </p:nvSpPr>
        <p:spPr>
          <a:xfrm>
            <a:off x="432720" y="284868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28" name="Google Shape;127;p28"/>
          <p:cNvSpPr/>
          <p:nvPr/>
        </p:nvSpPr>
        <p:spPr>
          <a:xfrm>
            <a:off x="432720" y="336096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29" name="Google Shape;128;p28"/>
          <p:cNvSpPr/>
          <p:nvPr/>
        </p:nvSpPr>
        <p:spPr>
          <a:xfrm>
            <a:off x="432720" y="388764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30" name="Google Shape;129;p28"/>
          <p:cNvSpPr/>
          <p:nvPr/>
        </p:nvSpPr>
        <p:spPr>
          <a:xfrm>
            <a:off x="432720" y="4399920"/>
            <a:ext cx="8399160" cy="5263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pic>
        <p:nvPicPr>
          <p:cNvPr id="631" name="Google Shape;130;p28"/>
          <p:cNvPicPr/>
          <p:nvPr/>
        </p:nvPicPr>
        <p:blipFill>
          <a:blip r:embed="rId1"/>
          <a:stretch/>
        </p:blipFill>
        <p:spPr>
          <a:xfrm>
            <a:off x="6948360" y="455760"/>
            <a:ext cx="1577880" cy="98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TextBox 130"/>
          <p:cNvSpPr/>
          <p:nvPr/>
        </p:nvSpPr>
        <p:spPr>
          <a:xfrm>
            <a:off x="640080" y="365760"/>
            <a:ext cx="5495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55. QGIS і фото/відео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131"/>
          <p:cNvSpPr/>
          <p:nvPr/>
        </p:nvSpPr>
        <p:spPr>
          <a:xfrm>
            <a:off x="731520" y="1463040"/>
            <a:ext cx="107895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Для фото та відео в QGIS корисно: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накладати геоприв’язані шари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звіряти орієнтацію будівель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перевіряти кут сонця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використовувати супутникову підкладку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135;p29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35" name="Google Shape;136;p29"/>
          <p:cNvSpPr/>
          <p:nvPr/>
        </p:nvSpPr>
        <p:spPr>
          <a:xfrm>
            <a:off x="348480" y="82152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36" name="Google Shape;137;p29"/>
          <p:cNvSpPr/>
          <p:nvPr/>
        </p:nvSpPr>
        <p:spPr>
          <a:xfrm>
            <a:off x="38304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138;p29"/>
          <p:cNvSpPr/>
          <p:nvPr/>
        </p:nvSpPr>
        <p:spPr>
          <a:xfrm>
            <a:off x="526680" y="15775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38" name="Google Shape;139;p29"/>
          <p:cNvSpPr/>
          <p:nvPr/>
        </p:nvSpPr>
        <p:spPr>
          <a:xfrm>
            <a:off x="315900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140;p29"/>
          <p:cNvSpPr/>
          <p:nvPr/>
        </p:nvSpPr>
        <p:spPr>
          <a:xfrm>
            <a:off x="3302640" y="157752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640" name="Google Shape;141;p29"/>
          <p:cNvSpPr/>
          <p:nvPr/>
        </p:nvSpPr>
        <p:spPr>
          <a:xfrm>
            <a:off x="5937480" y="14007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Google Shape;142;p29"/>
          <p:cNvSpPr/>
          <p:nvPr/>
        </p:nvSpPr>
        <p:spPr>
          <a:xfrm>
            <a:off x="6081120" y="157752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42" name="Google Shape;143;p29"/>
          <p:cNvSpPr/>
          <p:nvPr/>
        </p:nvSpPr>
        <p:spPr>
          <a:xfrm>
            <a:off x="38304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Google Shape;144;p29"/>
          <p:cNvSpPr/>
          <p:nvPr/>
        </p:nvSpPr>
        <p:spPr>
          <a:xfrm>
            <a:off x="526680" y="28699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44" name="Google Shape;145;p29"/>
          <p:cNvSpPr/>
          <p:nvPr/>
        </p:nvSpPr>
        <p:spPr>
          <a:xfrm>
            <a:off x="315900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Google Shape;146;p29"/>
          <p:cNvSpPr/>
          <p:nvPr/>
        </p:nvSpPr>
        <p:spPr>
          <a:xfrm>
            <a:off x="3302640" y="286992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46" name="Google Shape;147;p29"/>
          <p:cNvSpPr/>
          <p:nvPr/>
        </p:nvSpPr>
        <p:spPr>
          <a:xfrm>
            <a:off x="5937480" y="269316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148;p29"/>
          <p:cNvSpPr/>
          <p:nvPr/>
        </p:nvSpPr>
        <p:spPr>
          <a:xfrm>
            <a:off x="6081120" y="286992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648" name="Google Shape;149;p29"/>
          <p:cNvSpPr/>
          <p:nvPr/>
        </p:nvSpPr>
        <p:spPr>
          <a:xfrm>
            <a:off x="348480" y="3954960"/>
            <a:ext cx="8399160" cy="77652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49" name="TextBox 149"/>
          <p:cNvSpPr/>
          <p:nvPr/>
        </p:nvSpPr>
        <p:spPr>
          <a:xfrm>
            <a:off x="640080" y="365760"/>
            <a:ext cx="8203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56. Synthetic case: from pixel to map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150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Synthetic example: є кадр з перехрестям, магазином і рекламним щитом.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Кроки: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знайти всі об’єкти на зображенні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звірити форму перехрестя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перевірити розміщення знаків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знайти збіг у супутниковому шарі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підтвердити геолокацію через кілька ознак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154;p30"/>
          <p:cNvPicPr/>
          <p:nvPr/>
        </p:nvPicPr>
        <p:blipFill>
          <a:blip r:embed="rId1"/>
          <a:stretch/>
        </p:blipFill>
        <p:spPr>
          <a:xfrm rot="20982600">
            <a:off x="2367000" y="2361600"/>
            <a:ext cx="440892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Google Shape;155;p30"/>
          <p:cNvSpPr/>
          <p:nvPr/>
        </p:nvSpPr>
        <p:spPr>
          <a:xfrm>
            <a:off x="66600" y="920520"/>
            <a:ext cx="914364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3600" b="1" u="none" strike="noStrike">
              <a:solidFill>
                <a:srgbClr val="076CFC"/>
              </a:solidFill>
              <a:effectLst/>
              <a:uFillTx/>
              <a:latin typeface="IBM Plex Mono"/>
            </a:endParaRPr>
          </a:p>
        </p:txBody>
      </p:sp>
      <p:sp>
        <p:nvSpPr>
          <p:cNvPr id="653" name="TextBox 155"/>
          <p:cNvSpPr/>
          <p:nvPr/>
        </p:nvSpPr>
        <p:spPr>
          <a:xfrm>
            <a:off x="640080" y="365760"/>
            <a:ext cx="7878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57. Геолокація і безпека висновку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156"/>
          <p:cNvSpPr/>
          <p:nvPr/>
        </p:nvSpPr>
        <p:spPr>
          <a:xfrm>
            <a:off x="731520" y="1463040"/>
            <a:ext cx="107895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потрібно зазначати в звіті: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точка або зона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джерела підтвердження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слабкі місця висновку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альтернативні варіанти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рівень впевненості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## Частина 9 — Синтез і завершення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160;p31"/>
          <p:cNvSpPr/>
          <p:nvPr/>
        </p:nvSpPr>
        <p:spPr>
          <a:xfrm>
            <a:off x="348480" y="1809720"/>
            <a:ext cx="4201560" cy="2918880"/>
          </a:xfrm>
          <a:prstGeom prst="roundRect">
            <a:avLst>
              <a:gd name="adj" fmla="val 5195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161;p31"/>
          <p:cNvSpPr/>
          <p:nvPr/>
        </p:nvSpPr>
        <p:spPr>
          <a:xfrm>
            <a:off x="4546080" y="1809720"/>
            <a:ext cx="4201560" cy="2918880"/>
          </a:xfrm>
          <a:prstGeom prst="roundRect">
            <a:avLst>
              <a:gd name="adj" fmla="val 7491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162;p31"/>
          <p:cNvSpPr/>
          <p:nvPr/>
        </p:nvSpPr>
        <p:spPr>
          <a:xfrm>
            <a:off x="4607640" y="1870920"/>
            <a:ext cx="407844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58" name="Google Shape;163;p31"/>
          <p:cNvSpPr/>
          <p:nvPr/>
        </p:nvSpPr>
        <p:spPr>
          <a:xfrm>
            <a:off x="288000" y="174960"/>
            <a:ext cx="115678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59" name="Google Shape;164;p31"/>
          <p:cNvSpPr/>
          <p:nvPr/>
        </p:nvSpPr>
        <p:spPr>
          <a:xfrm>
            <a:off x="348480" y="821520"/>
            <a:ext cx="8399160" cy="988200"/>
          </a:xfrm>
          <a:prstGeom prst="roundRect">
            <a:avLst>
              <a:gd name="adj" fmla="val 17076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60" name="Google Shape;165;p31"/>
          <p:cNvSpPr/>
          <p:nvPr/>
        </p:nvSpPr>
        <p:spPr>
          <a:xfrm>
            <a:off x="444960" y="1870920"/>
            <a:ext cx="4104720" cy="23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661" name="TextBox 165"/>
          <p:cNvSpPr/>
          <p:nvPr/>
        </p:nvSpPr>
        <p:spPr>
          <a:xfrm>
            <a:off x="640080" y="365760"/>
            <a:ext cx="9373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58. Як усе це з’єднується в один workflow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166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Універсальний ланцюг OSINT-проєкту: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Збір даних через scraper або ручне архівування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Оцінка ризику та невизначеності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Графова перевірка зв’язків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Верифікація зображень і медіа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Поведінкові сигнали та бот-аналіз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Геолокація та карта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Підготовка висновку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170;p32"/>
          <p:cNvSpPr/>
          <p:nvPr/>
        </p:nvSpPr>
        <p:spPr>
          <a:xfrm>
            <a:off x="348480" y="1809720"/>
            <a:ext cx="8392320" cy="291888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4" name="Google Shape;171;p32"/>
          <p:cNvGraphicFramePr/>
          <p:nvPr/>
        </p:nvGraphicFramePr>
        <p:xfrm>
          <a:off x="687600" y="1974240"/>
          <a:ext cx="7714080" cy="2798640"/>
        </p:xfrm>
        <a:graphic>
          <a:graphicData uri="http://schemas.openxmlformats.org/drawingml/2006/table">
            <a:tbl>
              <a:tblPr/>
              <a:tblGrid>
                <a:gridCol w="2570760"/>
                <a:gridCol w="2571480"/>
                <a:gridCol w="2571480"/>
              </a:tblGrid>
              <a:tr h="229680"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Група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Шарди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Етап циклу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Ingest · OCR · Parse · Documents · Embed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Збір + Обробка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Search (semantic/keyword/hybrid) · Embeddings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Доступ до корпусу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124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ANALYSIS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Claims · Contradictions · ACH · Entities · Credibility · Provenance · Patterns · Anomalies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Аналіз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VISUALIZE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Graph (force + geospatial) · Timeline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Інтерпретація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5280"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Reports · Letters · Packets · Summary · Templates · Export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Поширення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65" name="Google Shape;172;p32"/>
          <p:cNvSpPr/>
          <p:nvPr/>
        </p:nvSpPr>
        <p:spPr>
          <a:xfrm>
            <a:off x="387000" y="1283040"/>
            <a:ext cx="66726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076CFC"/>
              </a:solidFill>
              <a:effectLst/>
              <a:uFillTx/>
              <a:latin typeface="IBM Plex Sans"/>
            </a:endParaRPr>
          </a:p>
        </p:txBody>
      </p:sp>
      <p:sp>
        <p:nvSpPr>
          <p:cNvPr id="666" name="Google Shape;173;p32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pic>
        <p:nvPicPr>
          <p:cNvPr id="667" name="Google Shape;174;p32"/>
          <p:cNvPicPr/>
          <p:nvPr/>
        </p:nvPicPr>
        <p:blipFill>
          <a:blip r:embed="rId1"/>
          <a:stretch/>
        </p:blipFill>
        <p:spPr>
          <a:xfrm>
            <a:off x="6842520" y="75600"/>
            <a:ext cx="1897920" cy="189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TextBox 174"/>
          <p:cNvSpPr/>
          <p:nvPr/>
        </p:nvSpPr>
        <p:spPr>
          <a:xfrm>
            <a:off x="640080" y="365760"/>
            <a:ext cx="8493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59. Як оцінювати якість своєї роботи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75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Перед публікацією перевірте: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є у мене хоча б два незалежні джерела?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відрізняю я сигнал від висновку?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вказав я рівень впевненості?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не переплутав я гіпотезу з фактом?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чи можу я повторити цей висновок через місяць?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179;p33"/>
          <p:cNvSpPr/>
          <p:nvPr/>
        </p:nvSpPr>
        <p:spPr>
          <a:xfrm>
            <a:off x="288000" y="174960"/>
            <a:ext cx="7976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71" name="Google Shape;180;p33"/>
          <p:cNvSpPr/>
          <p:nvPr/>
        </p:nvSpPr>
        <p:spPr>
          <a:xfrm>
            <a:off x="38304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181;p33"/>
          <p:cNvSpPr/>
          <p:nvPr/>
        </p:nvSpPr>
        <p:spPr>
          <a:xfrm>
            <a:off x="526680" y="1356480"/>
            <a:ext cx="263448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73" name="Google Shape;182;p33"/>
          <p:cNvSpPr/>
          <p:nvPr/>
        </p:nvSpPr>
        <p:spPr>
          <a:xfrm>
            <a:off x="315900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Google Shape;183;p33"/>
          <p:cNvSpPr/>
          <p:nvPr/>
        </p:nvSpPr>
        <p:spPr>
          <a:xfrm>
            <a:off x="3302640" y="1356480"/>
            <a:ext cx="2634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75" name="Google Shape;184;p33"/>
          <p:cNvSpPr/>
          <p:nvPr/>
        </p:nvSpPr>
        <p:spPr>
          <a:xfrm>
            <a:off x="5937480" y="1179720"/>
            <a:ext cx="277812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Google Shape;185;p33"/>
          <p:cNvSpPr/>
          <p:nvPr/>
        </p:nvSpPr>
        <p:spPr>
          <a:xfrm>
            <a:off x="6081120" y="1356480"/>
            <a:ext cx="26344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77" name="Google Shape;186;p33"/>
          <p:cNvSpPr/>
          <p:nvPr/>
        </p:nvSpPr>
        <p:spPr>
          <a:xfrm>
            <a:off x="383040" y="2472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187;p33"/>
          <p:cNvSpPr/>
          <p:nvPr/>
        </p:nvSpPr>
        <p:spPr>
          <a:xfrm>
            <a:off x="598680" y="2648880"/>
            <a:ext cx="3952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79" name="Google Shape;188;p33"/>
          <p:cNvSpPr/>
          <p:nvPr/>
        </p:nvSpPr>
        <p:spPr>
          <a:xfrm>
            <a:off x="4547520" y="2472120"/>
            <a:ext cx="4168080" cy="1292040"/>
          </a:xfrm>
          <a:prstGeom prst="roundRect">
            <a:avLst>
              <a:gd name="adj" fmla="val 16319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189;p33"/>
          <p:cNvSpPr/>
          <p:nvPr/>
        </p:nvSpPr>
        <p:spPr>
          <a:xfrm>
            <a:off x="4763160" y="2648880"/>
            <a:ext cx="3952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64440" rIns="64440" bIns="64440" anchor="t">
            <a:sp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81" name="Google Shape;190;p33"/>
          <p:cNvSpPr/>
          <p:nvPr/>
        </p:nvSpPr>
        <p:spPr>
          <a:xfrm>
            <a:off x="7962840" y="932040"/>
            <a:ext cx="7489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82" name="Google Shape;191;p33"/>
          <p:cNvSpPr/>
          <p:nvPr/>
        </p:nvSpPr>
        <p:spPr>
          <a:xfrm>
            <a:off x="348480" y="376452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83" name="TextBox 191"/>
          <p:cNvSpPr/>
          <p:nvPr/>
        </p:nvSpPr>
        <p:spPr>
          <a:xfrm>
            <a:off x="640080" y="365760"/>
            <a:ext cx="6815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60. Фінальний чекліст курсу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192"/>
          <p:cNvSpPr/>
          <p:nvPr/>
        </p:nvSpPr>
        <p:spPr>
          <a:xfrm>
            <a:off x="731520" y="1463040"/>
            <a:ext cx="107895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Після всього курсу ви маєте вміти: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оцінювати ризик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будувати графи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збирати та нормалізувати дані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перевіряти зображення і відео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виявляти ботів і координацію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робити геолокацію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пояснювати висновок просто і чесно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196;p34"/>
          <p:cNvSpPr/>
          <p:nvPr/>
        </p:nvSpPr>
        <p:spPr>
          <a:xfrm>
            <a:off x="348480" y="2424240"/>
            <a:ext cx="8399160" cy="2304720"/>
          </a:xfrm>
          <a:prstGeom prst="roundRect">
            <a:avLst>
              <a:gd name="adj" fmla="val 10404"/>
            </a:avLst>
          </a:prstGeom>
          <a:solidFill>
            <a:srgbClr val="28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920" tIns="70920" rIns="70920" bIns="70920" anchor="ctr">
            <a:noAutofit/>
          </a:bodyPr>
          <a:p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Google Shape;197;p34"/>
          <p:cNvSpPr/>
          <p:nvPr/>
        </p:nvSpPr>
        <p:spPr>
          <a:xfrm>
            <a:off x="396720" y="1943280"/>
            <a:ext cx="77587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7" name="Google Shape;198;p34"/>
          <p:cNvGraphicFramePr/>
          <p:nvPr/>
        </p:nvGraphicFramePr>
        <p:xfrm>
          <a:off x="629280" y="2678040"/>
          <a:ext cx="5429520" cy="1996920"/>
        </p:xfrm>
        <a:graphic>
          <a:graphicData uri="http://schemas.openxmlformats.org/drawingml/2006/table">
            <a:tbl>
              <a:tblPr/>
              <a:tblGrid>
                <a:gridCol w="2714760"/>
                <a:gridCol w="2714760"/>
              </a:tblGrid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Ризик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Рішення платформи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76CFC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Витік PII в комерційний LLM-API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Локальна LLM через Ollama, ARKHAM_OFFLINE_MODE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Дані залишають вашу юрисдикцію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Усе в локальному PostgreSQL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Неможливість відтворити аналіз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EventBus логує кожну подію + версію моделі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2600"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C2PA / підробка медіа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2720" tIns="34920" rIns="72720" bIns="349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 Forensics перевіряє підписи локально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2720" marR="72720" marT="34920" marB="34920">
                    <a:lnL>
                      <a:noFill/>
                    </a:lnL>
                    <a:lnR>
                      <a:noFill/>
                    </a:lnR>
                    <a:lnT w="6480">
                      <a:solidFill>
                        <a:srgbClr val="434343"/>
                      </a:solidFill>
                      <a:prstDash val="solid"/>
                    </a:lnT>
                    <a:lnB w="6480">
                      <a:solidFill>
                        <a:srgbClr val="434343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88" name="Google Shape;199;p34"/>
          <p:cNvSpPr/>
          <p:nvPr/>
        </p:nvSpPr>
        <p:spPr>
          <a:xfrm>
            <a:off x="6214680" y="2837880"/>
            <a:ext cx="23742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IBM Plex Sans"/>
            </a:endParaRPr>
          </a:p>
        </p:txBody>
      </p:sp>
      <p:sp>
        <p:nvSpPr>
          <p:cNvPr id="689" name="Google Shape;200;p34"/>
          <p:cNvSpPr/>
          <p:nvPr/>
        </p:nvSpPr>
        <p:spPr>
          <a:xfrm>
            <a:off x="288000" y="174960"/>
            <a:ext cx="79765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endParaRPr lang="en-US" sz="3000" b="0" u="none" strike="noStrike">
              <a:solidFill>
                <a:srgbClr val="FFFFFF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690" name="Google Shape;201;p34"/>
          <p:cNvSpPr/>
          <p:nvPr/>
        </p:nvSpPr>
        <p:spPr>
          <a:xfrm>
            <a:off x="348480" y="1283040"/>
            <a:ext cx="8399160" cy="578880"/>
          </a:xfrm>
          <a:prstGeom prst="roundRect">
            <a:avLst>
              <a:gd name="adj" fmla="val 50000"/>
            </a:avLst>
          </a:prstGeom>
          <a:solidFill>
            <a:srgbClr val="076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IBM Plex Sans"/>
            </a:endParaRPr>
          </a:p>
        </p:txBody>
      </p:sp>
      <p:sp>
        <p:nvSpPr>
          <p:cNvPr id="691" name="TextBox 201"/>
          <p:cNvSpPr/>
          <p:nvPr/>
        </p:nvSpPr>
        <p:spPr>
          <a:xfrm>
            <a:off x="640080" y="365760"/>
            <a:ext cx="5238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E8E8E8"/>
                </a:solidFill>
                <a:effectLst/>
                <a:uFillTx/>
                <a:latin typeface="Arial"/>
                <a:ea typeface="Arial"/>
              </a:rPr>
              <a:t>Слайд 61. Заключне слово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202"/>
          <p:cNvSpPr/>
          <p:nvPr/>
        </p:nvSpPr>
        <p:spPr>
          <a:xfrm>
            <a:off x="731520" y="1463040"/>
            <a:ext cx="10789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Головна ідея підсумкового уроку: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забираєте з собою: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інструменти не мислять за вас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AI не звільняє від перевірки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карта, граф і таблиця — це різні мови однієї реальності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• хороший висновок завжди знає межі своєї впевненості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2026-06-11T12:03:12Z</dcterms:modified>
  <cp:revision>1</cp:revision>
  <dc:subject/>
  <dc:title/>
</cp:coreProperties>
</file>