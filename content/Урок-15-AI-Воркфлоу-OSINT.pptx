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8.xml" ContentType="application/vnd.openxmlformats-officedocument.presentationml.slide+xml"/>
  <Override PartName="/ppt/slides/slide24.xml" ContentType="application/vnd.openxmlformats-officedocument.presentationml.slide+xml"/>
  <Override PartName="/ppt/slides/slide10.xml" ContentType="application/vnd.openxmlformats-officedocument.presentationml.slide+xml"/>
  <Override PartName="/ppt/slides/slide6.xml" ContentType="application/vnd.openxmlformats-officedocument.presentationml.slide+xml"/>
  <Override PartName="/ppt/slides/slide23.xml" ContentType="application/vnd.openxmlformats-officedocument.presentationml.slide+xml"/>
  <Override PartName="/ppt/slides/slide22.xml" ContentType="application/vnd.openxmlformats-officedocument.presentationml.slide+xml"/>
  <Override PartName="/ppt/slides/slide5.xml" ContentType="application/vnd.openxmlformats-officedocument.presentationml.slide+xml"/>
  <Override PartName="/ppt/slides/slide11.xml" ContentType="application/vnd.openxmlformats-officedocument.presentationml.slide+xml"/>
  <Override PartName="/ppt/slides/slide19.xml" ContentType="application/vnd.openxmlformats-officedocument.presentationml.slide+xml"/>
  <Override PartName="/ppt/slides/slide12.xml" ContentType="application/vnd.openxmlformats-officedocument.presentationml.slide+xml"/>
  <Override PartName="/ppt/slides/slide27.xml" ContentType="application/vnd.openxmlformats-officedocument.presentationml.slide+xml"/>
  <Override PartName="/ppt/slides/slide26.xml" ContentType="application/vnd.openxmlformats-officedocument.presentationml.slide+xml"/>
  <Override PartName="/ppt/slides/slide14.xml" ContentType="application/vnd.openxmlformats-officedocument.presentationml.slide+xml"/>
  <Override PartName="/ppt/slides/slide25.xml" ContentType="application/vnd.openxmlformats-officedocument.presentationml.slide+xml"/>
  <Override PartName="/ppt/slides/slide21.xml" ContentType="application/vnd.openxmlformats-officedocument.presentationml.slide+xml"/>
  <Override PartName="/ppt/slides/slide15.xml" ContentType="application/vnd.openxmlformats-officedocument.presentationml.slide+xml"/>
  <Override PartName="/ppt/slides/slide3.xml" ContentType="application/vnd.openxmlformats-officedocument.presentationml.slide+xml"/>
  <Override PartName="/ppt/slides/slide20.xml" ContentType="application/vnd.openxmlformats-officedocument.presentationml.slide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7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13.xml" ContentType="application/vnd.openxmlformats-officedocument.presentationml.slide+xml"/>
  <Override PartName="/ppt/slides/slide9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</p:sldIdLst>
  <p:sldSz cx="12188825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3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to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edit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Mas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title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344E275-1D21-4481-84D0-BEDF1D5837D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079F164-B0C8-4E45-BA37-20AFED9F530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k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o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y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12FACBD-0A9A-4C27-AD66-1941252BE99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099C1DB-EC84-4CA5-BA6C-AE390D7A188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</a:t>
            </a: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Master title </a:t>
            </a: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style</a:t>
            </a:r>
            <a:endParaRPr lang="en-US" sz="4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A9137E1-E769-461A-B53E-FD4886F36E5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5E20141-EC92-48BB-91C3-CEDC716A1A8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9213361-2D86-4BB6-8028-012B729AD66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A4A9838-6A7F-4AC7-93D4-9E072EAD5C7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1EC8DDB-9C6B-433F-9064-D1BDDA60E53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609120" y="1604520"/>
            <a:ext cx="109695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26C6865-4130-4FE2-BFA1-75C408A1C9B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6E9D7B5-08FF-4B71-9D3F-7778E1A20CE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0d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ectangle 1"/>
          <p:cNvSpPr/>
          <p:nvPr/>
        </p:nvSpPr>
        <p:spPr>
          <a:xfrm>
            <a:off x="0" y="0"/>
            <a:ext cx="54360" cy="6857640"/>
          </a:xfrm>
          <a:prstGeom prst="rect">
            <a:avLst/>
          </a:prstGeom>
          <a:solidFill>
            <a:srgbClr val="4a9ec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2" name="TextBox 2"/>
          <p:cNvSpPr/>
          <p:nvPr/>
        </p:nvSpPr>
        <p:spPr>
          <a:xfrm>
            <a:off x="365760" y="365760"/>
            <a:ext cx="109724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4a9ec7"/>
                </a:solidFill>
                <a:effectLst/>
                <a:uFillTx/>
                <a:latin typeface="Calibri"/>
              </a:rPr>
              <a:t>УРОК 11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" name="TextBox 3"/>
          <p:cNvSpPr/>
          <p:nvPr/>
        </p:nvSpPr>
        <p:spPr>
          <a:xfrm>
            <a:off x="365760" y="822960"/>
            <a:ext cx="109724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787880"/>
                </a:solidFill>
                <a:effectLst/>
                <a:uFillTx/>
                <a:latin typeface="Calibri"/>
              </a:rPr>
              <a:t>AI для OSINT 2026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" name="TextBox 4"/>
          <p:cNvSpPr/>
          <p:nvPr/>
        </p:nvSpPr>
        <p:spPr>
          <a:xfrm>
            <a:off x="365760" y="1417320"/>
            <a:ext cx="10972440" cy="20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lang="en-US" sz="5200" b="1" u="none" strike="noStrike">
                <a:solidFill>
                  <a:srgbClr val="e8e8e8"/>
                </a:solidFill>
                <a:effectLst/>
                <a:uFillTx/>
                <a:latin typeface="Calibri"/>
              </a:rPr>
              <a:t>Інтеграція AI у</a:t>
            </a:r>
            <a:endParaRPr lang="en-US" sz="5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5200" b="1" u="none" strike="noStrike">
                <a:solidFill>
                  <a:srgbClr val="e8e8e8"/>
                </a:solidFill>
                <a:effectLst/>
                <a:uFillTx/>
                <a:latin typeface="Calibri"/>
              </a:rPr>
              <a:t>робочі процеси</a:t>
            </a:r>
            <a:endParaRPr lang="en-US" sz="5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" name="TextBox 5"/>
          <p:cNvSpPr/>
          <p:nvPr/>
        </p:nvSpPr>
        <p:spPr>
          <a:xfrm>
            <a:off x="365760" y="3474720"/>
            <a:ext cx="109724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0" u="none" strike="noStrike">
                <a:solidFill>
                  <a:srgbClr val="4a9ec7"/>
                </a:solidFill>
                <a:effectLst/>
                <a:uFillTx/>
                <a:latin typeface="Calibri"/>
              </a:rPr>
              <a:t>Звіти · Шаблони · Візуалізації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" name="TextBox 6"/>
          <p:cNvSpPr/>
          <p:nvPr/>
        </p:nvSpPr>
        <p:spPr>
          <a:xfrm>
            <a:off x="365760" y="4572000"/>
            <a:ext cx="1005804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lang="en-US" sz="1700" b="0" i="1" u="none" strike="noStrike">
                <a:solidFill>
                  <a:srgbClr val="787880"/>
                </a:solidFill>
                <a:effectLst/>
                <a:uFillTx/>
                <a:latin typeface="Calibri"/>
              </a:rPr>
              <a:t>«AI не замінює аналітика — він забирає все, що не вимагає думати,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700" b="0" i="1" u="none" strike="noStrike">
                <a:solidFill>
                  <a:srgbClr val="787880"/>
                </a:solidFill>
                <a:effectLst/>
                <a:uFillTx/>
                <a:latin typeface="Calibri"/>
              </a:rPr>
              <a:t>щоб аналітик думав більше.»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" name="TextBox 7"/>
          <p:cNvSpPr/>
          <p:nvPr/>
        </p:nvSpPr>
        <p:spPr>
          <a:xfrm>
            <a:off x="365760" y="6035040"/>
            <a:ext cx="109724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555555"/>
                </a:solidFill>
                <a:effectLst/>
                <a:uFillTx/>
                <a:latin typeface="Calibri"/>
              </a:rPr>
              <a:t>Інструменти: Claude Code · Obsidian · Python · Plotly · Jinja2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0d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TextBox 1"/>
          <p:cNvSpPr/>
          <p:nvPr/>
        </p:nvSpPr>
        <p:spPr>
          <a:xfrm>
            <a:off x="365760" y="73080"/>
            <a:ext cx="10972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4a9ec7"/>
                </a:solidFill>
                <a:effectLst/>
                <a:uFillTx/>
                <a:latin typeface="Calibri"/>
              </a:rPr>
              <a:t>КОНТЕКСТ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" name="TextBox 2"/>
          <p:cNvSpPr/>
          <p:nvPr/>
        </p:nvSpPr>
        <p:spPr>
          <a:xfrm>
            <a:off x="365760" y="320040"/>
            <a:ext cx="109724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400" b="1" u="none" strike="noStrike">
                <a:solidFill>
                  <a:srgbClr val="e8e8e8"/>
                </a:solidFill>
                <a:effectLst/>
                <a:uFillTx/>
                <a:latin typeface="Calibri"/>
              </a:rPr>
              <a:t>Де аналітик втрачає час</a:t>
            </a:r>
            <a:endParaRPr lang="en-US" sz="3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" name="Rectangle 3"/>
          <p:cNvSpPr/>
          <p:nvPr/>
        </p:nvSpPr>
        <p:spPr>
          <a:xfrm>
            <a:off x="457200" y="868320"/>
            <a:ext cx="11457000" cy="27000"/>
          </a:xfrm>
          <a:prstGeom prst="rect">
            <a:avLst/>
          </a:prstGeom>
          <a:solidFill>
            <a:srgbClr val="4a9ec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17640" bIns="-1764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1" name="Rectangle 4"/>
          <p:cNvSpPr/>
          <p:nvPr/>
        </p:nvSpPr>
        <p:spPr>
          <a:xfrm>
            <a:off x="3017520" y="1051560"/>
            <a:ext cx="2239920" cy="420120"/>
          </a:xfrm>
          <a:prstGeom prst="rect">
            <a:avLst/>
          </a:prstGeom>
          <a:solidFill>
            <a:srgbClr val="c9854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2" name="TextBox 5"/>
          <p:cNvSpPr/>
          <p:nvPr/>
        </p:nvSpPr>
        <p:spPr>
          <a:xfrm>
            <a:off x="457200" y="1051560"/>
            <a:ext cx="246852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e8e8e8"/>
                </a:solidFill>
                <a:effectLst/>
                <a:uFillTx/>
                <a:latin typeface="Calibri"/>
              </a:rPr>
              <a:t>Збір даних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" name="TextBox 6"/>
          <p:cNvSpPr/>
          <p:nvPr/>
        </p:nvSpPr>
        <p:spPr>
          <a:xfrm>
            <a:off x="5349240" y="1051560"/>
            <a:ext cx="63972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c98540"/>
                </a:solidFill>
                <a:effectLst/>
                <a:uFillTx/>
                <a:latin typeface="Calibri"/>
              </a:rPr>
              <a:t>35%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" name="Rectangle 7"/>
          <p:cNvSpPr/>
          <p:nvPr/>
        </p:nvSpPr>
        <p:spPr>
          <a:xfrm>
            <a:off x="3017520" y="1636920"/>
            <a:ext cx="1599840" cy="420120"/>
          </a:xfrm>
          <a:prstGeom prst="rect">
            <a:avLst/>
          </a:prstGeom>
          <a:solidFill>
            <a:srgbClr val="c9854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5" name="TextBox 8"/>
          <p:cNvSpPr/>
          <p:nvPr/>
        </p:nvSpPr>
        <p:spPr>
          <a:xfrm>
            <a:off x="457200" y="1636920"/>
            <a:ext cx="246852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e8e8e8"/>
                </a:solidFill>
                <a:effectLst/>
                <a:uFillTx/>
                <a:latin typeface="Calibri"/>
              </a:rPr>
              <a:t>Написання звіту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" name="TextBox 9"/>
          <p:cNvSpPr/>
          <p:nvPr/>
        </p:nvSpPr>
        <p:spPr>
          <a:xfrm>
            <a:off x="4709160" y="1636920"/>
            <a:ext cx="63972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c98540"/>
                </a:solidFill>
                <a:effectLst/>
                <a:uFillTx/>
                <a:latin typeface="Calibri"/>
              </a:rPr>
              <a:t>25%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" name="Rectangle 10"/>
          <p:cNvSpPr/>
          <p:nvPr/>
        </p:nvSpPr>
        <p:spPr>
          <a:xfrm>
            <a:off x="3017520" y="2221920"/>
            <a:ext cx="1151640" cy="420120"/>
          </a:xfrm>
          <a:prstGeom prst="rect">
            <a:avLst/>
          </a:prstGeom>
          <a:solidFill>
            <a:srgbClr val="c9854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8" name="TextBox 11"/>
          <p:cNvSpPr/>
          <p:nvPr/>
        </p:nvSpPr>
        <p:spPr>
          <a:xfrm>
            <a:off x="457200" y="2221920"/>
            <a:ext cx="246852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e8e8e8"/>
                </a:solidFill>
                <a:effectLst/>
                <a:uFillTx/>
                <a:latin typeface="Calibri"/>
              </a:rPr>
              <a:t>Переклад / нормалізація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" name="TextBox 12"/>
          <p:cNvSpPr/>
          <p:nvPr/>
        </p:nvSpPr>
        <p:spPr>
          <a:xfrm>
            <a:off x="4260960" y="2221920"/>
            <a:ext cx="63972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c98540"/>
                </a:solidFill>
                <a:effectLst/>
                <a:uFillTx/>
                <a:latin typeface="Calibri"/>
              </a:rPr>
              <a:t>18%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" name="Rectangle 13"/>
          <p:cNvSpPr/>
          <p:nvPr/>
        </p:nvSpPr>
        <p:spPr>
          <a:xfrm>
            <a:off x="3017520" y="2807280"/>
            <a:ext cx="639720" cy="420120"/>
          </a:xfrm>
          <a:prstGeom prst="rect">
            <a:avLst/>
          </a:prstGeom>
          <a:solidFill>
            <a:srgbClr val="c9854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1" name="TextBox 14"/>
          <p:cNvSpPr/>
          <p:nvPr/>
        </p:nvSpPr>
        <p:spPr>
          <a:xfrm>
            <a:off x="457200" y="2807280"/>
            <a:ext cx="246852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e8e8e8"/>
                </a:solidFill>
                <a:effectLst/>
                <a:uFillTx/>
                <a:latin typeface="Calibri"/>
              </a:rPr>
              <a:t>Пошук по нотатках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" name="TextBox 15"/>
          <p:cNvSpPr/>
          <p:nvPr/>
        </p:nvSpPr>
        <p:spPr>
          <a:xfrm>
            <a:off x="3749040" y="2807280"/>
            <a:ext cx="63972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c98540"/>
                </a:solidFill>
                <a:effectLst/>
                <a:uFillTx/>
                <a:latin typeface="Calibri"/>
              </a:rPr>
              <a:t>10%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" name="Rectangle 16"/>
          <p:cNvSpPr/>
          <p:nvPr/>
        </p:nvSpPr>
        <p:spPr>
          <a:xfrm>
            <a:off x="3017520" y="3392280"/>
            <a:ext cx="767880" cy="420120"/>
          </a:xfrm>
          <a:prstGeom prst="rect">
            <a:avLst/>
          </a:prstGeom>
          <a:solidFill>
            <a:srgbClr val="5ab87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4" name="TextBox 17"/>
          <p:cNvSpPr/>
          <p:nvPr/>
        </p:nvSpPr>
        <p:spPr>
          <a:xfrm>
            <a:off x="457200" y="3392280"/>
            <a:ext cx="246852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e8e8e8"/>
                </a:solidFill>
                <a:effectLst/>
                <a:uFillTx/>
                <a:latin typeface="Calibri"/>
              </a:rPr>
              <a:t>Реальний аналіз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" name="TextBox 18"/>
          <p:cNvSpPr/>
          <p:nvPr/>
        </p:nvSpPr>
        <p:spPr>
          <a:xfrm>
            <a:off x="3877200" y="3392280"/>
            <a:ext cx="63972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5ab878"/>
                </a:solidFill>
                <a:effectLst/>
                <a:uFillTx/>
                <a:latin typeface="Calibri"/>
              </a:rPr>
              <a:t>12%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" name="TextBox 19"/>
          <p:cNvSpPr/>
          <p:nvPr/>
        </p:nvSpPr>
        <p:spPr>
          <a:xfrm>
            <a:off x="365760" y="4160520"/>
            <a:ext cx="7314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5ab878"/>
                </a:solidFill>
                <a:effectLst/>
                <a:uFillTx/>
                <a:latin typeface="Calibri"/>
              </a:rPr>
              <a:t>Лише 12% часу — на власне аналіз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" name="Rectangle 20"/>
          <p:cNvSpPr/>
          <p:nvPr/>
        </p:nvSpPr>
        <p:spPr>
          <a:xfrm>
            <a:off x="8778240" y="1005840"/>
            <a:ext cx="3200040" cy="2285640"/>
          </a:xfrm>
          <a:prstGeom prst="rect">
            <a:avLst/>
          </a:prstGeom>
          <a:solidFill>
            <a:srgbClr val="1c1c22"/>
          </a:solidFill>
          <a:ln w="10160">
            <a:solidFill>
              <a:srgbClr val="5ab87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8" name="TextBox 21"/>
          <p:cNvSpPr/>
          <p:nvPr/>
        </p:nvSpPr>
        <p:spPr>
          <a:xfrm>
            <a:off x="8915400" y="1097280"/>
            <a:ext cx="2925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5ab878"/>
                </a:solidFill>
                <a:effectLst/>
                <a:uFillTx/>
                <a:latin typeface="Calibri"/>
              </a:rPr>
              <a:t>AI бере на себе: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" name="TextBox 22"/>
          <p:cNvSpPr/>
          <p:nvPr/>
        </p:nvSpPr>
        <p:spPr>
          <a:xfrm>
            <a:off x="8915400" y="1508760"/>
            <a:ext cx="2925720" cy="164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Bef>
                <a:spcPts val="201"/>
              </a:spcBef>
              <a:spcAft>
                <a:spcPts val="400"/>
              </a:spcAft>
            </a:pPr>
            <a:r>
              <a:rPr lang="en-US" sz="1400" b="0" u="none" strike="noStrike">
                <a:solidFill>
                  <a:srgbClr val="e8e8e8"/>
                </a:solidFill>
                <a:effectLst/>
                <a:uFillTx/>
                <a:latin typeface="Calibri"/>
              </a:rPr>
              <a:t>→ Переклад і перефразовування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  <a:spcAft>
                <a:spcPts val="400"/>
              </a:spcAft>
            </a:pPr>
            <a:r>
              <a:rPr lang="en-US" sz="1400" b="0" u="none" strike="noStrike">
                <a:solidFill>
                  <a:srgbClr val="e8e8e8"/>
                </a:solidFill>
                <a:effectLst/>
                <a:uFillTx/>
                <a:latin typeface="Calibri"/>
              </a:rPr>
              <a:t>→ Чернетки звітів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  <a:spcAft>
                <a:spcPts val="400"/>
              </a:spcAft>
            </a:pPr>
            <a:r>
              <a:rPr lang="en-US" sz="1400" b="0" u="none" strike="noStrike">
                <a:solidFill>
                  <a:srgbClr val="e8e8e8"/>
                </a:solidFill>
                <a:effectLst/>
                <a:uFillTx/>
                <a:latin typeface="Calibri"/>
              </a:rPr>
              <a:t>→ Генерація коду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  <a:spcAft>
                <a:spcPts val="400"/>
              </a:spcAft>
            </a:pPr>
            <a:r>
              <a:rPr lang="en-US" sz="1400" b="0" u="none" strike="noStrike">
                <a:solidFill>
                  <a:srgbClr val="e8e8e8"/>
                </a:solidFill>
                <a:effectLst/>
                <a:uFillTx/>
                <a:latin typeface="Calibri"/>
              </a:rPr>
              <a:t>→ Автоматичні графіки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  <a:spcAft>
                <a:spcPts val="400"/>
              </a:spcAft>
            </a:pPr>
            <a:r>
              <a:rPr lang="en-US" sz="1400" b="0" u="none" strike="noStrike">
                <a:solidFill>
                  <a:srgbClr val="e8e8e8"/>
                </a:solidFill>
                <a:effectLst/>
                <a:uFillTx/>
                <a:latin typeface="Calibri"/>
              </a:rPr>
              <a:t>→ Пошук по знаннях (RAG)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" name="Rectangle 23"/>
          <p:cNvSpPr/>
          <p:nvPr/>
        </p:nvSpPr>
        <p:spPr>
          <a:xfrm>
            <a:off x="8778240" y="3429000"/>
            <a:ext cx="3200040" cy="2285640"/>
          </a:xfrm>
          <a:prstGeom prst="rect">
            <a:avLst/>
          </a:prstGeom>
          <a:solidFill>
            <a:srgbClr val="1c1c22"/>
          </a:solidFill>
          <a:ln w="10160">
            <a:solidFill>
              <a:srgbClr val="c0505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1" name="TextBox 24"/>
          <p:cNvSpPr/>
          <p:nvPr/>
        </p:nvSpPr>
        <p:spPr>
          <a:xfrm>
            <a:off x="8915400" y="3520440"/>
            <a:ext cx="2925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c05050"/>
                </a:solidFill>
                <a:effectLst/>
                <a:uFillTx/>
                <a:latin typeface="Calibri"/>
              </a:rPr>
              <a:t>Аналітик залишає собі: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" name="TextBox 25"/>
          <p:cNvSpPr/>
          <p:nvPr/>
        </p:nvSpPr>
        <p:spPr>
          <a:xfrm>
            <a:off x="8915400" y="3931920"/>
            <a:ext cx="2925720" cy="164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Bef>
                <a:spcPts val="201"/>
              </a:spcBef>
              <a:spcAft>
                <a:spcPts val="400"/>
              </a:spcAft>
            </a:pPr>
            <a:r>
              <a:rPr lang="en-US" sz="1400" b="0" u="none" strike="noStrike">
                <a:solidFill>
                  <a:srgbClr val="e8e8e8"/>
                </a:solidFill>
                <a:effectLst/>
                <a:uFillTx/>
                <a:latin typeface="Calibri"/>
              </a:rPr>
              <a:t>✗ Оцінка достовірності джерела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  <a:spcAft>
                <a:spcPts val="400"/>
              </a:spcAft>
            </a:pPr>
            <a:r>
              <a:rPr lang="en-US" sz="1400" b="0" u="none" strike="noStrike">
                <a:solidFill>
                  <a:srgbClr val="e8e8e8"/>
                </a:solidFill>
                <a:effectLst/>
                <a:uFillTx/>
                <a:latin typeface="Calibri"/>
              </a:rPr>
              <a:t>✗ Атрибуція операції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  <a:spcAft>
                <a:spcPts val="400"/>
              </a:spcAft>
            </a:pPr>
            <a:r>
              <a:rPr lang="en-US" sz="1400" b="0" u="none" strike="noStrike">
                <a:solidFill>
                  <a:srgbClr val="e8e8e8"/>
                </a:solidFill>
                <a:effectLst/>
                <a:uFillTx/>
                <a:latin typeface="Calibri"/>
              </a:rPr>
              <a:t>✗ Ключові судження з наслідками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  <a:spcAft>
                <a:spcPts val="400"/>
              </a:spcAft>
            </a:pPr>
            <a:r>
              <a:rPr lang="en-US" sz="1400" b="0" u="none" strike="noStrike">
                <a:solidFill>
                  <a:srgbClr val="e8e8e8"/>
                </a:solidFill>
                <a:effectLst/>
                <a:uFillTx/>
                <a:latin typeface="Calibri"/>
              </a:rPr>
              <a:t>✗ Судження під невизначеністю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0d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TextBox 1"/>
          <p:cNvSpPr/>
          <p:nvPr/>
        </p:nvSpPr>
        <p:spPr>
          <a:xfrm>
            <a:off x="365760" y="73080"/>
            <a:ext cx="10972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4a9ec7"/>
                </a:solidFill>
                <a:effectLst/>
                <a:uFillTx/>
                <a:latin typeface="Calibri"/>
              </a:rPr>
              <a:t>ЧАСТИНА І — РОЗВІДУВАЛЬНИЙ ЗВІТ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" name="TextBox 2"/>
          <p:cNvSpPr/>
          <p:nvPr/>
        </p:nvSpPr>
        <p:spPr>
          <a:xfrm>
            <a:off x="365760" y="320040"/>
            <a:ext cx="109724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400" b="1" u="none" strike="noStrike">
                <a:solidFill>
                  <a:srgbClr val="e8e8e8"/>
                </a:solidFill>
                <a:effectLst/>
                <a:uFillTx/>
                <a:latin typeface="Calibri"/>
              </a:rPr>
              <a:t>Планування перед написанням</a:t>
            </a:r>
            <a:endParaRPr lang="en-US" sz="3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" name="Rectangle 3"/>
          <p:cNvSpPr/>
          <p:nvPr/>
        </p:nvSpPr>
        <p:spPr>
          <a:xfrm>
            <a:off x="365760" y="804600"/>
            <a:ext cx="11457000" cy="27000"/>
          </a:xfrm>
          <a:prstGeom prst="rect">
            <a:avLst/>
          </a:prstGeom>
          <a:solidFill>
            <a:srgbClr val="4a9ec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17640" bIns="-1764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6" name="TextBox 4"/>
          <p:cNvSpPr/>
          <p:nvPr/>
        </p:nvSpPr>
        <p:spPr>
          <a:xfrm>
            <a:off x="365760" y="960120"/>
            <a:ext cx="109724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0" i="1" u="none" strike="noStrike">
                <a:solidFill>
                  <a:srgbClr val="787880"/>
                </a:solidFill>
                <a:effectLst/>
                <a:uFillTx/>
                <a:latin typeface="Calibri"/>
              </a:rPr>
              <a:t>«Справжня цінність — не в тому, що ви знайшли, а в тому, як ви це інтерпретували.»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" name="Rectangle 5"/>
          <p:cNvSpPr/>
          <p:nvPr/>
        </p:nvSpPr>
        <p:spPr>
          <a:xfrm>
            <a:off x="365760" y="1600200"/>
            <a:ext cx="11429640" cy="1188360"/>
          </a:xfrm>
          <a:prstGeom prst="rect">
            <a:avLst/>
          </a:prstGeom>
          <a:solidFill>
            <a:srgbClr val="1c1c22"/>
          </a:solidFill>
          <a:ln w="10160">
            <a:solidFill>
              <a:srgbClr val="4a9ec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8" name="TextBox 6"/>
          <p:cNvSpPr/>
          <p:nvPr/>
        </p:nvSpPr>
        <p:spPr>
          <a:xfrm>
            <a:off x="548640" y="1645920"/>
            <a:ext cx="109724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900" b="1" u="none" strike="noStrike">
                <a:solidFill>
                  <a:srgbClr val="4a9ec7"/>
                </a:solidFill>
                <a:effectLst/>
                <a:uFillTx/>
                <a:latin typeface="Calibri"/>
              </a:rPr>
              <a:t>1. Яка мета продукту?</a:t>
            </a:r>
            <a:endParaRPr lang="en-US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" name="TextBox 7"/>
          <p:cNvSpPr/>
          <p:nvPr/>
        </p:nvSpPr>
        <p:spPr>
          <a:xfrm>
            <a:off x="548640" y="2057400"/>
            <a:ext cx="109724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e8e8e8"/>
                </a:solidFill>
                <a:effectLst/>
                <a:uFillTx/>
                <a:latin typeface="Calibri"/>
              </a:rPr>
              <a:t>Flash report · Assessment · Strategic estimate · Forensic report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" name="Rectangle 8"/>
          <p:cNvSpPr/>
          <p:nvPr/>
        </p:nvSpPr>
        <p:spPr>
          <a:xfrm>
            <a:off x="365760" y="3017520"/>
            <a:ext cx="11429640" cy="1188360"/>
          </a:xfrm>
          <a:prstGeom prst="rect">
            <a:avLst/>
          </a:prstGeom>
          <a:solidFill>
            <a:srgbClr val="1c1c22"/>
          </a:solidFill>
          <a:ln w="10160">
            <a:solidFill>
              <a:srgbClr val="4a9ec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1" name="TextBox 9"/>
          <p:cNvSpPr/>
          <p:nvPr/>
        </p:nvSpPr>
        <p:spPr>
          <a:xfrm>
            <a:off x="548640" y="3063240"/>
            <a:ext cx="109724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900" b="1" u="none" strike="noStrike">
                <a:solidFill>
                  <a:srgbClr val="4a9ec7"/>
                </a:solidFill>
                <a:effectLst/>
                <a:uFillTx/>
                <a:latin typeface="Calibri"/>
              </a:rPr>
              <a:t>2. Хто аудиторія?</a:t>
            </a:r>
            <a:endParaRPr lang="en-US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Box 10"/>
          <p:cNvSpPr/>
          <p:nvPr/>
        </p:nvSpPr>
        <p:spPr>
          <a:xfrm>
            <a:off x="548640" y="3474720"/>
            <a:ext cx="109724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e8e8e8"/>
                </a:solidFill>
                <a:effectLst/>
                <a:uFillTx/>
                <a:latin typeface="Calibri"/>
              </a:rPr>
              <a:t>Технічний фахівець · Керівник · Юрист · Медіа / громадськість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3" name="Rectangle 11"/>
          <p:cNvSpPr/>
          <p:nvPr/>
        </p:nvSpPr>
        <p:spPr>
          <a:xfrm>
            <a:off x="365760" y="4434840"/>
            <a:ext cx="11429640" cy="1188360"/>
          </a:xfrm>
          <a:prstGeom prst="rect">
            <a:avLst/>
          </a:prstGeom>
          <a:solidFill>
            <a:srgbClr val="1c1c22"/>
          </a:solidFill>
          <a:ln w="10160">
            <a:solidFill>
              <a:srgbClr val="4a9ec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4" name="TextBox 12"/>
          <p:cNvSpPr/>
          <p:nvPr/>
        </p:nvSpPr>
        <p:spPr>
          <a:xfrm>
            <a:off x="548640" y="4480560"/>
            <a:ext cx="109724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900" b="1" u="none" strike="noStrike">
                <a:solidFill>
                  <a:srgbClr val="4a9ec7"/>
                </a:solidFill>
                <a:effectLst/>
                <a:uFillTx/>
                <a:latin typeface="Calibri"/>
              </a:rPr>
              <a:t>3. Яке рішення буде прийнято?</a:t>
            </a:r>
            <a:endParaRPr lang="en-US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Box 13"/>
          <p:cNvSpPr/>
          <p:nvPr/>
        </p:nvSpPr>
        <p:spPr>
          <a:xfrm>
            <a:off x="548640" y="4892040"/>
            <a:ext cx="109724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e8e8e8"/>
                </a:solidFill>
                <a:effectLst/>
                <a:uFillTx/>
                <a:latin typeface="Calibri"/>
              </a:rPr>
              <a:t>Якщо відповідь незрозуміла — уточніть у замовника ДО початку роботи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Box 14"/>
          <p:cNvSpPr/>
          <p:nvPr/>
        </p:nvSpPr>
        <p:spPr>
          <a:xfrm>
            <a:off x="365760" y="6035040"/>
            <a:ext cx="114296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i="1" u="none" strike="noStrike">
                <a:solidFill>
                  <a:srgbClr val="5ab878"/>
                </a:solidFill>
                <a:effectLst/>
                <a:uFillTx/>
                <a:latin typeface="Calibri"/>
              </a:rPr>
              <a:t>💡 Промпт: «Я пишу OSINT-звіт для [аудиторія] з метою [ціль]. Яка структура найбільш підходить?»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0d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TextBox 1"/>
          <p:cNvSpPr/>
          <p:nvPr/>
        </p:nvSpPr>
        <p:spPr>
          <a:xfrm>
            <a:off x="365760" y="73080"/>
            <a:ext cx="10972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4a9ec7"/>
                </a:solidFill>
                <a:effectLst/>
                <a:uFillTx/>
                <a:latin typeface="Calibri"/>
              </a:rPr>
              <a:t>ЧАСТИНА І — РОЗВІДУВАЛЬНИЙ ЗВІТ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Box 2"/>
          <p:cNvSpPr/>
          <p:nvPr/>
        </p:nvSpPr>
        <p:spPr>
          <a:xfrm>
            <a:off x="365760" y="320040"/>
            <a:ext cx="109724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400" b="1" u="none" strike="noStrike">
                <a:solidFill>
                  <a:srgbClr val="e8e8e8"/>
                </a:solidFill>
                <a:effectLst/>
                <a:uFillTx/>
                <a:latin typeface="Calibri"/>
              </a:rPr>
              <a:t>Анатомія розвідувального звіту</a:t>
            </a:r>
            <a:endParaRPr lang="en-US" sz="3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9" name="Rectangle 3"/>
          <p:cNvSpPr/>
          <p:nvPr/>
        </p:nvSpPr>
        <p:spPr>
          <a:xfrm>
            <a:off x="365760" y="804600"/>
            <a:ext cx="11457000" cy="27000"/>
          </a:xfrm>
          <a:prstGeom prst="rect">
            <a:avLst/>
          </a:prstGeom>
          <a:solidFill>
            <a:srgbClr val="4a9ec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17640" bIns="-1764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0" name="Rectangle 4"/>
          <p:cNvSpPr/>
          <p:nvPr/>
        </p:nvSpPr>
        <p:spPr>
          <a:xfrm>
            <a:off x="365760" y="960120"/>
            <a:ext cx="502560" cy="658080"/>
          </a:xfrm>
          <a:prstGeom prst="rect">
            <a:avLst/>
          </a:prstGeom>
          <a:solidFill>
            <a:srgbClr val="78788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1" name="TextBox 5"/>
          <p:cNvSpPr/>
          <p:nvPr/>
        </p:nvSpPr>
        <p:spPr>
          <a:xfrm>
            <a:off x="365760" y="960120"/>
            <a:ext cx="50256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0d0d0f"/>
                </a:solidFill>
                <a:effectLst/>
                <a:uFillTx/>
                <a:latin typeface="Calibri"/>
              </a:rPr>
              <a:t>1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2" name="Rectangle 6"/>
          <p:cNvSpPr/>
          <p:nvPr/>
        </p:nvSpPr>
        <p:spPr>
          <a:xfrm>
            <a:off x="887040" y="960120"/>
            <a:ext cx="10972440" cy="658080"/>
          </a:xfrm>
          <a:prstGeom prst="rect">
            <a:avLst/>
          </a:prstGeom>
          <a:solidFill>
            <a:srgbClr val="1c1c2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3" name="TextBox 7"/>
          <p:cNvSpPr/>
          <p:nvPr/>
        </p:nvSpPr>
        <p:spPr>
          <a:xfrm>
            <a:off x="978480" y="996840"/>
            <a:ext cx="25599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787880"/>
                </a:solidFill>
                <a:effectLst/>
                <a:uFillTx/>
                <a:latin typeface="Calibri"/>
              </a:rPr>
              <a:t>ТИТУЛЬНА СТОРІНКА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Box 8"/>
          <p:cNvSpPr/>
          <p:nvPr/>
        </p:nvSpPr>
        <p:spPr>
          <a:xfrm>
            <a:off x="978480" y="1298520"/>
            <a:ext cx="106981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787880"/>
                </a:solidFill>
                <a:effectLst/>
                <a:uFillTx/>
                <a:latin typeface="Calibri"/>
              </a:rPr>
              <a:t>Назва · Організація · Дата · Гриф · Номер кейсу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5" name="Rectangle 9"/>
          <p:cNvSpPr/>
          <p:nvPr/>
        </p:nvSpPr>
        <p:spPr>
          <a:xfrm>
            <a:off x="365760" y="1645920"/>
            <a:ext cx="502560" cy="658080"/>
          </a:xfrm>
          <a:prstGeom prst="rect">
            <a:avLst/>
          </a:prstGeom>
          <a:solidFill>
            <a:srgbClr val="4a9ec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6" name="TextBox 10"/>
          <p:cNvSpPr/>
          <p:nvPr/>
        </p:nvSpPr>
        <p:spPr>
          <a:xfrm>
            <a:off x="365760" y="1645920"/>
            <a:ext cx="50256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0d0d0f"/>
                </a:solidFill>
                <a:effectLst/>
                <a:uFillTx/>
                <a:latin typeface="Calibri"/>
              </a:rPr>
              <a:t>2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7" name="Rectangle 11"/>
          <p:cNvSpPr/>
          <p:nvPr/>
        </p:nvSpPr>
        <p:spPr>
          <a:xfrm>
            <a:off x="887040" y="1645920"/>
            <a:ext cx="10972440" cy="658080"/>
          </a:xfrm>
          <a:prstGeom prst="rect">
            <a:avLst/>
          </a:prstGeom>
          <a:solidFill>
            <a:srgbClr val="1c1c2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8" name="TextBox 12"/>
          <p:cNvSpPr/>
          <p:nvPr/>
        </p:nvSpPr>
        <p:spPr>
          <a:xfrm>
            <a:off x="978480" y="1682640"/>
            <a:ext cx="25599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4a9ec7"/>
                </a:solidFill>
                <a:effectLst/>
                <a:uFillTx/>
                <a:latin typeface="Calibri"/>
              </a:rPr>
              <a:t>BLUF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Box 13"/>
          <p:cNvSpPr/>
          <p:nvPr/>
        </p:nvSpPr>
        <p:spPr>
          <a:xfrm>
            <a:off x="978480" y="1984320"/>
            <a:ext cx="106981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787880"/>
                </a:solidFill>
                <a:effectLst/>
                <a:uFillTx/>
                <a:latin typeface="Calibri"/>
              </a:rPr>
              <a:t>Bottom Line Up Front — ключовий висновок + рівень впевненості (1–3 речення)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0" name="Rectangle 14"/>
          <p:cNvSpPr/>
          <p:nvPr/>
        </p:nvSpPr>
        <p:spPr>
          <a:xfrm>
            <a:off x="365760" y="2331720"/>
            <a:ext cx="502560" cy="658080"/>
          </a:xfrm>
          <a:prstGeom prst="rect">
            <a:avLst/>
          </a:prstGeom>
          <a:solidFill>
            <a:srgbClr val="78788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1" name="TextBox 15"/>
          <p:cNvSpPr/>
          <p:nvPr/>
        </p:nvSpPr>
        <p:spPr>
          <a:xfrm>
            <a:off x="365760" y="2331720"/>
            <a:ext cx="50256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0d0d0f"/>
                </a:solidFill>
                <a:effectLst/>
                <a:uFillTx/>
                <a:latin typeface="Calibri"/>
              </a:rPr>
              <a:t>3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2" name="Rectangle 16"/>
          <p:cNvSpPr/>
          <p:nvPr/>
        </p:nvSpPr>
        <p:spPr>
          <a:xfrm>
            <a:off x="887040" y="2331720"/>
            <a:ext cx="10972440" cy="658080"/>
          </a:xfrm>
          <a:prstGeom prst="rect">
            <a:avLst/>
          </a:prstGeom>
          <a:solidFill>
            <a:srgbClr val="1c1c2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3" name="TextBox 17"/>
          <p:cNvSpPr/>
          <p:nvPr/>
        </p:nvSpPr>
        <p:spPr>
          <a:xfrm>
            <a:off x="978480" y="2368440"/>
            <a:ext cx="25599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787880"/>
                </a:solidFill>
                <a:effectLst/>
                <a:uFillTx/>
                <a:latin typeface="Calibri"/>
              </a:rPr>
              <a:t>ВСТУП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Box 18"/>
          <p:cNvSpPr/>
          <p:nvPr/>
        </p:nvSpPr>
        <p:spPr>
          <a:xfrm>
            <a:off x="978480" y="2670120"/>
            <a:ext cx="106981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787880"/>
                </a:solidFill>
                <a:effectLst/>
                <a:uFillTx/>
                <a:latin typeface="Calibri"/>
              </a:rPr>
              <a:t>Цілі · Обсяг · Дослідницькі питання · Значущість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5" name="Rectangle 19"/>
          <p:cNvSpPr/>
          <p:nvPr/>
        </p:nvSpPr>
        <p:spPr>
          <a:xfrm>
            <a:off x="365760" y="3017520"/>
            <a:ext cx="502560" cy="658080"/>
          </a:xfrm>
          <a:prstGeom prst="rect">
            <a:avLst/>
          </a:prstGeom>
          <a:solidFill>
            <a:srgbClr val="c9854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6" name="TextBox 20"/>
          <p:cNvSpPr/>
          <p:nvPr/>
        </p:nvSpPr>
        <p:spPr>
          <a:xfrm>
            <a:off x="365760" y="3017520"/>
            <a:ext cx="50256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0d0d0f"/>
                </a:solidFill>
                <a:effectLst/>
                <a:uFillTx/>
                <a:latin typeface="Calibri"/>
              </a:rPr>
              <a:t>4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7" name="Rectangle 21"/>
          <p:cNvSpPr/>
          <p:nvPr/>
        </p:nvSpPr>
        <p:spPr>
          <a:xfrm>
            <a:off x="887040" y="3017520"/>
            <a:ext cx="10972440" cy="658080"/>
          </a:xfrm>
          <a:prstGeom prst="rect">
            <a:avLst/>
          </a:prstGeom>
          <a:solidFill>
            <a:srgbClr val="1c1c2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8" name="TextBox 22"/>
          <p:cNvSpPr/>
          <p:nvPr/>
        </p:nvSpPr>
        <p:spPr>
          <a:xfrm>
            <a:off x="978480" y="3054240"/>
            <a:ext cx="25599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c98540"/>
                </a:solidFill>
                <a:effectLst/>
                <a:uFillTx/>
                <a:latin typeface="Calibri"/>
              </a:rPr>
              <a:t>МЕТОДОЛОГІЯ ★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Box 23"/>
          <p:cNvSpPr/>
          <p:nvPr/>
        </p:nvSpPr>
        <p:spPr>
          <a:xfrm>
            <a:off x="978480" y="3355920"/>
            <a:ext cx="106981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787880"/>
                </a:solidFill>
                <a:effectLst/>
                <a:uFillTx/>
                <a:latin typeface="Calibri"/>
              </a:rPr>
              <a:t>Інструменти · Джерела · Процес верифікації · Обмеження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0" name="Rectangle 24"/>
          <p:cNvSpPr/>
          <p:nvPr/>
        </p:nvSpPr>
        <p:spPr>
          <a:xfrm>
            <a:off x="365760" y="3703320"/>
            <a:ext cx="502560" cy="658080"/>
          </a:xfrm>
          <a:prstGeom prst="rect">
            <a:avLst/>
          </a:prstGeom>
          <a:solidFill>
            <a:srgbClr val="78788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1" name="TextBox 25"/>
          <p:cNvSpPr/>
          <p:nvPr/>
        </p:nvSpPr>
        <p:spPr>
          <a:xfrm>
            <a:off x="365760" y="3703320"/>
            <a:ext cx="50256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0d0d0f"/>
                </a:solidFill>
                <a:effectLst/>
                <a:uFillTx/>
                <a:latin typeface="Calibri"/>
              </a:rPr>
              <a:t>5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2" name="Rectangle 26"/>
          <p:cNvSpPr/>
          <p:nvPr/>
        </p:nvSpPr>
        <p:spPr>
          <a:xfrm>
            <a:off x="887040" y="3703320"/>
            <a:ext cx="10972440" cy="658080"/>
          </a:xfrm>
          <a:prstGeom prst="rect">
            <a:avLst/>
          </a:prstGeom>
          <a:solidFill>
            <a:srgbClr val="1c1c2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3" name="TextBox 27"/>
          <p:cNvSpPr/>
          <p:nvPr/>
        </p:nvSpPr>
        <p:spPr>
          <a:xfrm>
            <a:off x="978480" y="3740040"/>
            <a:ext cx="25599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787880"/>
                </a:solidFill>
                <a:effectLst/>
                <a:uFillTx/>
                <a:latin typeface="Calibri"/>
              </a:rPr>
              <a:t>ЗНАХІДКИ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Box 28"/>
          <p:cNvSpPr/>
          <p:nvPr/>
        </p:nvSpPr>
        <p:spPr>
          <a:xfrm>
            <a:off x="978480" y="4041720"/>
            <a:ext cx="106981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787880"/>
                </a:solidFill>
                <a:effectLst/>
                <a:uFillTx/>
                <a:latin typeface="Calibri"/>
              </a:rPr>
              <a:t>Хронологічно або тематично — факти відокремлені від оцінок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5" name="Rectangle 29"/>
          <p:cNvSpPr/>
          <p:nvPr/>
        </p:nvSpPr>
        <p:spPr>
          <a:xfrm>
            <a:off x="365760" y="4389120"/>
            <a:ext cx="502560" cy="658080"/>
          </a:xfrm>
          <a:prstGeom prst="rect">
            <a:avLst/>
          </a:prstGeom>
          <a:solidFill>
            <a:srgbClr val="4a9ec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6" name="TextBox 30"/>
          <p:cNvSpPr/>
          <p:nvPr/>
        </p:nvSpPr>
        <p:spPr>
          <a:xfrm>
            <a:off x="365760" y="4389120"/>
            <a:ext cx="50256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0d0d0f"/>
                </a:solidFill>
                <a:effectLst/>
                <a:uFillTx/>
                <a:latin typeface="Calibri"/>
              </a:rPr>
              <a:t>6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7" name="Rectangle 31"/>
          <p:cNvSpPr/>
          <p:nvPr/>
        </p:nvSpPr>
        <p:spPr>
          <a:xfrm>
            <a:off x="887040" y="4389120"/>
            <a:ext cx="10972440" cy="658080"/>
          </a:xfrm>
          <a:prstGeom prst="rect">
            <a:avLst/>
          </a:prstGeom>
          <a:solidFill>
            <a:srgbClr val="1c1c2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8" name="TextBox 32"/>
          <p:cNvSpPr/>
          <p:nvPr/>
        </p:nvSpPr>
        <p:spPr>
          <a:xfrm>
            <a:off x="978480" y="4425840"/>
            <a:ext cx="25599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4a9ec7"/>
                </a:solidFill>
                <a:effectLst/>
                <a:uFillTx/>
                <a:latin typeface="Calibri"/>
              </a:rPr>
              <a:t>АНАЛІЗ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Box 33"/>
          <p:cNvSpPr/>
          <p:nvPr/>
        </p:nvSpPr>
        <p:spPr>
          <a:xfrm>
            <a:off x="978480" y="4727520"/>
            <a:ext cx="106981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787880"/>
                </a:solidFill>
                <a:effectLst/>
                <a:uFillTx/>
                <a:latin typeface="Calibri"/>
              </a:rPr>
              <a:t>Key Judgements + рівні впевненості · Альтернативи · Прогалини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0" name="Rectangle 34"/>
          <p:cNvSpPr/>
          <p:nvPr/>
        </p:nvSpPr>
        <p:spPr>
          <a:xfrm>
            <a:off x="365760" y="5074920"/>
            <a:ext cx="502560" cy="658080"/>
          </a:xfrm>
          <a:prstGeom prst="rect">
            <a:avLst/>
          </a:prstGeom>
          <a:solidFill>
            <a:srgbClr val="5ab87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1" name="TextBox 35"/>
          <p:cNvSpPr/>
          <p:nvPr/>
        </p:nvSpPr>
        <p:spPr>
          <a:xfrm>
            <a:off x="365760" y="5074920"/>
            <a:ext cx="50256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0d0d0f"/>
                </a:solidFill>
                <a:effectLst/>
                <a:uFillTx/>
                <a:latin typeface="Calibri"/>
              </a:rPr>
              <a:t>7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2" name="Rectangle 36"/>
          <p:cNvSpPr/>
          <p:nvPr/>
        </p:nvSpPr>
        <p:spPr>
          <a:xfrm>
            <a:off x="887040" y="5074920"/>
            <a:ext cx="10972440" cy="658080"/>
          </a:xfrm>
          <a:prstGeom prst="rect">
            <a:avLst/>
          </a:prstGeom>
          <a:solidFill>
            <a:srgbClr val="1c1c2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3" name="TextBox 37"/>
          <p:cNvSpPr/>
          <p:nvPr/>
        </p:nvSpPr>
        <p:spPr>
          <a:xfrm>
            <a:off x="978480" y="5111640"/>
            <a:ext cx="25599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5ab878"/>
                </a:solidFill>
                <a:effectLst/>
                <a:uFillTx/>
                <a:latin typeface="Calibri"/>
              </a:rPr>
              <a:t>ВИСНОВКИ / РЕКОМЕНДАЦІЇ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Box 38"/>
          <p:cNvSpPr/>
          <p:nvPr/>
        </p:nvSpPr>
        <p:spPr>
          <a:xfrm>
            <a:off x="978480" y="5413320"/>
            <a:ext cx="106981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787880"/>
                </a:solidFill>
                <a:effectLst/>
                <a:uFillTx/>
                <a:latin typeface="Calibri"/>
              </a:rPr>
              <a:t>Конкретні · Дієві · Пріоритизовані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0d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TextBox 1"/>
          <p:cNvSpPr/>
          <p:nvPr/>
        </p:nvSpPr>
        <p:spPr>
          <a:xfrm>
            <a:off x="365760" y="73080"/>
            <a:ext cx="10972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4a9ec7"/>
                </a:solidFill>
                <a:effectLst/>
                <a:uFillTx/>
                <a:latin typeface="Calibri"/>
              </a:rPr>
              <a:t>ЧАСТИНА І — РОЗВІДУВАЛЬНИЙ ЗВІТ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Box 2"/>
          <p:cNvSpPr/>
          <p:nvPr/>
        </p:nvSpPr>
        <p:spPr>
          <a:xfrm>
            <a:off x="365760" y="320040"/>
            <a:ext cx="109724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400" b="1" u="none" strike="noStrike">
                <a:solidFill>
                  <a:srgbClr val="e8e8e8"/>
                </a:solidFill>
                <a:effectLst/>
                <a:uFillTx/>
                <a:latin typeface="Calibri"/>
              </a:rPr>
              <a:t>BLUF — Bottom Line Up Front</a:t>
            </a:r>
            <a:endParaRPr lang="en-US" sz="3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7" name="Rectangle 3"/>
          <p:cNvSpPr/>
          <p:nvPr/>
        </p:nvSpPr>
        <p:spPr>
          <a:xfrm>
            <a:off x="365760" y="804600"/>
            <a:ext cx="11457000" cy="27000"/>
          </a:xfrm>
          <a:prstGeom prst="rect">
            <a:avLst/>
          </a:prstGeom>
          <a:solidFill>
            <a:srgbClr val="4a9ec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17640" bIns="-1764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8" name="TextBox 4"/>
          <p:cNvSpPr/>
          <p:nvPr/>
        </p:nvSpPr>
        <p:spPr>
          <a:xfrm>
            <a:off x="365760" y="914400"/>
            <a:ext cx="109724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4a9ec7"/>
                </a:solidFill>
                <a:effectLst/>
                <a:uFillTx/>
                <a:latin typeface="Calibri"/>
              </a:rPr>
              <a:t>Найважливіший висновок — ПЕРШОЮ фразою. Завжди.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9" name="Rectangle 5"/>
          <p:cNvSpPr/>
          <p:nvPr/>
        </p:nvSpPr>
        <p:spPr>
          <a:xfrm>
            <a:off x="365760" y="1417320"/>
            <a:ext cx="11429640" cy="639720"/>
          </a:xfrm>
          <a:prstGeom prst="rect">
            <a:avLst/>
          </a:prstGeom>
          <a:solidFill>
            <a:srgbClr val="1c1c22"/>
          </a:solidFill>
          <a:ln w="10160">
            <a:solidFill>
              <a:srgbClr val="4a9ec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0" name="TextBox 6"/>
          <p:cNvSpPr/>
          <p:nvPr/>
        </p:nvSpPr>
        <p:spPr>
          <a:xfrm>
            <a:off x="548640" y="1463040"/>
            <a:ext cx="111553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700" b="1" u="none" strike="noStrike">
                <a:solidFill>
                  <a:srgbClr val="4a9ec7"/>
                </a:solidFill>
                <a:effectLst/>
                <a:uFillTx/>
                <a:latin typeface="Calibri"/>
              </a:rPr>
              <a:t>[Ключовий висновок]  +  [Рівень впевненості]  +  [Найважливіший факт-обґрунтування]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1" name="Rectangle 7"/>
          <p:cNvSpPr/>
          <p:nvPr/>
        </p:nvSpPr>
        <p:spPr>
          <a:xfrm>
            <a:off x="365760" y="2194560"/>
            <a:ext cx="5394600" cy="2011320"/>
          </a:xfrm>
          <a:prstGeom prst="rect">
            <a:avLst/>
          </a:prstGeom>
          <a:solidFill>
            <a:srgbClr val="1a0808"/>
          </a:solidFill>
          <a:ln w="10160">
            <a:solidFill>
              <a:srgbClr val="c0505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2" name="TextBox 8"/>
          <p:cNvSpPr/>
          <p:nvPr/>
        </p:nvSpPr>
        <p:spPr>
          <a:xfrm>
            <a:off x="502920" y="2240280"/>
            <a:ext cx="51202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c05050"/>
                </a:solidFill>
                <a:effectLst/>
                <a:uFillTx/>
                <a:latin typeface="Calibri"/>
              </a:rPr>
              <a:t>✗  ПОГАНО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Box 9"/>
          <p:cNvSpPr/>
          <p:nvPr/>
        </p:nvSpPr>
        <p:spPr>
          <a:xfrm>
            <a:off x="502920" y="2633400"/>
            <a:ext cx="516600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i="1" u="none" strike="noStrike">
                <a:solidFill>
                  <a:srgbClr val="787880"/>
                </a:solidFill>
                <a:effectLst/>
                <a:uFillTx/>
                <a:latin typeface="Calibri"/>
              </a:rPr>
              <a:t>«Ми проаналізували активність 47 каналів... серед них виявлено повторюваний контент... час публікацій корелює... з урахуванням вищезазначеного, вважаємо за можливе припустити наявність координації.»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4" name="Rectangle 10"/>
          <p:cNvSpPr/>
          <p:nvPr/>
        </p:nvSpPr>
        <p:spPr>
          <a:xfrm>
            <a:off x="6035040" y="2194560"/>
            <a:ext cx="5668920" cy="2011320"/>
          </a:xfrm>
          <a:prstGeom prst="rect">
            <a:avLst/>
          </a:prstGeom>
          <a:solidFill>
            <a:srgbClr val="081a08"/>
          </a:solidFill>
          <a:ln w="10160">
            <a:solidFill>
              <a:srgbClr val="5ab87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5" name="TextBox 11"/>
          <p:cNvSpPr/>
          <p:nvPr/>
        </p:nvSpPr>
        <p:spPr>
          <a:xfrm>
            <a:off x="6172200" y="2240280"/>
            <a:ext cx="53946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5ab878"/>
                </a:solidFill>
                <a:effectLst/>
                <a:uFillTx/>
                <a:latin typeface="Calibri"/>
              </a:rPr>
              <a:t>✓  ДОБРЕ (BLUF)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Box 12"/>
          <p:cNvSpPr/>
          <p:nvPr/>
        </p:nvSpPr>
        <p:spPr>
          <a:xfrm>
            <a:off x="6172200" y="2633400"/>
            <a:ext cx="544032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i="1" u="none" strike="noStrike">
                <a:solidFill>
                  <a:srgbClr val="e8e8e8"/>
                </a:solidFill>
                <a:effectLst/>
                <a:uFillTx/>
                <a:latin typeface="Calibri"/>
              </a:rPr>
              <a:t>«З ВИСОКОЮ ВПЕВНЕНІСТЮ оцінюємо, що 10 із 47 досліджуваних Telegram-каналів діють як координована мережа — публікують ідентичний контент у вікні ±5 хвилин із синхронізацією учасницької бази 78–91%.»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7" name="TextBox 13"/>
          <p:cNvSpPr/>
          <p:nvPr/>
        </p:nvSpPr>
        <p:spPr>
          <a:xfrm>
            <a:off x="365760" y="4343400"/>
            <a:ext cx="114296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i="1" u="none" strike="noStrike">
                <a:solidFill>
                  <a:srgbClr val="5ab878"/>
                </a:solidFill>
                <a:effectLst/>
                <a:uFillTx/>
                <a:latin typeface="Calibri"/>
              </a:rPr>
              <a:t>💡 Після написання чернетки → Claude: «Перепиши перший абзац у форматі BLUF: ключове судження першою фразою, рівень впевненості явно вказаний.»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Box 14"/>
          <p:cNvSpPr/>
          <p:nvPr/>
        </p:nvSpPr>
        <p:spPr>
          <a:xfrm>
            <a:off x="365760" y="5074920"/>
            <a:ext cx="114296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c98540"/>
                </a:solidFill>
                <a:effectLst/>
                <a:uFillTx/>
                <a:latin typeface="Calibri"/>
              </a:rPr>
              <a:t>⚠  Якщо не можеш написати BLUF — аналіз не завершений.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0d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TextBox 1"/>
          <p:cNvSpPr/>
          <p:nvPr/>
        </p:nvSpPr>
        <p:spPr>
          <a:xfrm>
            <a:off x="365760" y="73080"/>
            <a:ext cx="10972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4a9ec7"/>
                </a:solidFill>
                <a:effectLst/>
                <a:uFillTx/>
                <a:latin typeface="Calibri"/>
              </a:rPr>
              <a:t>ЧАСТИНА І — РОЗВІДУВАЛЬНИЙ ЗВІТ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Box 2"/>
          <p:cNvSpPr/>
          <p:nvPr/>
        </p:nvSpPr>
        <p:spPr>
          <a:xfrm>
            <a:off x="365760" y="320040"/>
            <a:ext cx="109724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400" b="1" u="none" strike="noStrike">
                <a:solidFill>
                  <a:srgbClr val="e8e8e8"/>
                </a:solidFill>
                <a:effectLst/>
                <a:uFillTx/>
                <a:latin typeface="Calibri"/>
              </a:rPr>
              <a:t>Рівні впевненості та мова оцінок</a:t>
            </a:r>
            <a:endParaRPr lang="en-US" sz="3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1" name="Rectangle 3"/>
          <p:cNvSpPr/>
          <p:nvPr/>
        </p:nvSpPr>
        <p:spPr>
          <a:xfrm>
            <a:off x="365760" y="804600"/>
            <a:ext cx="11457000" cy="27000"/>
          </a:xfrm>
          <a:prstGeom prst="rect">
            <a:avLst/>
          </a:prstGeom>
          <a:solidFill>
            <a:srgbClr val="4a9ec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17640" bIns="-1764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2" name="Rectangle 4"/>
          <p:cNvSpPr/>
          <p:nvPr/>
        </p:nvSpPr>
        <p:spPr>
          <a:xfrm>
            <a:off x="365760" y="960120"/>
            <a:ext cx="11429640" cy="1188360"/>
          </a:xfrm>
          <a:prstGeom prst="rect">
            <a:avLst/>
          </a:prstGeom>
          <a:solidFill>
            <a:srgbClr val="081a08"/>
          </a:solidFill>
          <a:ln w="12700">
            <a:solidFill>
              <a:srgbClr val="5ab87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3" name="TextBox 5"/>
          <p:cNvSpPr/>
          <p:nvPr/>
        </p:nvSpPr>
        <p:spPr>
          <a:xfrm>
            <a:off x="502920" y="1033200"/>
            <a:ext cx="14626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5ab878"/>
                </a:solidFill>
                <a:effectLst/>
                <a:uFillTx/>
                <a:latin typeface="Calibri"/>
              </a:rPr>
              <a:t>ВИСОКА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Box 6"/>
          <p:cNvSpPr/>
          <p:nvPr/>
        </p:nvSpPr>
        <p:spPr>
          <a:xfrm>
            <a:off x="2103120" y="1033200"/>
            <a:ext cx="95094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e8e8e8"/>
                </a:solidFill>
                <a:effectLst/>
                <a:uFillTx/>
                <a:latin typeface="Calibri"/>
              </a:rPr>
              <a:t>«з високою впевненістю оцінюємо»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5" name="TextBox 7"/>
          <p:cNvSpPr/>
          <p:nvPr/>
        </p:nvSpPr>
        <p:spPr>
          <a:xfrm>
            <a:off x="2103120" y="1527120"/>
            <a:ext cx="95094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787880"/>
                </a:solidFill>
                <a:effectLst/>
                <a:uFillTx/>
                <a:latin typeface="Calibri"/>
              </a:rPr>
              <a:t>Численні докази · кілька незалежних джерел · несуперечлива картина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6" name="Rectangle 8"/>
          <p:cNvSpPr/>
          <p:nvPr/>
        </p:nvSpPr>
        <p:spPr>
          <a:xfrm>
            <a:off x="365760" y="2286000"/>
            <a:ext cx="11429640" cy="1188360"/>
          </a:xfrm>
          <a:prstGeom prst="rect">
            <a:avLst/>
          </a:prstGeom>
          <a:solidFill>
            <a:srgbClr val="1c1c22"/>
          </a:solidFill>
          <a:ln w="12700">
            <a:solidFill>
              <a:srgbClr val="c9854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7" name="TextBox 9"/>
          <p:cNvSpPr/>
          <p:nvPr/>
        </p:nvSpPr>
        <p:spPr>
          <a:xfrm>
            <a:off x="502920" y="2359080"/>
            <a:ext cx="14626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c98540"/>
                </a:solidFill>
                <a:effectLst/>
                <a:uFillTx/>
                <a:latin typeface="Calibri"/>
              </a:rPr>
              <a:t>ПОМІРНА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8" name="TextBox 10"/>
          <p:cNvSpPr/>
          <p:nvPr/>
        </p:nvSpPr>
        <p:spPr>
          <a:xfrm>
            <a:off x="2103120" y="2359080"/>
            <a:ext cx="95094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e8e8e8"/>
                </a:solidFill>
                <a:effectLst/>
                <a:uFillTx/>
                <a:latin typeface="Calibri"/>
              </a:rPr>
              <a:t>«оцінюємо» / «вважаємо ймовірним»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Box 11"/>
          <p:cNvSpPr/>
          <p:nvPr/>
        </p:nvSpPr>
        <p:spPr>
          <a:xfrm>
            <a:off x="2103120" y="2853000"/>
            <a:ext cx="95094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787880"/>
                </a:solidFill>
                <a:effectLst/>
                <a:uFillTx/>
                <a:latin typeface="Calibri"/>
              </a:rPr>
              <a:t>Деякі докази · є прогалини або альтернативні пояснення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0" name="Rectangle 12"/>
          <p:cNvSpPr/>
          <p:nvPr/>
        </p:nvSpPr>
        <p:spPr>
          <a:xfrm>
            <a:off x="365760" y="3611880"/>
            <a:ext cx="11429640" cy="1188360"/>
          </a:xfrm>
          <a:prstGeom prst="rect">
            <a:avLst/>
          </a:prstGeom>
          <a:solidFill>
            <a:srgbClr val="1a0808"/>
          </a:solidFill>
          <a:ln w="12700">
            <a:solidFill>
              <a:srgbClr val="c0505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1" name="TextBox 13"/>
          <p:cNvSpPr/>
          <p:nvPr/>
        </p:nvSpPr>
        <p:spPr>
          <a:xfrm>
            <a:off x="502920" y="3684960"/>
            <a:ext cx="14626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c05050"/>
                </a:solidFill>
                <a:effectLst/>
                <a:uFillTx/>
                <a:latin typeface="Calibri"/>
              </a:rPr>
              <a:t>НИЗЬКА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Box 14"/>
          <p:cNvSpPr/>
          <p:nvPr/>
        </p:nvSpPr>
        <p:spPr>
          <a:xfrm>
            <a:off x="2103120" y="3684960"/>
            <a:ext cx="95094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e8e8e8"/>
                </a:solidFill>
                <a:effectLst/>
                <a:uFillTx/>
                <a:latin typeface="Calibri"/>
              </a:rPr>
              <a:t>«допускаємо» / «не можемо виключити»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Box 15"/>
          <p:cNvSpPr/>
          <p:nvPr/>
        </p:nvSpPr>
        <p:spPr>
          <a:xfrm>
            <a:off x="2103120" y="4178880"/>
            <a:ext cx="95094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787880"/>
                </a:solidFill>
                <a:effectLst/>
                <a:uFillTx/>
                <a:latin typeface="Calibri"/>
              </a:rPr>
              <a:t>Мало даних · одне джерело · значна невизначеність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4" name="Rectangle 16"/>
          <p:cNvSpPr/>
          <p:nvPr/>
        </p:nvSpPr>
        <p:spPr>
          <a:xfrm>
            <a:off x="365760" y="4892040"/>
            <a:ext cx="11429640" cy="1599840"/>
          </a:xfrm>
          <a:prstGeom prst="rect">
            <a:avLst/>
          </a:prstGeom>
          <a:solidFill>
            <a:srgbClr val="1c1c2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5" name="TextBox 17"/>
          <p:cNvSpPr/>
          <p:nvPr/>
        </p:nvSpPr>
        <p:spPr>
          <a:xfrm>
            <a:off x="411480" y="4937760"/>
            <a:ext cx="15411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787880"/>
                </a:solidFill>
                <a:effectLst/>
                <a:uFillTx/>
                <a:latin typeface="Calibri"/>
              </a:rPr>
              <a:t>Майже напевно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Box 18"/>
          <p:cNvSpPr/>
          <p:nvPr/>
        </p:nvSpPr>
        <p:spPr>
          <a:xfrm>
            <a:off x="411480" y="5440680"/>
            <a:ext cx="15411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4a9ec7"/>
                </a:solidFill>
                <a:effectLst/>
                <a:uFillTx/>
                <a:latin typeface="Calibri"/>
              </a:rPr>
              <a:t>&gt; 95%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7" name="TextBox 19"/>
          <p:cNvSpPr/>
          <p:nvPr/>
        </p:nvSpPr>
        <p:spPr>
          <a:xfrm>
            <a:off x="2044440" y="4937760"/>
            <a:ext cx="15411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787880"/>
                </a:solidFill>
                <a:effectLst/>
                <a:uFillTx/>
                <a:latin typeface="Calibri"/>
              </a:rPr>
              <a:t>З великою ймовірн.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Box 20"/>
          <p:cNvSpPr/>
          <p:nvPr/>
        </p:nvSpPr>
        <p:spPr>
          <a:xfrm>
            <a:off x="2044440" y="5440680"/>
            <a:ext cx="15411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4a9ec7"/>
                </a:solidFill>
                <a:effectLst/>
                <a:uFillTx/>
                <a:latin typeface="Calibri"/>
              </a:rPr>
              <a:t>75–95%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Box 21"/>
          <p:cNvSpPr/>
          <p:nvPr/>
        </p:nvSpPr>
        <p:spPr>
          <a:xfrm>
            <a:off x="3677040" y="4937760"/>
            <a:ext cx="15411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787880"/>
                </a:solidFill>
                <a:effectLst/>
                <a:uFillTx/>
                <a:latin typeface="Calibri"/>
              </a:rPr>
              <a:t>Ймовірно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0" name="TextBox 22"/>
          <p:cNvSpPr/>
          <p:nvPr/>
        </p:nvSpPr>
        <p:spPr>
          <a:xfrm>
            <a:off x="3677040" y="5440680"/>
            <a:ext cx="15411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4a9ec7"/>
                </a:solidFill>
                <a:effectLst/>
                <a:uFillTx/>
                <a:latin typeface="Calibri"/>
              </a:rPr>
              <a:t>55–75%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1" name="TextBox 23"/>
          <p:cNvSpPr/>
          <p:nvPr/>
        </p:nvSpPr>
        <p:spPr>
          <a:xfrm>
            <a:off x="5310000" y="4937760"/>
            <a:ext cx="15411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787880"/>
                </a:solidFill>
                <a:effectLst/>
                <a:uFillTx/>
                <a:latin typeface="Calibri"/>
              </a:rPr>
              <a:t>≈ рівна ймовірн.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2" name="TextBox 24"/>
          <p:cNvSpPr/>
          <p:nvPr/>
        </p:nvSpPr>
        <p:spPr>
          <a:xfrm>
            <a:off x="5310000" y="5440680"/>
            <a:ext cx="15411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4a9ec7"/>
                </a:solidFill>
                <a:effectLst/>
                <a:uFillTx/>
                <a:latin typeface="Calibri"/>
              </a:rPr>
              <a:t>45–55%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3" name="TextBox 25"/>
          <p:cNvSpPr/>
          <p:nvPr/>
        </p:nvSpPr>
        <p:spPr>
          <a:xfrm>
            <a:off x="6942960" y="4937760"/>
            <a:ext cx="15411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787880"/>
                </a:solidFill>
                <a:effectLst/>
                <a:uFillTx/>
                <a:latin typeface="Calibri"/>
              </a:rPr>
              <a:t>Малоймовірно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4" name="TextBox 26"/>
          <p:cNvSpPr/>
          <p:nvPr/>
        </p:nvSpPr>
        <p:spPr>
          <a:xfrm>
            <a:off x="6942960" y="5440680"/>
            <a:ext cx="15411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4a9ec7"/>
                </a:solidFill>
                <a:effectLst/>
                <a:uFillTx/>
                <a:latin typeface="Calibri"/>
              </a:rPr>
              <a:t>25–45%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5" name="TextBox 27"/>
          <p:cNvSpPr/>
          <p:nvPr/>
        </p:nvSpPr>
        <p:spPr>
          <a:xfrm>
            <a:off x="8575920" y="4937760"/>
            <a:ext cx="15411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787880"/>
                </a:solidFill>
                <a:effectLst/>
                <a:uFillTx/>
                <a:latin typeface="Calibri"/>
              </a:rPr>
              <a:t>Дуже малоймовірно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6" name="TextBox 28"/>
          <p:cNvSpPr/>
          <p:nvPr/>
        </p:nvSpPr>
        <p:spPr>
          <a:xfrm>
            <a:off x="8575920" y="5440680"/>
            <a:ext cx="15411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4a9ec7"/>
                </a:solidFill>
                <a:effectLst/>
                <a:uFillTx/>
                <a:latin typeface="Calibri"/>
              </a:rPr>
              <a:t>5–25%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7" name="TextBox 29"/>
          <p:cNvSpPr/>
          <p:nvPr/>
        </p:nvSpPr>
        <p:spPr>
          <a:xfrm>
            <a:off x="10208520" y="4937760"/>
            <a:ext cx="15411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787880"/>
                </a:solidFill>
                <a:effectLst/>
                <a:uFillTx/>
                <a:latin typeface="Calibri"/>
              </a:rPr>
              <a:t>Майже виключено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8" name="TextBox 30"/>
          <p:cNvSpPr/>
          <p:nvPr/>
        </p:nvSpPr>
        <p:spPr>
          <a:xfrm>
            <a:off x="10208520" y="5440680"/>
            <a:ext cx="15411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4a9ec7"/>
                </a:solidFill>
                <a:effectLst/>
                <a:uFillTx/>
                <a:latin typeface="Calibri"/>
              </a:rPr>
              <a:t>&lt; 5%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9" name="TextBox 31"/>
          <p:cNvSpPr/>
          <p:nvPr/>
        </p:nvSpPr>
        <p:spPr>
          <a:xfrm>
            <a:off x="365760" y="6492240"/>
            <a:ext cx="11429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c98540"/>
                </a:solidFill>
                <a:effectLst/>
                <a:uFillTx/>
                <a:latin typeface="Calibri"/>
              </a:rPr>
              <a:t>⚠  Кожне ключове судження ПОВИННО мати явний рівень впевненості.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0d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TextBox 1"/>
          <p:cNvSpPr/>
          <p:nvPr/>
        </p:nvSpPr>
        <p:spPr>
          <a:xfrm>
            <a:off x="365760" y="73080"/>
            <a:ext cx="10972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4a9ec7"/>
                </a:solidFill>
                <a:effectLst/>
                <a:uFillTx/>
                <a:latin typeface="Calibri"/>
              </a:rPr>
              <a:t>ЧАСТИНА І — РОЗВІДУВАЛЬНИЙ ЗВІТ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1" name="TextBox 2"/>
          <p:cNvSpPr/>
          <p:nvPr/>
        </p:nvSpPr>
        <p:spPr>
          <a:xfrm>
            <a:off x="365760" y="320040"/>
            <a:ext cx="109724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400" b="1" u="none" strike="noStrike">
                <a:solidFill>
                  <a:srgbClr val="e8e8e8"/>
                </a:solidFill>
                <a:effectLst/>
                <a:uFillTx/>
                <a:latin typeface="Calibri"/>
              </a:rPr>
              <a:t>Методологія та оцінка джерел</a:t>
            </a:r>
            <a:endParaRPr lang="en-US" sz="3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2" name="Rectangle 3"/>
          <p:cNvSpPr/>
          <p:nvPr/>
        </p:nvSpPr>
        <p:spPr>
          <a:xfrm>
            <a:off x="365760" y="804600"/>
            <a:ext cx="11457000" cy="27000"/>
          </a:xfrm>
          <a:prstGeom prst="rect">
            <a:avLst/>
          </a:prstGeom>
          <a:solidFill>
            <a:srgbClr val="4a9ec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17640" bIns="-1764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3" name="Rectangle 4"/>
          <p:cNvSpPr/>
          <p:nvPr/>
        </p:nvSpPr>
        <p:spPr>
          <a:xfrm>
            <a:off x="365760" y="960120"/>
            <a:ext cx="5303160" cy="2559960"/>
          </a:xfrm>
          <a:prstGeom prst="rect">
            <a:avLst/>
          </a:prstGeom>
          <a:solidFill>
            <a:srgbClr val="1c1c22"/>
          </a:solidFill>
          <a:ln w="10160">
            <a:solidFill>
              <a:srgbClr val="4a9ec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4" name="TextBox 5"/>
          <p:cNvSpPr/>
          <p:nvPr/>
        </p:nvSpPr>
        <p:spPr>
          <a:xfrm>
            <a:off x="502920" y="1024200"/>
            <a:ext cx="50288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4a9ec7"/>
                </a:solidFill>
                <a:effectLst/>
                <a:uFillTx/>
                <a:latin typeface="Calibri"/>
              </a:rPr>
              <a:t>Навіщо секція «Методологія»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5" name="TextBox 6"/>
          <p:cNvSpPr/>
          <p:nvPr/>
        </p:nvSpPr>
        <p:spPr>
          <a:xfrm>
            <a:off x="502920" y="1481400"/>
            <a:ext cx="5028840" cy="191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Bef>
                <a:spcPts val="201"/>
              </a:spcBef>
              <a:spcAft>
                <a:spcPts val="400"/>
              </a:spcAft>
            </a:pPr>
            <a:r>
              <a:rPr lang="en-US" sz="1400" b="0" u="none" strike="noStrike">
                <a:solidFill>
                  <a:srgbClr val="e8e8e8"/>
                </a:solidFill>
                <a:effectLst/>
                <a:uFillTx/>
                <a:latin typeface="Calibri"/>
              </a:rPr>
              <a:t>→ Читач розуміє, звідки взялись висновки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  <a:spcAft>
                <a:spcPts val="400"/>
              </a:spcAft>
            </a:pPr>
            <a:r>
              <a:rPr lang="en-US" sz="1400" b="0" u="none" strike="noStrike">
                <a:solidFill>
                  <a:srgbClr val="e8e8e8"/>
                </a:solidFill>
                <a:effectLst/>
                <a:uFillTx/>
                <a:latin typeface="Calibri"/>
              </a:rPr>
              <a:t>→ Забезпечує відтворюваність аналізу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  <a:spcAft>
                <a:spcPts val="400"/>
              </a:spcAft>
            </a:pPr>
            <a:r>
              <a:rPr lang="en-US" sz="1400" b="0" u="none" strike="noStrike">
                <a:solidFill>
                  <a:srgbClr val="e8e8e8"/>
                </a:solidFill>
                <a:effectLst/>
                <a:uFillTx/>
                <a:latin typeface="Calibri"/>
              </a:rPr>
              <a:t>→ Юридичний захист — ланцюжок доказів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  <a:spcAft>
                <a:spcPts val="400"/>
              </a:spcAft>
            </a:pPr>
            <a:r>
              <a:rPr lang="en-US" sz="1400" b="0" u="none" strike="noStrike">
                <a:solidFill>
                  <a:srgbClr val="e8e8e8"/>
                </a:solidFill>
                <a:effectLst/>
                <a:uFillTx/>
                <a:latin typeface="Calibri"/>
              </a:rPr>
              <a:t>→ Виявляє власні прогалини явно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6" name="Rectangle 7"/>
          <p:cNvSpPr/>
          <p:nvPr/>
        </p:nvSpPr>
        <p:spPr>
          <a:xfrm>
            <a:off x="5852160" y="960120"/>
            <a:ext cx="5943240" cy="2559960"/>
          </a:xfrm>
          <a:prstGeom prst="rect">
            <a:avLst/>
          </a:prstGeom>
          <a:solidFill>
            <a:srgbClr val="1c1c22"/>
          </a:solidFill>
          <a:ln w="10160">
            <a:solidFill>
              <a:srgbClr val="c9854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7" name="TextBox 8"/>
          <p:cNvSpPr/>
          <p:nvPr/>
        </p:nvSpPr>
        <p:spPr>
          <a:xfrm>
            <a:off x="5989320" y="1024200"/>
            <a:ext cx="56689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c98540"/>
                </a:solidFill>
                <a:effectLst/>
                <a:uFillTx/>
                <a:latin typeface="Calibri"/>
              </a:rPr>
              <a:t>Що включати: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8" name="TextBox 9"/>
          <p:cNvSpPr/>
          <p:nvPr/>
        </p:nvSpPr>
        <p:spPr>
          <a:xfrm>
            <a:off x="5989320" y="1481400"/>
            <a:ext cx="5668920" cy="191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Bef>
                <a:spcPts val="201"/>
              </a:spcBef>
              <a:spcAft>
                <a:spcPts val="400"/>
              </a:spcAft>
            </a:pPr>
            <a:r>
              <a:rPr lang="en-US" sz="1400" b="0" u="none" strike="noStrike">
                <a:solidFill>
                  <a:srgbClr val="e8e8e8"/>
                </a:solidFill>
                <a:effectLst/>
                <a:uFillTx/>
                <a:latin typeface="Calibri"/>
              </a:rPr>
              <a:t>Інструменти — перелік + пояснення використання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  <a:spcAft>
                <a:spcPts val="400"/>
              </a:spcAft>
            </a:pPr>
            <a:r>
              <a:rPr lang="en-US" sz="1400" b="0" u="none" strike="noStrike">
                <a:solidFill>
                  <a:srgbClr val="e8e8e8"/>
                </a:solidFill>
                <a:effectLst/>
                <a:uFillTx/>
                <a:latin typeface="Calibri"/>
              </a:rPr>
              <a:t>Джерела — типи, часовий діапазон збору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  <a:spcAft>
                <a:spcPts val="400"/>
              </a:spcAft>
            </a:pPr>
            <a:r>
              <a:rPr lang="en-US" sz="1400" b="0" u="none" strike="noStrike">
                <a:solidFill>
                  <a:srgbClr val="e8e8e8"/>
                </a:solidFill>
                <a:effectLst/>
                <a:uFillTx/>
                <a:latin typeface="Calibri"/>
              </a:rPr>
              <a:t>Процес верифікації — як підтверджувались факти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  <a:spcAft>
                <a:spcPts val="400"/>
              </a:spcAft>
            </a:pPr>
            <a:r>
              <a:rPr lang="en-US" sz="1400" b="0" u="none" strike="noStrike">
                <a:solidFill>
                  <a:srgbClr val="e8e8e8"/>
                </a:solidFill>
                <a:effectLst/>
                <a:uFillTx/>
                <a:latin typeface="Calibri"/>
              </a:rPr>
              <a:t>Обмеження — що НЕ могло бути досліджено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9" name="Rectangle 10"/>
          <p:cNvSpPr/>
          <p:nvPr/>
        </p:nvSpPr>
        <p:spPr>
          <a:xfrm>
            <a:off x="365760" y="3657600"/>
            <a:ext cx="11429640" cy="776880"/>
          </a:xfrm>
          <a:prstGeom prst="rect">
            <a:avLst/>
          </a:prstGeom>
          <a:solidFill>
            <a:srgbClr val="0a141a"/>
          </a:solidFill>
          <a:ln w="15240">
            <a:solidFill>
              <a:srgbClr val="4a9ec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0" name="TextBox 11"/>
          <p:cNvSpPr/>
          <p:nvPr/>
        </p:nvSpPr>
        <p:spPr>
          <a:xfrm>
            <a:off x="548640" y="3721680"/>
            <a:ext cx="4114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4a9ec7"/>
                </a:solidFill>
                <a:effectLst/>
                <a:uFillTx/>
                <a:latin typeface="Calibri"/>
              </a:rPr>
              <a:t>★  ПРАВИЛО ТРЬОХ ДЖЕРЕЛ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1" name="TextBox 12"/>
          <p:cNvSpPr/>
          <p:nvPr/>
        </p:nvSpPr>
        <p:spPr>
          <a:xfrm>
            <a:off x="4754880" y="3721680"/>
            <a:ext cx="68576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e8e8e8"/>
                </a:solidFill>
                <a:effectLst/>
                <a:uFillTx/>
                <a:latin typeface="Calibri"/>
              </a:rPr>
              <a:t>Ключовий факт вважається встановленим лише якщо підтверджений трьома незалежними джерелами різного типу (первинне + вторинне + верифікуюче).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2" name="Rectangle 13"/>
          <p:cNvSpPr/>
          <p:nvPr/>
        </p:nvSpPr>
        <p:spPr>
          <a:xfrm>
            <a:off x="365760" y="4572000"/>
            <a:ext cx="11521440" cy="1691280"/>
          </a:xfrm>
          <a:prstGeom prst="rect">
            <a:avLst/>
          </a:prstGeom>
          <a:solidFill>
            <a:srgbClr val="1c1c2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3" name="TextBox 14"/>
          <p:cNvSpPr/>
          <p:nvPr/>
        </p:nvSpPr>
        <p:spPr>
          <a:xfrm>
            <a:off x="502920" y="4636080"/>
            <a:ext cx="3657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c98540"/>
                </a:solidFill>
                <a:effectLst/>
                <a:uFillTx/>
                <a:latin typeface="Calibri"/>
              </a:rPr>
              <a:t>Стандарти цитування: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4" name="TextBox 15"/>
          <p:cNvSpPr/>
          <p:nvPr/>
        </p:nvSpPr>
        <p:spPr>
          <a:xfrm>
            <a:off x="502920" y="5029200"/>
            <a:ext cx="1115532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Bef>
                <a:spcPts val="201"/>
              </a:spcBef>
              <a:spcAft>
                <a:spcPts val="400"/>
              </a:spcAft>
            </a:pPr>
            <a:r>
              <a:rPr lang="en-US" sz="1400" b="0" u="none" strike="noStrike">
                <a:solidFill>
                  <a:srgbClr val="e8e8e8"/>
                </a:solidFill>
                <a:effectLst/>
                <a:uFillTx/>
                <a:latin typeface="Calibri"/>
              </a:rPr>
              <a:t>📅 Завжди вказуйте дату доступу — онлайн-контент змінюється і видаляється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  <a:spcAft>
                <a:spcPts val="400"/>
              </a:spcAft>
            </a:pPr>
            <a:r>
              <a:rPr lang="en-US" sz="1400" b="0" u="none" strike="noStrike">
                <a:solidFill>
                  <a:srgbClr val="e8e8e8"/>
                </a:solidFill>
                <a:effectLst/>
                <a:uFillTx/>
                <a:latin typeface="Calibri"/>
              </a:rPr>
              <a:t>💾 Зберігайте архівну копію (archive.org, локальний скріншот з timestamp)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  <a:spcAft>
                <a:spcPts val="400"/>
              </a:spcAft>
            </a:pPr>
            <a:r>
              <a:rPr lang="en-US" sz="1400" b="0" u="none" strike="noStrike">
                <a:solidFill>
                  <a:srgbClr val="e8e8e8"/>
                </a:solidFill>
                <a:effectLst/>
                <a:uFillTx/>
                <a:latin typeface="Calibri"/>
              </a:rPr>
              <a:t>🔗 Посилання на конкретне твердження, а не загальний сайт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  <a:spcAft>
                <a:spcPts val="400"/>
              </a:spcAft>
            </a:pPr>
            <a:r>
              <a:rPr lang="en-US" sz="1400" b="0" u="none" strike="noStrike">
                <a:solidFill>
                  <a:srgbClr val="c98540"/>
                </a:solidFill>
                <a:effectLst/>
                <a:uFillTx/>
                <a:latin typeface="Calibri"/>
              </a:rPr>
              <a:t>🤖 AI-generated контент — НЕ є джерелом. Це інструмент синтезу.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0d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TextBox 1"/>
          <p:cNvSpPr/>
          <p:nvPr/>
        </p:nvSpPr>
        <p:spPr>
          <a:xfrm>
            <a:off x="365760" y="73080"/>
            <a:ext cx="10972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4a9ec7"/>
                </a:solidFill>
                <a:effectLst/>
                <a:uFillTx/>
                <a:latin typeface="Calibri"/>
              </a:rPr>
              <a:t>ЧАСТИНА І — РОЗВІДУВАЛЬНИЙ ЗВІТ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6" name="TextBox 2"/>
          <p:cNvSpPr/>
          <p:nvPr/>
        </p:nvSpPr>
        <p:spPr>
          <a:xfrm>
            <a:off x="365760" y="320040"/>
            <a:ext cx="109724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000" b="1" u="none" strike="noStrike">
                <a:solidFill>
                  <a:srgbClr val="e8e8e8"/>
                </a:solidFill>
                <a:effectLst/>
                <a:uFillTx/>
                <a:latin typeface="Calibri"/>
              </a:rPr>
              <a:t>AI у написанні звіту: що і як делегувати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7" name="Rectangle 3"/>
          <p:cNvSpPr/>
          <p:nvPr/>
        </p:nvSpPr>
        <p:spPr>
          <a:xfrm>
            <a:off x="365760" y="804600"/>
            <a:ext cx="11457000" cy="27000"/>
          </a:xfrm>
          <a:prstGeom prst="rect">
            <a:avLst/>
          </a:prstGeom>
          <a:solidFill>
            <a:srgbClr val="4a9ec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17640" bIns="-1764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8" name="Rectangle 4"/>
          <p:cNvSpPr/>
          <p:nvPr/>
        </p:nvSpPr>
        <p:spPr>
          <a:xfrm>
            <a:off x="365760" y="960120"/>
            <a:ext cx="2285640" cy="658080"/>
          </a:xfrm>
          <a:prstGeom prst="rect">
            <a:avLst/>
          </a:prstGeom>
          <a:solidFill>
            <a:srgbClr val="1c1c22"/>
          </a:solidFill>
          <a:ln w="6350">
            <a:solidFill>
              <a:srgbClr val="5ab87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9" name="TextBox 5"/>
          <p:cNvSpPr/>
          <p:nvPr/>
        </p:nvSpPr>
        <p:spPr>
          <a:xfrm>
            <a:off x="457200" y="1005840"/>
            <a:ext cx="21484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5ab878"/>
                </a:solidFill>
                <a:effectLst/>
                <a:uFillTx/>
                <a:latin typeface="Calibri"/>
              </a:rPr>
              <a:t>Чернетка за нотатками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0" name="Rectangle 6"/>
          <p:cNvSpPr/>
          <p:nvPr/>
        </p:nvSpPr>
        <p:spPr>
          <a:xfrm>
            <a:off x="2715840" y="960120"/>
            <a:ext cx="9143640" cy="658080"/>
          </a:xfrm>
          <a:prstGeom prst="rect">
            <a:avLst/>
          </a:prstGeom>
          <a:solidFill>
            <a:srgbClr val="1c1c2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1" name="TextBox 7"/>
          <p:cNvSpPr/>
          <p:nvPr/>
        </p:nvSpPr>
        <p:spPr>
          <a:xfrm>
            <a:off x="2807280" y="1051560"/>
            <a:ext cx="89607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i="1" u="none" strike="noStrike">
                <a:solidFill>
                  <a:srgbClr val="787880"/>
                </a:solidFill>
                <a:effectLst/>
                <a:uFillTx/>
                <a:latin typeface="Calibri"/>
              </a:rPr>
              <a:t>→ «Напиши чернетку spot report у форматі BLUF + KJ на основі цих нотаток»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2" name="Rectangle 8"/>
          <p:cNvSpPr/>
          <p:nvPr/>
        </p:nvSpPr>
        <p:spPr>
          <a:xfrm>
            <a:off x="365760" y="1719000"/>
            <a:ext cx="2285640" cy="658080"/>
          </a:xfrm>
          <a:prstGeom prst="rect">
            <a:avLst/>
          </a:prstGeom>
          <a:solidFill>
            <a:srgbClr val="1c1c22"/>
          </a:solidFill>
          <a:ln w="6350">
            <a:solidFill>
              <a:srgbClr val="5ab87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3" name="TextBox 9"/>
          <p:cNvSpPr/>
          <p:nvPr/>
        </p:nvSpPr>
        <p:spPr>
          <a:xfrm>
            <a:off x="457200" y="1764720"/>
            <a:ext cx="21484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5ab878"/>
                </a:solidFill>
                <a:effectLst/>
                <a:uFillTx/>
                <a:latin typeface="Calibri"/>
              </a:rPr>
              <a:t>Переклад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4" name="Rectangle 10"/>
          <p:cNvSpPr/>
          <p:nvPr/>
        </p:nvSpPr>
        <p:spPr>
          <a:xfrm>
            <a:off x="2715840" y="1719000"/>
            <a:ext cx="9143640" cy="658080"/>
          </a:xfrm>
          <a:prstGeom prst="rect">
            <a:avLst/>
          </a:prstGeom>
          <a:solidFill>
            <a:srgbClr val="1c1c2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5" name="TextBox 11"/>
          <p:cNvSpPr/>
          <p:nvPr/>
        </p:nvSpPr>
        <p:spPr>
          <a:xfrm>
            <a:off x="2807280" y="1810440"/>
            <a:ext cx="89607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i="1" u="none" strike="noStrike">
                <a:solidFill>
                  <a:srgbClr val="787880"/>
                </a:solidFill>
                <a:effectLst/>
                <a:uFillTx/>
                <a:latin typeface="Calibri"/>
              </a:rPr>
              <a:t>→ «Переклади цей текст українською, збережи технічну термінологію»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6" name="Rectangle 12"/>
          <p:cNvSpPr/>
          <p:nvPr/>
        </p:nvSpPr>
        <p:spPr>
          <a:xfrm>
            <a:off x="365760" y="2477880"/>
            <a:ext cx="2285640" cy="658080"/>
          </a:xfrm>
          <a:prstGeom prst="rect">
            <a:avLst/>
          </a:prstGeom>
          <a:solidFill>
            <a:srgbClr val="1c1c22"/>
          </a:solidFill>
          <a:ln w="6350">
            <a:solidFill>
              <a:srgbClr val="5ab87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7" name="TextBox 13"/>
          <p:cNvSpPr/>
          <p:nvPr/>
        </p:nvSpPr>
        <p:spPr>
          <a:xfrm>
            <a:off x="457200" y="2523600"/>
            <a:ext cx="21484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5ab878"/>
                </a:solidFill>
                <a:effectLst/>
                <a:uFillTx/>
                <a:latin typeface="Calibri"/>
              </a:rPr>
              <a:t>Нормалізація стилю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8" name="Rectangle 14"/>
          <p:cNvSpPr/>
          <p:nvPr/>
        </p:nvSpPr>
        <p:spPr>
          <a:xfrm>
            <a:off x="2715840" y="2477880"/>
            <a:ext cx="9143640" cy="658080"/>
          </a:xfrm>
          <a:prstGeom prst="rect">
            <a:avLst/>
          </a:prstGeom>
          <a:solidFill>
            <a:srgbClr val="1c1c2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9" name="TextBox 15"/>
          <p:cNvSpPr/>
          <p:nvPr/>
        </p:nvSpPr>
        <p:spPr>
          <a:xfrm>
            <a:off x="2807280" y="2569320"/>
            <a:ext cx="89607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i="1" u="none" strike="noStrike">
                <a:solidFill>
                  <a:srgbClr val="787880"/>
                </a:solidFill>
                <a:effectLst/>
                <a:uFillTx/>
                <a:latin typeface="Calibri"/>
              </a:rPr>
              <a:t>→ «Перепиши в нейтральному аналітичному стилі без емоційних оцінок»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0" name="Rectangle 16"/>
          <p:cNvSpPr/>
          <p:nvPr/>
        </p:nvSpPr>
        <p:spPr>
          <a:xfrm>
            <a:off x="365760" y="3237120"/>
            <a:ext cx="2285640" cy="658080"/>
          </a:xfrm>
          <a:prstGeom prst="rect">
            <a:avLst/>
          </a:prstGeom>
          <a:solidFill>
            <a:srgbClr val="1c1c22"/>
          </a:solidFill>
          <a:ln w="6350">
            <a:solidFill>
              <a:srgbClr val="5ab87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1" name="TextBox 17"/>
          <p:cNvSpPr/>
          <p:nvPr/>
        </p:nvSpPr>
        <p:spPr>
          <a:xfrm>
            <a:off x="457200" y="3282840"/>
            <a:ext cx="21484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5ab878"/>
                </a:solidFill>
                <a:effectLst/>
                <a:uFillTx/>
                <a:latin typeface="Calibri"/>
              </a:rPr>
              <a:t>Список альтернатив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2" name="Rectangle 18"/>
          <p:cNvSpPr/>
          <p:nvPr/>
        </p:nvSpPr>
        <p:spPr>
          <a:xfrm>
            <a:off x="2715840" y="3237120"/>
            <a:ext cx="9143640" cy="658080"/>
          </a:xfrm>
          <a:prstGeom prst="rect">
            <a:avLst/>
          </a:prstGeom>
          <a:solidFill>
            <a:srgbClr val="1c1c2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3" name="TextBox 19"/>
          <p:cNvSpPr/>
          <p:nvPr/>
        </p:nvSpPr>
        <p:spPr>
          <a:xfrm>
            <a:off x="2807280" y="3328560"/>
            <a:ext cx="89607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i="1" u="none" strike="noStrike">
                <a:solidFill>
                  <a:srgbClr val="787880"/>
                </a:solidFill>
                <a:effectLst/>
                <a:uFillTx/>
                <a:latin typeface="Calibri"/>
              </a:rPr>
              <a:t>→ «Перелічи 5 альтернативних пояснень для цього патерну поведінки»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4" name="Rectangle 20"/>
          <p:cNvSpPr/>
          <p:nvPr/>
        </p:nvSpPr>
        <p:spPr>
          <a:xfrm>
            <a:off x="365760" y="3996000"/>
            <a:ext cx="2285640" cy="658080"/>
          </a:xfrm>
          <a:prstGeom prst="rect">
            <a:avLst/>
          </a:prstGeom>
          <a:solidFill>
            <a:srgbClr val="1c1c22"/>
          </a:solidFill>
          <a:ln w="6350">
            <a:solidFill>
              <a:srgbClr val="5ab87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5" name="TextBox 21"/>
          <p:cNvSpPr/>
          <p:nvPr/>
        </p:nvSpPr>
        <p:spPr>
          <a:xfrm>
            <a:off x="457200" y="4041720"/>
            <a:ext cx="21484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5ab878"/>
                </a:solidFill>
                <a:effectLst/>
                <a:uFillTx/>
                <a:latin typeface="Calibri"/>
              </a:rPr>
              <a:t>Gap analysis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6" name="Rectangle 22"/>
          <p:cNvSpPr/>
          <p:nvPr/>
        </p:nvSpPr>
        <p:spPr>
          <a:xfrm>
            <a:off x="2715840" y="3996000"/>
            <a:ext cx="9143640" cy="658080"/>
          </a:xfrm>
          <a:prstGeom prst="rect">
            <a:avLst/>
          </a:prstGeom>
          <a:solidFill>
            <a:srgbClr val="1c1c2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7" name="TextBox 23"/>
          <p:cNvSpPr/>
          <p:nvPr/>
        </p:nvSpPr>
        <p:spPr>
          <a:xfrm>
            <a:off x="2807280" y="4087440"/>
            <a:ext cx="89607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i="1" u="none" strike="noStrike">
                <a:solidFill>
                  <a:srgbClr val="787880"/>
                </a:solidFill>
                <a:effectLst/>
                <a:uFillTx/>
                <a:latin typeface="Calibri"/>
              </a:rPr>
              <a:t>→ «Які питання залишаються без відповіді після цього аналізу?»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8" name="Rectangle 24"/>
          <p:cNvSpPr/>
          <p:nvPr/>
        </p:nvSpPr>
        <p:spPr>
          <a:xfrm>
            <a:off x="365760" y="4754880"/>
            <a:ext cx="2285640" cy="658080"/>
          </a:xfrm>
          <a:prstGeom prst="rect">
            <a:avLst/>
          </a:prstGeom>
          <a:solidFill>
            <a:srgbClr val="1c1c22"/>
          </a:solidFill>
          <a:ln w="6350">
            <a:solidFill>
              <a:srgbClr val="5ab87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9" name="TextBox 25"/>
          <p:cNvSpPr/>
          <p:nvPr/>
        </p:nvSpPr>
        <p:spPr>
          <a:xfrm>
            <a:off x="457200" y="4800600"/>
            <a:ext cx="21484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5ab878"/>
                </a:solidFill>
                <a:effectLst/>
                <a:uFillTx/>
                <a:latin typeface="Calibri"/>
              </a:rPr>
              <a:t>Executive summary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0" name="Rectangle 26"/>
          <p:cNvSpPr/>
          <p:nvPr/>
        </p:nvSpPr>
        <p:spPr>
          <a:xfrm>
            <a:off x="2715840" y="4754880"/>
            <a:ext cx="9143640" cy="658080"/>
          </a:xfrm>
          <a:prstGeom prst="rect">
            <a:avLst/>
          </a:prstGeom>
          <a:solidFill>
            <a:srgbClr val="1c1c2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1" name="TextBox 27"/>
          <p:cNvSpPr/>
          <p:nvPr/>
        </p:nvSpPr>
        <p:spPr>
          <a:xfrm>
            <a:off x="2807280" y="4846320"/>
            <a:ext cx="89607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i="1" u="none" strike="noStrike">
                <a:solidFill>
                  <a:srgbClr val="787880"/>
                </a:solidFill>
                <a:effectLst/>
                <a:uFillTx/>
                <a:latin typeface="Calibri"/>
              </a:rPr>
              <a:t>→ «Напиши резюме у 3 реченнях для нетехнічної аудиторії»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2" name="Rectangle 28"/>
          <p:cNvSpPr/>
          <p:nvPr/>
        </p:nvSpPr>
        <p:spPr>
          <a:xfrm>
            <a:off x="365760" y="5623560"/>
            <a:ext cx="11429640" cy="1005480"/>
          </a:xfrm>
          <a:prstGeom prst="rect">
            <a:avLst/>
          </a:prstGeom>
          <a:solidFill>
            <a:srgbClr val="081018"/>
          </a:solidFill>
          <a:ln w="10160">
            <a:solidFill>
              <a:srgbClr val="4a9ec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3" name="TextBox 29"/>
          <p:cNvSpPr/>
          <p:nvPr/>
        </p:nvSpPr>
        <p:spPr>
          <a:xfrm>
            <a:off x="502920" y="5669280"/>
            <a:ext cx="2285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4a9ec7"/>
                </a:solidFill>
                <a:effectLst/>
                <a:uFillTx/>
                <a:latin typeface="Calibri"/>
              </a:rPr>
              <a:t>Практичний патерн: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4" name="TextBox 30"/>
          <p:cNvSpPr/>
          <p:nvPr/>
        </p:nvSpPr>
        <p:spPr>
          <a:xfrm>
            <a:off x="502920" y="6035040"/>
            <a:ext cx="111553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e8e8e8"/>
                </a:solidFill>
                <a:effectLst/>
                <a:uFillTx/>
                <a:latin typeface="Calibri"/>
              </a:rPr>
              <a:t>1. Аналітик збирає факти  →  2. AI структурує чернетку  →  3. Аналітик додає атрибуції  →  4. AI полірує стиль  →  5. Аналітик підписує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0d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TextBox 1"/>
          <p:cNvSpPr/>
          <p:nvPr/>
        </p:nvSpPr>
        <p:spPr>
          <a:xfrm>
            <a:off x="365760" y="73080"/>
            <a:ext cx="10972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4a9ec7"/>
                </a:solidFill>
                <a:effectLst/>
                <a:uFillTx/>
                <a:latin typeface="Calibri"/>
              </a:rPr>
              <a:t>ЧАСТИНА ІІ — PROMPT ENGINEERING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6" name="TextBox 2"/>
          <p:cNvSpPr/>
          <p:nvPr/>
        </p:nvSpPr>
        <p:spPr>
          <a:xfrm>
            <a:off x="365760" y="320040"/>
            <a:ext cx="109724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400" b="1" u="none" strike="noStrike">
                <a:solidFill>
                  <a:srgbClr val="e8e8e8"/>
                </a:solidFill>
                <a:effectLst/>
                <a:uFillTx/>
                <a:latin typeface="Calibri"/>
              </a:rPr>
              <a:t>Архітектура ефективного промпту</a:t>
            </a:r>
            <a:endParaRPr lang="en-US" sz="3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7" name="Rectangle 3"/>
          <p:cNvSpPr/>
          <p:nvPr/>
        </p:nvSpPr>
        <p:spPr>
          <a:xfrm>
            <a:off x="365760" y="804600"/>
            <a:ext cx="11457000" cy="27000"/>
          </a:xfrm>
          <a:prstGeom prst="rect">
            <a:avLst/>
          </a:prstGeom>
          <a:solidFill>
            <a:srgbClr val="4a9ec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17640" bIns="-1764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8" name="TextBox 4"/>
          <p:cNvSpPr/>
          <p:nvPr/>
        </p:nvSpPr>
        <p:spPr>
          <a:xfrm>
            <a:off x="365760" y="914400"/>
            <a:ext cx="109724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4a9ec7"/>
                </a:solidFill>
                <a:effectLst/>
                <a:uFillTx/>
                <a:latin typeface="Calibri"/>
              </a:rPr>
              <a:t>Промпт для аналітичної роботи — це не запитання. Це технічне завдання.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9" name="Rectangle 5"/>
          <p:cNvSpPr/>
          <p:nvPr/>
        </p:nvSpPr>
        <p:spPr>
          <a:xfrm>
            <a:off x="365760" y="1463040"/>
            <a:ext cx="1919880" cy="658080"/>
          </a:xfrm>
          <a:prstGeom prst="rect">
            <a:avLst/>
          </a:prstGeom>
          <a:solidFill>
            <a:srgbClr val="1c1c22"/>
          </a:solidFill>
          <a:ln w="8890">
            <a:solidFill>
              <a:srgbClr val="4a9ec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0" name="TextBox 6"/>
          <p:cNvSpPr/>
          <p:nvPr/>
        </p:nvSpPr>
        <p:spPr>
          <a:xfrm>
            <a:off x="457200" y="1554480"/>
            <a:ext cx="18284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4a9ec7"/>
                </a:solidFill>
                <a:effectLst/>
                <a:uFillTx/>
                <a:latin typeface="Calibri"/>
              </a:rPr>
              <a:t>[РОЛЬ]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1" name="TextBox 7"/>
          <p:cNvSpPr/>
          <p:nvPr/>
        </p:nvSpPr>
        <p:spPr>
          <a:xfrm>
            <a:off x="2377440" y="1554480"/>
            <a:ext cx="93265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e8e8e8"/>
                </a:solidFill>
                <a:effectLst/>
                <a:uFillTx/>
                <a:latin typeface="Calibri"/>
              </a:rPr>
              <a:t>Ти — досвідчений OSINT-аналітик зі спеціалізацією в...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2" name="Rectangle 8"/>
          <p:cNvSpPr/>
          <p:nvPr/>
        </p:nvSpPr>
        <p:spPr>
          <a:xfrm>
            <a:off x="365760" y="2221920"/>
            <a:ext cx="1919880" cy="658080"/>
          </a:xfrm>
          <a:prstGeom prst="rect">
            <a:avLst/>
          </a:prstGeom>
          <a:solidFill>
            <a:srgbClr val="1c1c22"/>
          </a:solidFill>
          <a:ln w="8890">
            <a:solidFill>
              <a:srgbClr val="c9854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3" name="TextBox 9"/>
          <p:cNvSpPr/>
          <p:nvPr/>
        </p:nvSpPr>
        <p:spPr>
          <a:xfrm>
            <a:off x="457200" y="2313360"/>
            <a:ext cx="18284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c98540"/>
                </a:solidFill>
                <a:effectLst/>
                <a:uFillTx/>
                <a:latin typeface="Calibri"/>
              </a:rPr>
              <a:t>[КОНТЕКСТ]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4" name="TextBox 10"/>
          <p:cNvSpPr/>
          <p:nvPr/>
        </p:nvSpPr>
        <p:spPr>
          <a:xfrm>
            <a:off x="2377440" y="2313360"/>
            <a:ext cx="93265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e8e8e8"/>
                </a:solidFill>
                <a:effectLst/>
                <a:uFillTx/>
                <a:latin typeface="Calibri"/>
              </a:rPr>
              <a:t>Ми розслідуємо... Наразі встановлено, що...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5" name="Rectangle 11"/>
          <p:cNvSpPr/>
          <p:nvPr/>
        </p:nvSpPr>
        <p:spPr>
          <a:xfrm>
            <a:off x="365760" y="2980800"/>
            <a:ext cx="1919880" cy="658080"/>
          </a:xfrm>
          <a:prstGeom prst="rect">
            <a:avLst/>
          </a:prstGeom>
          <a:solidFill>
            <a:srgbClr val="1c1c22"/>
          </a:solidFill>
          <a:ln w="8890">
            <a:solidFill>
              <a:srgbClr val="e8e8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6" name="TextBox 12"/>
          <p:cNvSpPr/>
          <p:nvPr/>
        </p:nvSpPr>
        <p:spPr>
          <a:xfrm>
            <a:off x="457200" y="3072240"/>
            <a:ext cx="18284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e8e8e8"/>
                </a:solidFill>
                <a:effectLst/>
                <a:uFillTx/>
                <a:latin typeface="Calibri"/>
              </a:rPr>
              <a:t>[ЗАВДАННЯ]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7" name="TextBox 13"/>
          <p:cNvSpPr/>
          <p:nvPr/>
        </p:nvSpPr>
        <p:spPr>
          <a:xfrm>
            <a:off x="2377440" y="3072240"/>
            <a:ext cx="93265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e8e8e8"/>
                </a:solidFill>
                <a:effectLst/>
                <a:uFillTx/>
                <a:latin typeface="Calibri"/>
              </a:rPr>
              <a:t>Твоє завдання — ...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8" name="Rectangle 14"/>
          <p:cNvSpPr/>
          <p:nvPr/>
        </p:nvSpPr>
        <p:spPr>
          <a:xfrm>
            <a:off x="365760" y="3740040"/>
            <a:ext cx="1919880" cy="658080"/>
          </a:xfrm>
          <a:prstGeom prst="rect">
            <a:avLst/>
          </a:prstGeom>
          <a:solidFill>
            <a:srgbClr val="1c1c22"/>
          </a:solidFill>
          <a:ln w="8890">
            <a:solidFill>
              <a:srgbClr val="e8e8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9" name="TextBox 15"/>
          <p:cNvSpPr/>
          <p:nvPr/>
        </p:nvSpPr>
        <p:spPr>
          <a:xfrm>
            <a:off x="457200" y="3831480"/>
            <a:ext cx="18284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e8e8e8"/>
                </a:solidFill>
                <a:effectLst/>
                <a:uFillTx/>
                <a:latin typeface="Calibri"/>
              </a:rPr>
              <a:t>[ФОРМАТ]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0" name="TextBox 16"/>
          <p:cNvSpPr/>
          <p:nvPr/>
        </p:nvSpPr>
        <p:spPr>
          <a:xfrm>
            <a:off x="2377440" y="3831480"/>
            <a:ext cx="93265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e8e8e8"/>
                </a:solidFill>
                <a:effectLst/>
                <a:uFillTx/>
                <a:latin typeface="Calibri"/>
              </a:rPr>
              <a:t>Відповідь у форматі: 1) ... 2) ... 3) ...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1" name="Rectangle 17"/>
          <p:cNvSpPr/>
          <p:nvPr/>
        </p:nvSpPr>
        <p:spPr>
          <a:xfrm>
            <a:off x="365760" y="4498920"/>
            <a:ext cx="1919880" cy="658080"/>
          </a:xfrm>
          <a:prstGeom prst="rect">
            <a:avLst/>
          </a:prstGeom>
          <a:solidFill>
            <a:srgbClr val="1c1c22"/>
          </a:solidFill>
          <a:ln w="8890">
            <a:solidFill>
              <a:srgbClr val="c9854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2" name="TextBox 18"/>
          <p:cNvSpPr/>
          <p:nvPr/>
        </p:nvSpPr>
        <p:spPr>
          <a:xfrm>
            <a:off x="457200" y="4590360"/>
            <a:ext cx="18284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c98540"/>
                </a:solidFill>
                <a:effectLst/>
                <a:uFillTx/>
                <a:latin typeface="Calibri"/>
              </a:rPr>
              <a:t>[ОБМЕЖЕННЯ]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3" name="TextBox 19"/>
          <p:cNvSpPr/>
          <p:nvPr/>
        </p:nvSpPr>
        <p:spPr>
          <a:xfrm>
            <a:off x="2377440" y="4590360"/>
            <a:ext cx="93265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e8e8e8"/>
                </a:solidFill>
                <a:effectLst/>
                <a:uFillTx/>
                <a:latin typeface="Calibri"/>
              </a:rPr>
              <a:t>Не роби припущень без доказів. Якщо даних недостатньо — скажи явно.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4" name="Rectangle 20"/>
          <p:cNvSpPr/>
          <p:nvPr/>
        </p:nvSpPr>
        <p:spPr>
          <a:xfrm>
            <a:off x="365760" y="5257800"/>
            <a:ext cx="1919880" cy="658080"/>
          </a:xfrm>
          <a:prstGeom prst="rect">
            <a:avLst/>
          </a:prstGeom>
          <a:solidFill>
            <a:srgbClr val="1c1c22"/>
          </a:solidFill>
          <a:ln w="8890">
            <a:solidFill>
              <a:srgbClr val="78788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5" name="TextBox 21"/>
          <p:cNvSpPr/>
          <p:nvPr/>
        </p:nvSpPr>
        <p:spPr>
          <a:xfrm>
            <a:off x="457200" y="5349240"/>
            <a:ext cx="18284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787880"/>
                </a:solidFill>
                <a:effectLst/>
                <a:uFillTx/>
                <a:latin typeface="Calibri"/>
              </a:rPr>
              <a:t>[ВХІДНІ ДАНІ]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6" name="TextBox 22"/>
          <p:cNvSpPr/>
          <p:nvPr/>
        </p:nvSpPr>
        <p:spPr>
          <a:xfrm>
            <a:off x="2377440" y="5349240"/>
            <a:ext cx="93265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e8e8e8"/>
                </a:solidFill>
                <a:effectLst/>
                <a:uFillTx/>
                <a:latin typeface="Calibri"/>
              </a:rPr>
              <a:t>&lt;текст / дані для аналізу&gt;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7" name="TextBox 23"/>
          <p:cNvSpPr/>
          <p:nvPr/>
        </p:nvSpPr>
        <p:spPr>
          <a:xfrm>
            <a:off x="365760" y="6080760"/>
            <a:ext cx="114296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c98540"/>
                </a:solidFill>
                <a:effectLst/>
                <a:uFillTx/>
                <a:latin typeface="Calibri"/>
              </a:rPr>
              <a:t>⚠  Без ролі → загальна відповідь.  Без формату → непридатна для звіту.  Без обмежень → галюцинує «зручні» факти.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0d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TextBox 1"/>
          <p:cNvSpPr/>
          <p:nvPr/>
        </p:nvSpPr>
        <p:spPr>
          <a:xfrm>
            <a:off x="365760" y="73080"/>
            <a:ext cx="10972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4a9ec7"/>
                </a:solidFill>
                <a:effectLst/>
                <a:uFillTx/>
                <a:latin typeface="Calibri"/>
              </a:rPr>
              <a:t>ЧАСТИНА ІІ — PROMPT ENGINEERING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9" name="TextBox 2"/>
          <p:cNvSpPr/>
          <p:nvPr/>
        </p:nvSpPr>
        <p:spPr>
          <a:xfrm>
            <a:off x="365760" y="320040"/>
            <a:ext cx="109724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800" b="1" u="none" strike="noStrike">
                <a:solidFill>
                  <a:srgbClr val="4a9ec7"/>
                </a:solidFill>
                <a:effectLst/>
                <a:uFillTx/>
                <a:latin typeface="Calibri"/>
              </a:rPr>
              <a:t>Фреймворк R.O.C.E.</a:t>
            </a:r>
            <a:endParaRPr lang="en-US" sz="3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0" name="Rectangle 4"/>
          <p:cNvSpPr/>
          <p:nvPr/>
        </p:nvSpPr>
        <p:spPr>
          <a:xfrm>
            <a:off x="365760" y="1005840"/>
            <a:ext cx="822600" cy="1096920"/>
          </a:xfrm>
          <a:prstGeom prst="rect">
            <a:avLst/>
          </a:prstGeom>
          <a:solidFill>
            <a:srgbClr val="4a9ec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1" name="TextBox 5"/>
          <p:cNvSpPr/>
          <p:nvPr/>
        </p:nvSpPr>
        <p:spPr>
          <a:xfrm>
            <a:off x="365760" y="1143000"/>
            <a:ext cx="8226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3800" b="1" u="none" strike="noStrike">
                <a:solidFill>
                  <a:srgbClr val="0d0d0f"/>
                </a:solidFill>
                <a:effectLst/>
                <a:uFillTx/>
                <a:latin typeface="Calibri"/>
              </a:rPr>
              <a:t>R</a:t>
            </a:r>
            <a:endParaRPr lang="en-US" sz="3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2" name="TextBox 6"/>
          <p:cNvSpPr/>
          <p:nvPr/>
        </p:nvSpPr>
        <p:spPr>
          <a:xfrm>
            <a:off x="1325880" y="1051560"/>
            <a:ext cx="16455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4a9ec7"/>
                </a:solidFill>
                <a:effectLst/>
                <a:uFillTx/>
                <a:latin typeface="Calibri"/>
              </a:rPr>
              <a:t>ROLE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3" name="TextBox 7"/>
          <p:cNvSpPr/>
          <p:nvPr/>
        </p:nvSpPr>
        <p:spPr>
          <a:xfrm>
            <a:off x="1325880" y="1389960"/>
            <a:ext cx="16455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e8e8e8"/>
                </a:solidFill>
                <a:effectLst/>
                <a:uFillTx/>
                <a:latin typeface="Calibri"/>
              </a:rPr>
              <a:t>Роль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4" name="Rectangle 8"/>
          <p:cNvSpPr/>
          <p:nvPr/>
        </p:nvSpPr>
        <p:spPr>
          <a:xfrm>
            <a:off x="3108960" y="1005840"/>
            <a:ext cx="8686440" cy="1096920"/>
          </a:xfrm>
          <a:prstGeom prst="rect">
            <a:avLst/>
          </a:prstGeom>
          <a:solidFill>
            <a:srgbClr val="1c1c2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5" name="TextBox 9"/>
          <p:cNvSpPr/>
          <p:nvPr/>
        </p:nvSpPr>
        <p:spPr>
          <a:xfrm>
            <a:off x="3246120" y="1097280"/>
            <a:ext cx="841212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787880"/>
                </a:solidFill>
                <a:effectLst/>
                <a:uFillTx/>
                <a:latin typeface="Calibri"/>
              </a:rPr>
              <a:t>Ти — досвідчений аналітик відкритих джерел зі знанням цифрових слідів і атрибуції акаунтів.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6" name="Rectangle 10"/>
          <p:cNvSpPr/>
          <p:nvPr/>
        </p:nvSpPr>
        <p:spPr>
          <a:xfrm>
            <a:off x="365760" y="2331720"/>
            <a:ext cx="822600" cy="1096920"/>
          </a:xfrm>
          <a:prstGeom prst="rect">
            <a:avLst/>
          </a:prstGeom>
          <a:solidFill>
            <a:srgbClr val="4a9ec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7" name="TextBox 11"/>
          <p:cNvSpPr/>
          <p:nvPr/>
        </p:nvSpPr>
        <p:spPr>
          <a:xfrm>
            <a:off x="365760" y="2468880"/>
            <a:ext cx="8226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3800" b="1" u="none" strike="noStrike">
                <a:solidFill>
                  <a:srgbClr val="0d0d0f"/>
                </a:solidFill>
                <a:effectLst/>
                <a:uFillTx/>
                <a:latin typeface="Calibri"/>
              </a:rPr>
              <a:t>O</a:t>
            </a:r>
            <a:endParaRPr lang="en-US" sz="3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8" name="TextBox 12"/>
          <p:cNvSpPr/>
          <p:nvPr/>
        </p:nvSpPr>
        <p:spPr>
          <a:xfrm>
            <a:off x="1325880" y="2377440"/>
            <a:ext cx="16455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4a9ec7"/>
                </a:solidFill>
                <a:effectLst/>
                <a:uFillTx/>
                <a:latin typeface="Calibri"/>
              </a:rPr>
              <a:t>OBJECTIVE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9" name="TextBox 13"/>
          <p:cNvSpPr/>
          <p:nvPr/>
        </p:nvSpPr>
        <p:spPr>
          <a:xfrm>
            <a:off x="1325880" y="2715840"/>
            <a:ext cx="16455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e8e8e8"/>
                </a:solidFill>
                <a:effectLst/>
                <a:uFillTx/>
                <a:latin typeface="Calibri"/>
              </a:rPr>
              <a:t>Ціль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0" name="Rectangle 14"/>
          <p:cNvSpPr/>
          <p:nvPr/>
        </p:nvSpPr>
        <p:spPr>
          <a:xfrm>
            <a:off x="3108960" y="2331720"/>
            <a:ext cx="8686440" cy="1096920"/>
          </a:xfrm>
          <a:prstGeom prst="rect">
            <a:avLst/>
          </a:prstGeom>
          <a:solidFill>
            <a:srgbClr val="1c1c2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1" name="TextBox 15"/>
          <p:cNvSpPr/>
          <p:nvPr/>
        </p:nvSpPr>
        <p:spPr>
          <a:xfrm>
            <a:off x="3246120" y="2423160"/>
            <a:ext cx="841212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787880"/>
                </a:solidFill>
                <a:effectLst/>
                <a:uFillTx/>
                <a:latin typeface="Calibri"/>
              </a:rPr>
              <a:t>Проведи аналіз цифрового сліду підозрюваного акаунту і визнач ймовірне місце базування оператора.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2" name="Rectangle 16"/>
          <p:cNvSpPr/>
          <p:nvPr/>
        </p:nvSpPr>
        <p:spPr>
          <a:xfrm>
            <a:off x="365760" y="3657600"/>
            <a:ext cx="822600" cy="1096920"/>
          </a:xfrm>
          <a:prstGeom prst="rect">
            <a:avLst/>
          </a:prstGeom>
          <a:solidFill>
            <a:srgbClr val="4a9ec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3" name="TextBox 17"/>
          <p:cNvSpPr/>
          <p:nvPr/>
        </p:nvSpPr>
        <p:spPr>
          <a:xfrm>
            <a:off x="365760" y="3794760"/>
            <a:ext cx="8226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3800" b="1" u="none" strike="noStrike">
                <a:solidFill>
                  <a:srgbClr val="0d0d0f"/>
                </a:solidFill>
                <a:effectLst/>
                <a:uFillTx/>
                <a:latin typeface="Calibri"/>
              </a:rPr>
              <a:t>C</a:t>
            </a:r>
            <a:endParaRPr lang="en-US" sz="3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4" name="TextBox 18"/>
          <p:cNvSpPr/>
          <p:nvPr/>
        </p:nvSpPr>
        <p:spPr>
          <a:xfrm>
            <a:off x="1325880" y="3703320"/>
            <a:ext cx="16455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4a9ec7"/>
                </a:solidFill>
                <a:effectLst/>
                <a:uFillTx/>
                <a:latin typeface="Calibri"/>
              </a:rPr>
              <a:t>CONTEXT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5" name="TextBox 19"/>
          <p:cNvSpPr/>
          <p:nvPr/>
        </p:nvSpPr>
        <p:spPr>
          <a:xfrm>
            <a:off x="1325880" y="4041720"/>
            <a:ext cx="16455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e8e8e8"/>
                </a:solidFill>
                <a:effectLst/>
                <a:uFillTx/>
                <a:latin typeface="Calibri"/>
              </a:rPr>
              <a:t>Контекст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6" name="Rectangle 20"/>
          <p:cNvSpPr/>
          <p:nvPr/>
        </p:nvSpPr>
        <p:spPr>
          <a:xfrm>
            <a:off x="3108960" y="3657600"/>
            <a:ext cx="8686440" cy="1096920"/>
          </a:xfrm>
          <a:prstGeom prst="rect">
            <a:avLst/>
          </a:prstGeom>
          <a:solidFill>
            <a:srgbClr val="1c1c2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7" name="TextBox 21"/>
          <p:cNvSpPr/>
          <p:nvPr/>
        </p:nvSpPr>
        <p:spPr>
          <a:xfrm>
            <a:off x="3246120" y="3749040"/>
            <a:ext cx="841212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787880"/>
                </a:solidFill>
                <a:effectLst/>
                <a:uFillTx/>
                <a:latin typeface="Calibri"/>
              </a:rPr>
              <a:t>Акаунт @example_ua існує з 2019 р., активний о 9–18:00 UTC+2. Публікує проросійський контент. Раніше пов'язаний з @old_handle.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8" name="Rectangle 22"/>
          <p:cNvSpPr/>
          <p:nvPr/>
        </p:nvSpPr>
        <p:spPr>
          <a:xfrm>
            <a:off x="365760" y="4983480"/>
            <a:ext cx="822600" cy="1096920"/>
          </a:xfrm>
          <a:prstGeom prst="rect">
            <a:avLst/>
          </a:prstGeom>
          <a:solidFill>
            <a:srgbClr val="4a9ec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9" name="TextBox 23"/>
          <p:cNvSpPr/>
          <p:nvPr/>
        </p:nvSpPr>
        <p:spPr>
          <a:xfrm>
            <a:off x="365760" y="5120640"/>
            <a:ext cx="8226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3800" b="1" u="none" strike="noStrike">
                <a:solidFill>
                  <a:srgbClr val="0d0d0f"/>
                </a:solidFill>
                <a:effectLst/>
                <a:uFillTx/>
                <a:latin typeface="Calibri"/>
              </a:rPr>
              <a:t>E</a:t>
            </a:r>
            <a:endParaRPr lang="en-US" sz="3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0" name="TextBox 24"/>
          <p:cNvSpPr/>
          <p:nvPr/>
        </p:nvSpPr>
        <p:spPr>
          <a:xfrm>
            <a:off x="1325880" y="5029200"/>
            <a:ext cx="16455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4a9ec7"/>
                </a:solidFill>
                <a:effectLst/>
                <a:uFillTx/>
                <a:latin typeface="Calibri"/>
              </a:rPr>
              <a:t>EVIDENCE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1" name="TextBox 25"/>
          <p:cNvSpPr/>
          <p:nvPr/>
        </p:nvSpPr>
        <p:spPr>
          <a:xfrm>
            <a:off x="1325880" y="5367600"/>
            <a:ext cx="16455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e8e8e8"/>
                </a:solidFill>
                <a:effectLst/>
                <a:uFillTx/>
                <a:latin typeface="Calibri"/>
              </a:rPr>
              <a:t>Докази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2" name="Rectangle 26"/>
          <p:cNvSpPr/>
          <p:nvPr/>
        </p:nvSpPr>
        <p:spPr>
          <a:xfrm>
            <a:off x="3108960" y="4983480"/>
            <a:ext cx="8686440" cy="1096920"/>
          </a:xfrm>
          <a:prstGeom prst="rect">
            <a:avLst/>
          </a:prstGeom>
          <a:solidFill>
            <a:srgbClr val="1c1c2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83" name="TextBox 27"/>
          <p:cNvSpPr/>
          <p:nvPr/>
        </p:nvSpPr>
        <p:spPr>
          <a:xfrm>
            <a:off x="3246120" y="5074920"/>
            <a:ext cx="841212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787880"/>
                </a:solidFill>
                <a:effectLst/>
                <a:uFillTx/>
                <a:latin typeface="Calibri"/>
              </a:rPr>
              <a:t>[вставити останні 30 повідомлень у форматі timestamp + текст]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4" name="TextBox 28"/>
          <p:cNvSpPr/>
          <p:nvPr/>
        </p:nvSpPr>
        <p:spPr>
          <a:xfrm>
            <a:off x="365760" y="6355080"/>
            <a:ext cx="114296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5ab878"/>
                </a:solidFill>
                <a:effectLst/>
                <a:uFillTx/>
                <a:latin typeface="Calibri"/>
              </a:rPr>
              <a:t>Результат: мова оригіналу · ймовірний часовий пояс · тематичні патерни · зв'язок між акаунтами  + рівні впевненості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0d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TextBox 1"/>
          <p:cNvSpPr/>
          <p:nvPr/>
        </p:nvSpPr>
        <p:spPr>
          <a:xfrm>
            <a:off x="365760" y="73080"/>
            <a:ext cx="10972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4a9ec7"/>
                </a:solidFill>
                <a:effectLst/>
                <a:uFillTx/>
                <a:latin typeface="Calibri"/>
              </a:rPr>
              <a:t>ЧАСТИНА ІІ — PROMPT ENGINEERING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6" name="TextBox 2"/>
          <p:cNvSpPr/>
          <p:nvPr/>
        </p:nvSpPr>
        <p:spPr>
          <a:xfrm>
            <a:off x="365760" y="320040"/>
            <a:ext cx="109724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200" b="1" u="none" strike="noStrike">
                <a:solidFill>
                  <a:srgbClr val="e8e8e8"/>
                </a:solidFill>
                <a:effectLst/>
                <a:uFillTx/>
                <a:latin typeface="Calibri"/>
              </a:rPr>
              <a:t>Готові промпти для аналітичних задач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7" name="Rectangle 3"/>
          <p:cNvSpPr/>
          <p:nvPr/>
        </p:nvSpPr>
        <p:spPr>
          <a:xfrm>
            <a:off x="365760" y="804600"/>
            <a:ext cx="11457000" cy="27000"/>
          </a:xfrm>
          <a:prstGeom prst="rect">
            <a:avLst/>
          </a:prstGeom>
          <a:solidFill>
            <a:srgbClr val="4a9ec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17640" bIns="-1764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88" name="Rectangle 4"/>
          <p:cNvSpPr/>
          <p:nvPr/>
        </p:nvSpPr>
        <p:spPr>
          <a:xfrm>
            <a:off x="365760" y="960120"/>
            <a:ext cx="5486040" cy="2422800"/>
          </a:xfrm>
          <a:prstGeom prst="rect">
            <a:avLst/>
          </a:prstGeom>
          <a:solidFill>
            <a:srgbClr val="1c1c22"/>
          </a:solidFill>
          <a:ln w="8890">
            <a:solidFill>
              <a:srgbClr val="4a9ec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89" name="TextBox 5"/>
          <p:cNvSpPr/>
          <p:nvPr/>
        </p:nvSpPr>
        <p:spPr>
          <a:xfrm>
            <a:off x="502920" y="1051560"/>
            <a:ext cx="52117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4a9ec7"/>
                </a:solidFill>
                <a:effectLst/>
                <a:uFillTx/>
                <a:latin typeface="Calibri"/>
              </a:rPr>
              <a:t>СИНТЕЗ ДЖЕРЕЛ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0" name="TextBox 6"/>
          <p:cNvSpPr/>
          <p:nvPr/>
        </p:nvSpPr>
        <p:spPr>
          <a:xfrm>
            <a:off x="502920" y="1490400"/>
            <a:ext cx="521172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lang="en-US" sz="1200" b="0" i="1" u="none" strike="noStrike">
                <a:solidFill>
                  <a:srgbClr val="787880"/>
                </a:solidFill>
                <a:effectLst/>
                <a:uFillTx/>
                <a:latin typeface="Calibri"/>
              </a:rPr>
              <a:t>Нижче — 5 статей з різних джерел. Синтезуй: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200" b="0" i="1" u="none" strike="noStrike">
                <a:solidFill>
                  <a:srgbClr val="787880"/>
                </a:solidFill>
                <a:effectLst/>
                <a:uFillTx/>
                <a:latin typeface="Calibri"/>
              </a:rPr>
              <a:t>1) Факти-консенсус  2) Суперечності  3) Унікальна інформація  4) Хронологія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i="1" u="none" strike="noStrike">
                <a:solidFill>
                  <a:srgbClr val="787880"/>
                </a:solidFill>
                <a:effectLst/>
                <a:uFillTx/>
                <a:latin typeface="Calibri"/>
              </a:rPr>
              <a:t>Не додавай власних оцінок. Лише синтез.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1" name="Rectangle 7"/>
          <p:cNvSpPr/>
          <p:nvPr/>
        </p:nvSpPr>
        <p:spPr>
          <a:xfrm>
            <a:off x="365760" y="3566160"/>
            <a:ext cx="5486040" cy="2422800"/>
          </a:xfrm>
          <a:prstGeom prst="rect">
            <a:avLst/>
          </a:prstGeom>
          <a:solidFill>
            <a:srgbClr val="1c1c22"/>
          </a:solidFill>
          <a:ln w="8890">
            <a:solidFill>
              <a:srgbClr val="4a9ec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92" name="TextBox 8"/>
          <p:cNvSpPr/>
          <p:nvPr/>
        </p:nvSpPr>
        <p:spPr>
          <a:xfrm>
            <a:off x="502920" y="3657600"/>
            <a:ext cx="52117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4a9ec7"/>
                </a:solidFill>
                <a:effectLst/>
                <a:uFillTx/>
                <a:latin typeface="Calibri"/>
              </a:rPr>
              <a:t>ВИЯВЛЕННЯ МАНІПУЛЯЦІЙ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3" name="TextBox 9"/>
          <p:cNvSpPr/>
          <p:nvPr/>
        </p:nvSpPr>
        <p:spPr>
          <a:xfrm>
            <a:off x="502920" y="4096440"/>
            <a:ext cx="521172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lang="en-US" sz="1200" b="0" i="1" u="none" strike="noStrike">
                <a:solidFill>
                  <a:srgbClr val="787880"/>
                </a:solidFill>
                <a:effectLst/>
                <a:uFillTx/>
                <a:latin typeface="Calibri"/>
              </a:rPr>
              <a:t>Визнач: 1) Які факти включені/виключені?  2) Емоційне забарвлення?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200" b="0" i="1" u="none" strike="noStrike">
                <a:solidFill>
                  <a:srgbClr val="787880"/>
                </a:solidFill>
                <a:effectLst/>
                <a:uFillTx/>
                <a:latin typeface="Calibri"/>
              </a:rPr>
              <a:t>3) Ключові слова-фрейми  4) Ознаки синхронізованого поширення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i="1" u="none" strike="noStrike">
                <a:solidFill>
                  <a:srgbClr val="787880"/>
                </a:solidFill>
                <a:effectLst/>
                <a:uFillTx/>
                <a:latin typeface="Calibri"/>
              </a:rPr>
              <a:t>Для кожного пункту: цитата + рівень впевненості.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4" name="Rectangle 10"/>
          <p:cNvSpPr/>
          <p:nvPr/>
        </p:nvSpPr>
        <p:spPr>
          <a:xfrm>
            <a:off x="6080760" y="960120"/>
            <a:ext cx="5486040" cy="2422800"/>
          </a:xfrm>
          <a:prstGeom prst="rect">
            <a:avLst/>
          </a:prstGeom>
          <a:solidFill>
            <a:srgbClr val="1c1c22"/>
          </a:solidFill>
          <a:ln w="8890">
            <a:solidFill>
              <a:srgbClr val="4a9ec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95" name="TextBox 11"/>
          <p:cNvSpPr/>
          <p:nvPr/>
        </p:nvSpPr>
        <p:spPr>
          <a:xfrm>
            <a:off x="6217920" y="1051560"/>
            <a:ext cx="52117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4a9ec7"/>
                </a:solidFill>
                <a:effectLst/>
                <a:uFillTx/>
                <a:latin typeface="Calibri"/>
              </a:rPr>
              <a:t>ХРОНОЛОГІЯ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6" name="TextBox 12"/>
          <p:cNvSpPr/>
          <p:nvPr/>
        </p:nvSpPr>
        <p:spPr>
          <a:xfrm>
            <a:off x="6217920" y="1490400"/>
            <a:ext cx="521172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lang="en-US" sz="1200" b="0" i="1" u="none" strike="noStrike">
                <a:solidFill>
                  <a:srgbClr val="787880"/>
                </a:solidFill>
                <a:effectLst/>
                <a:uFillTx/>
                <a:latin typeface="Calibri"/>
              </a:rPr>
              <a:t>Побудуй хронологію у форматі: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200" b="0" i="1" u="none" strike="noStrike">
                <a:solidFill>
                  <a:srgbClr val="787880"/>
                </a:solidFill>
                <a:effectLst/>
                <a:uFillTx/>
                <a:latin typeface="Calibri"/>
              </a:rPr>
              <a:t>YYYY-MM-DD HH:MM | Подія | Джерело | Достовірність (підтверджено/вірогідно/непідтверджено)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i="1" u="none" strike="noStrike">
                <a:solidFill>
                  <a:srgbClr val="787880"/>
                </a:solidFill>
                <a:effectLst/>
                <a:uFillTx/>
                <a:latin typeface="Calibri"/>
              </a:rPr>
              <a:t>Де час невідомий — [приблизно]. Виділи розриви.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7" name="Rectangle 13"/>
          <p:cNvSpPr/>
          <p:nvPr/>
        </p:nvSpPr>
        <p:spPr>
          <a:xfrm>
            <a:off x="6080760" y="3566160"/>
            <a:ext cx="5486040" cy="2422800"/>
          </a:xfrm>
          <a:prstGeom prst="rect">
            <a:avLst/>
          </a:prstGeom>
          <a:solidFill>
            <a:srgbClr val="1c1c22"/>
          </a:solidFill>
          <a:ln w="8890">
            <a:solidFill>
              <a:srgbClr val="4a9ec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98" name="TextBox 14"/>
          <p:cNvSpPr/>
          <p:nvPr/>
        </p:nvSpPr>
        <p:spPr>
          <a:xfrm>
            <a:off x="6217920" y="3657600"/>
            <a:ext cx="52117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4a9ec7"/>
                </a:solidFill>
                <a:effectLst/>
                <a:uFillTx/>
                <a:latin typeface="Calibri"/>
              </a:rPr>
              <a:t>GAP ANALYSIS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9" name="TextBox 15"/>
          <p:cNvSpPr/>
          <p:nvPr/>
        </p:nvSpPr>
        <p:spPr>
          <a:xfrm>
            <a:off x="6217920" y="4096440"/>
            <a:ext cx="521172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lang="en-US" sz="1200" b="0" i="1" u="none" strike="noStrike">
                <a:solidFill>
                  <a:srgbClr val="787880"/>
                </a:solidFill>
                <a:effectLst/>
                <a:uFillTx/>
                <a:latin typeface="Calibri"/>
              </a:rPr>
              <a:t>Ось що нам відомо: [перелік]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200" b="0" i="1" u="none" strike="noStrike">
                <a:solidFill>
                  <a:srgbClr val="787880"/>
                </a:solidFill>
                <a:effectLst/>
                <a:uFillTx/>
                <a:latin typeface="Calibri"/>
              </a:rPr>
              <a:t>Визнач: які ключові питання без відповіді?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i="1" u="none" strike="noStrike">
                <a:solidFill>
                  <a:srgbClr val="787880"/>
                </a:solidFill>
                <a:effectLst/>
                <a:uFillTx/>
                <a:latin typeface="Calibri"/>
              </a:rPr>
              <a:t>Для кожної прогалини: чому важливо + яке джерело може заповнити.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0" name="TextBox 16"/>
          <p:cNvSpPr/>
          <p:nvPr/>
        </p:nvSpPr>
        <p:spPr>
          <a:xfrm>
            <a:off x="365760" y="6263640"/>
            <a:ext cx="11429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5ab878"/>
                </a:solidFill>
                <a:effectLst/>
                <a:uFillTx/>
                <a:latin typeface="Calibri"/>
              </a:rPr>
              <a:t>★  Техніка «Why?»: після кожного висновку запитайте ще раз «Чому?» — це розкриває глибинне розуміння.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0d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TextBox 1"/>
          <p:cNvSpPr/>
          <p:nvPr/>
        </p:nvSpPr>
        <p:spPr>
          <a:xfrm>
            <a:off x="365760" y="73080"/>
            <a:ext cx="10972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4a9ec7"/>
                </a:solidFill>
                <a:effectLst/>
                <a:uFillTx/>
                <a:latin typeface="Calibri"/>
              </a:rPr>
              <a:t>ЧАСТИНА ІІ — PROMPT ENGINEERING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2" name="TextBox 2"/>
          <p:cNvSpPr/>
          <p:nvPr/>
        </p:nvSpPr>
        <p:spPr>
          <a:xfrm>
            <a:off x="365760" y="320040"/>
            <a:ext cx="109724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900" b="1" u="none" strike="noStrike">
                <a:solidFill>
                  <a:srgbClr val="e8e8e8"/>
                </a:solidFill>
                <a:effectLst/>
                <a:uFillTx/>
                <a:latin typeface="Calibri"/>
              </a:rPr>
              <a:t>Analysis of Competing Hypotheses (ACH) з AI</a:t>
            </a:r>
            <a:endParaRPr lang="en-US" sz="2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3" name="Rectangle 3"/>
          <p:cNvSpPr/>
          <p:nvPr/>
        </p:nvSpPr>
        <p:spPr>
          <a:xfrm>
            <a:off x="365760" y="804600"/>
            <a:ext cx="11457000" cy="27000"/>
          </a:xfrm>
          <a:prstGeom prst="rect">
            <a:avLst/>
          </a:prstGeom>
          <a:solidFill>
            <a:srgbClr val="4a9ec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17640" bIns="-1764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04" name="TextBox 4"/>
          <p:cNvSpPr/>
          <p:nvPr/>
        </p:nvSpPr>
        <p:spPr>
          <a:xfrm>
            <a:off x="365760" y="914400"/>
            <a:ext cx="109724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700" b="1" u="none" strike="noStrike">
                <a:solidFill>
                  <a:srgbClr val="c98540"/>
                </a:solidFill>
                <a:effectLst/>
                <a:uFillTx/>
                <a:latin typeface="Calibri"/>
              </a:rPr>
              <a:t>Мета: ВІДКИДАТИ гіпотези через суперечності — не підтверджувати через збіги.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5" name="Rectangle 5"/>
          <p:cNvSpPr/>
          <p:nvPr/>
        </p:nvSpPr>
        <p:spPr>
          <a:xfrm>
            <a:off x="365760" y="1463040"/>
            <a:ext cx="3062880" cy="566640"/>
          </a:xfrm>
          <a:prstGeom prst="rect">
            <a:avLst/>
          </a:prstGeom>
          <a:solidFill>
            <a:srgbClr val="151515"/>
          </a:solidFill>
          <a:ln w="7620">
            <a:solidFill>
              <a:srgbClr val="4a9ec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06" name="TextBox 6"/>
          <p:cNvSpPr/>
          <p:nvPr/>
        </p:nvSpPr>
        <p:spPr>
          <a:xfrm>
            <a:off x="429840" y="1554480"/>
            <a:ext cx="29714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4a9ec7"/>
                </a:solidFill>
                <a:effectLst/>
                <a:uFillTx/>
                <a:latin typeface="Calibri"/>
              </a:rPr>
              <a:t>Докази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7" name="Rectangle 7"/>
          <p:cNvSpPr/>
          <p:nvPr/>
        </p:nvSpPr>
        <p:spPr>
          <a:xfrm>
            <a:off x="3566160" y="1463040"/>
            <a:ext cx="2514240" cy="566640"/>
          </a:xfrm>
          <a:prstGeom prst="rect">
            <a:avLst/>
          </a:prstGeom>
          <a:solidFill>
            <a:srgbClr val="151515"/>
          </a:solidFill>
          <a:ln w="7620">
            <a:solidFill>
              <a:srgbClr val="4a9ec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08" name="TextBox 8"/>
          <p:cNvSpPr/>
          <p:nvPr/>
        </p:nvSpPr>
        <p:spPr>
          <a:xfrm>
            <a:off x="3630240" y="1554480"/>
            <a:ext cx="24228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4a9ec7"/>
                </a:solidFill>
                <a:effectLst/>
                <a:uFillTx/>
                <a:latin typeface="Calibri"/>
              </a:rPr>
              <a:t>H1: Координована операція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9" name="Rectangle 9"/>
          <p:cNvSpPr/>
          <p:nvPr/>
        </p:nvSpPr>
        <p:spPr>
          <a:xfrm>
            <a:off x="6217920" y="1463040"/>
            <a:ext cx="2514240" cy="566640"/>
          </a:xfrm>
          <a:prstGeom prst="rect">
            <a:avLst/>
          </a:prstGeom>
          <a:solidFill>
            <a:srgbClr val="151515"/>
          </a:solidFill>
          <a:ln w="7620">
            <a:solidFill>
              <a:srgbClr val="5ab87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10" name="TextBox 10"/>
          <p:cNvSpPr/>
          <p:nvPr/>
        </p:nvSpPr>
        <p:spPr>
          <a:xfrm>
            <a:off x="6282000" y="1554480"/>
            <a:ext cx="24228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5ab878"/>
                </a:solidFill>
                <a:effectLst/>
                <a:uFillTx/>
                <a:latin typeface="Calibri"/>
              </a:rPr>
              <a:t>H2: Органічний рух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1" name="Rectangle 11"/>
          <p:cNvSpPr/>
          <p:nvPr/>
        </p:nvSpPr>
        <p:spPr>
          <a:xfrm>
            <a:off x="8869680" y="1463040"/>
            <a:ext cx="2514240" cy="566640"/>
          </a:xfrm>
          <a:prstGeom prst="rect">
            <a:avLst/>
          </a:prstGeom>
          <a:solidFill>
            <a:srgbClr val="151515"/>
          </a:solidFill>
          <a:ln w="7620">
            <a:solidFill>
              <a:srgbClr val="c9854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12" name="TextBox 12"/>
          <p:cNvSpPr/>
          <p:nvPr/>
        </p:nvSpPr>
        <p:spPr>
          <a:xfrm>
            <a:off x="8933760" y="1554480"/>
            <a:ext cx="24228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c98540"/>
                </a:solidFill>
                <a:effectLst/>
                <a:uFillTx/>
                <a:latin typeface="Calibri"/>
              </a:rPr>
              <a:t>H3: Комерційний накрут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3" name="Rectangle 13"/>
          <p:cNvSpPr/>
          <p:nvPr/>
        </p:nvSpPr>
        <p:spPr>
          <a:xfrm>
            <a:off x="365760" y="2057400"/>
            <a:ext cx="3062880" cy="566640"/>
          </a:xfrm>
          <a:prstGeom prst="rect">
            <a:avLst/>
          </a:prstGeom>
          <a:solidFill>
            <a:srgbClr val="1c1c2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14" name="TextBox 14"/>
          <p:cNvSpPr/>
          <p:nvPr/>
        </p:nvSpPr>
        <p:spPr>
          <a:xfrm>
            <a:off x="429840" y="2148840"/>
            <a:ext cx="29714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e8e8e8"/>
                </a:solidFill>
                <a:effectLst/>
                <a:uFillTx/>
                <a:latin typeface="Calibri"/>
              </a:rPr>
              <a:t>Синхронізація ±5 хв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5" name="Rectangle 15"/>
          <p:cNvSpPr/>
          <p:nvPr/>
        </p:nvSpPr>
        <p:spPr>
          <a:xfrm>
            <a:off x="3566160" y="2057400"/>
            <a:ext cx="2514240" cy="566640"/>
          </a:xfrm>
          <a:prstGeom prst="rect">
            <a:avLst/>
          </a:prstGeom>
          <a:solidFill>
            <a:srgbClr val="1c1c2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16" name="TextBox 16"/>
          <p:cNvSpPr/>
          <p:nvPr/>
        </p:nvSpPr>
        <p:spPr>
          <a:xfrm>
            <a:off x="3566160" y="2057400"/>
            <a:ext cx="25142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5ab878"/>
                </a:solidFill>
                <a:effectLst/>
                <a:uFillTx/>
                <a:latin typeface="Calibri"/>
              </a:rPr>
              <a:t>++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7" name="Rectangle 17"/>
          <p:cNvSpPr/>
          <p:nvPr/>
        </p:nvSpPr>
        <p:spPr>
          <a:xfrm>
            <a:off x="6217920" y="2057400"/>
            <a:ext cx="2514240" cy="566640"/>
          </a:xfrm>
          <a:prstGeom prst="rect">
            <a:avLst/>
          </a:prstGeom>
          <a:solidFill>
            <a:srgbClr val="1c1c2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18" name="TextBox 18"/>
          <p:cNvSpPr/>
          <p:nvPr/>
        </p:nvSpPr>
        <p:spPr>
          <a:xfrm>
            <a:off x="6217920" y="2057400"/>
            <a:ext cx="25142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c05050"/>
                </a:solidFill>
                <a:effectLst/>
                <a:uFillTx/>
                <a:latin typeface="Calibri"/>
              </a:rPr>
              <a:t>−−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9" name="Rectangle 19"/>
          <p:cNvSpPr/>
          <p:nvPr/>
        </p:nvSpPr>
        <p:spPr>
          <a:xfrm>
            <a:off x="8869680" y="2057400"/>
            <a:ext cx="2514240" cy="566640"/>
          </a:xfrm>
          <a:prstGeom prst="rect">
            <a:avLst/>
          </a:prstGeom>
          <a:solidFill>
            <a:srgbClr val="1c1c2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20" name="TextBox 20"/>
          <p:cNvSpPr/>
          <p:nvPr/>
        </p:nvSpPr>
        <p:spPr>
          <a:xfrm>
            <a:off x="8869680" y="2057400"/>
            <a:ext cx="25142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4a9ec7"/>
                </a:solidFill>
                <a:effectLst/>
                <a:uFillTx/>
                <a:latin typeface="Calibri"/>
              </a:rPr>
              <a:t>+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1" name="Rectangle 21"/>
          <p:cNvSpPr/>
          <p:nvPr/>
        </p:nvSpPr>
        <p:spPr>
          <a:xfrm>
            <a:off x="365760" y="2651760"/>
            <a:ext cx="3062880" cy="566640"/>
          </a:xfrm>
          <a:prstGeom prst="rect">
            <a:avLst/>
          </a:prstGeom>
          <a:solidFill>
            <a:srgbClr val="1c1c2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22" name="TextBox 22"/>
          <p:cNvSpPr/>
          <p:nvPr/>
        </p:nvSpPr>
        <p:spPr>
          <a:xfrm>
            <a:off x="429840" y="2743200"/>
            <a:ext cx="29714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e8e8e8"/>
                </a:solidFill>
                <a:effectLst/>
                <a:uFillTx/>
                <a:latin typeface="Calibri"/>
              </a:rPr>
              <a:t>Overlap учасників 78–91%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3" name="Rectangle 23"/>
          <p:cNvSpPr/>
          <p:nvPr/>
        </p:nvSpPr>
        <p:spPr>
          <a:xfrm>
            <a:off x="3566160" y="2651760"/>
            <a:ext cx="2514240" cy="566640"/>
          </a:xfrm>
          <a:prstGeom prst="rect">
            <a:avLst/>
          </a:prstGeom>
          <a:solidFill>
            <a:srgbClr val="1c1c2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24" name="TextBox 24"/>
          <p:cNvSpPr/>
          <p:nvPr/>
        </p:nvSpPr>
        <p:spPr>
          <a:xfrm>
            <a:off x="3566160" y="2651760"/>
            <a:ext cx="25142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5ab878"/>
                </a:solidFill>
                <a:effectLst/>
                <a:uFillTx/>
                <a:latin typeface="Calibri"/>
              </a:rPr>
              <a:t>++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5" name="Rectangle 25"/>
          <p:cNvSpPr/>
          <p:nvPr/>
        </p:nvSpPr>
        <p:spPr>
          <a:xfrm>
            <a:off x="6217920" y="2651760"/>
            <a:ext cx="2514240" cy="566640"/>
          </a:xfrm>
          <a:prstGeom prst="rect">
            <a:avLst/>
          </a:prstGeom>
          <a:solidFill>
            <a:srgbClr val="1c1c2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26" name="TextBox 26"/>
          <p:cNvSpPr/>
          <p:nvPr/>
        </p:nvSpPr>
        <p:spPr>
          <a:xfrm>
            <a:off x="6217920" y="2651760"/>
            <a:ext cx="25142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c98540"/>
                </a:solidFill>
                <a:effectLst/>
                <a:uFillTx/>
                <a:latin typeface="Calibri"/>
              </a:rPr>
              <a:t>−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7" name="Rectangle 27"/>
          <p:cNvSpPr/>
          <p:nvPr/>
        </p:nvSpPr>
        <p:spPr>
          <a:xfrm>
            <a:off x="8869680" y="2651760"/>
            <a:ext cx="2514240" cy="566640"/>
          </a:xfrm>
          <a:prstGeom prst="rect">
            <a:avLst/>
          </a:prstGeom>
          <a:solidFill>
            <a:srgbClr val="1c1c2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28" name="TextBox 28"/>
          <p:cNvSpPr/>
          <p:nvPr/>
        </p:nvSpPr>
        <p:spPr>
          <a:xfrm>
            <a:off x="8869680" y="2651760"/>
            <a:ext cx="25142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5ab878"/>
                </a:solidFill>
                <a:effectLst/>
                <a:uFillTx/>
                <a:latin typeface="Calibri"/>
              </a:rPr>
              <a:t>++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9" name="Rectangle 29"/>
          <p:cNvSpPr/>
          <p:nvPr/>
        </p:nvSpPr>
        <p:spPr>
          <a:xfrm>
            <a:off x="365760" y="3246120"/>
            <a:ext cx="3062880" cy="566640"/>
          </a:xfrm>
          <a:prstGeom prst="rect">
            <a:avLst/>
          </a:prstGeom>
          <a:solidFill>
            <a:srgbClr val="1c1c2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30" name="TextBox 30"/>
          <p:cNvSpPr/>
          <p:nvPr/>
        </p:nvSpPr>
        <p:spPr>
          <a:xfrm>
            <a:off x="429840" y="3337560"/>
            <a:ext cx="29714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e8e8e8"/>
                </a:solidFill>
                <a:effectLst/>
                <a:uFillTx/>
                <a:latin typeface="Calibri"/>
              </a:rPr>
              <a:t>Ідентичний текст дослівно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1" name="Rectangle 31"/>
          <p:cNvSpPr/>
          <p:nvPr/>
        </p:nvSpPr>
        <p:spPr>
          <a:xfrm>
            <a:off x="3566160" y="3246120"/>
            <a:ext cx="2514240" cy="566640"/>
          </a:xfrm>
          <a:prstGeom prst="rect">
            <a:avLst/>
          </a:prstGeom>
          <a:solidFill>
            <a:srgbClr val="1c1c2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32" name="TextBox 32"/>
          <p:cNvSpPr/>
          <p:nvPr/>
        </p:nvSpPr>
        <p:spPr>
          <a:xfrm>
            <a:off x="3566160" y="3246120"/>
            <a:ext cx="25142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5ab878"/>
                </a:solidFill>
                <a:effectLst/>
                <a:uFillTx/>
                <a:latin typeface="Calibri"/>
              </a:rPr>
              <a:t>++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3" name="Rectangle 33"/>
          <p:cNvSpPr/>
          <p:nvPr/>
        </p:nvSpPr>
        <p:spPr>
          <a:xfrm>
            <a:off x="6217920" y="3246120"/>
            <a:ext cx="2514240" cy="566640"/>
          </a:xfrm>
          <a:prstGeom prst="rect">
            <a:avLst/>
          </a:prstGeom>
          <a:solidFill>
            <a:srgbClr val="1c1c2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34" name="TextBox 34"/>
          <p:cNvSpPr/>
          <p:nvPr/>
        </p:nvSpPr>
        <p:spPr>
          <a:xfrm>
            <a:off x="6217920" y="3246120"/>
            <a:ext cx="25142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c05050"/>
                </a:solidFill>
                <a:effectLst/>
                <a:uFillTx/>
                <a:latin typeface="Calibri"/>
              </a:rPr>
              <a:t>−−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5" name="Rectangle 35"/>
          <p:cNvSpPr/>
          <p:nvPr/>
        </p:nvSpPr>
        <p:spPr>
          <a:xfrm>
            <a:off x="8869680" y="3246120"/>
            <a:ext cx="2514240" cy="566640"/>
          </a:xfrm>
          <a:prstGeom prst="rect">
            <a:avLst/>
          </a:prstGeom>
          <a:solidFill>
            <a:srgbClr val="1c1c2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36" name="TextBox 36"/>
          <p:cNvSpPr/>
          <p:nvPr/>
        </p:nvSpPr>
        <p:spPr>
          <a:xfrm>
            <a:off x="8869680" y="3246120"/>
            <a:ext cx="25142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c98540"/>
                </a:solidFill>
                <a:effectLst/>
                <a:uFillTx/>
                <a:latin typeface="Calibri"/>
              </a:rPr>
              <a:t>−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7" name="Rectangle 37"/>
          <p:cNvSpPr/>
          <p:nvPr/>
        </p:nvSpPr>
        <p:spPr>
          <a:xfrm>
            <a:off x="365760" y="3840480"/>
            <a:ext cx="3062880" cy="566640"/>
          </a:xfrm>
          <a:prstGeom prst="rect">
            <a:avLst/>
          </a:prstGeom>
          <a:solidFill>
            <a:srgbClr val="1c1c2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38" name="TextBox 38"/>
          <p:cNvSpPr/>
          <p:nvPr/>
        </p:nvSpPr>
        <p:spPr>
          <a:xfrm>
            <a:off x="429840" y="3931920"/>
            <a:ext cx="29714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e8e8e8"/>
                </a:solidFill>
                <a:effectLst/>
                <a:uFillTx/>
                <a:latin typeface="Calibri"/>
              </a:rPr>
              <a:t>Різноманітні IP авторів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9" name="Rectangle 39"/>
          <p:cNvSpPr/>
          <p:nvPr/>
        </p:nvSpPr>
        <p:spPr>
          <a:xfrm>
            <a:off x="3566160" y="3840480"/>
            <a:ext cx="2514240" cy="566640"/>
          </a:xfrm>
          <a:prstGeom prst="rect">
            <a:avLst/>
          </a:prstGeom>
          <a:solidFill>
            <a:srgbClr val="1c1c2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40" name="TextBox 40"/>
          <p:cNvSpPr/>
          <p:nvPr/>
        </p:nvSpPr>
        <p:spPr>
          <a:xfrm>
            <a:off x="3566160" y="3840480"/>
            <a:ext cx="25142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c98540"/>
                </a:solidFill>
                <a:effectLst/>
                <a:uFillTx/>
                <a:latin typeface="Calibri"/>
              </a:rPr>
              <a:t>−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1" name="Rectangle 41"/>
          <p:cNvSpPr/>
          <p:nvPr/>
        </p:nvSpPr>
        <p:spPr>
          <a:xfrm>
            <a:off x="6217920" y="3840480"/>
            <a:ext cx="2514240" cy="566640"/>
          </a:xfrm>
          <a:prstGeom prst="rect">
            <a:avLst/>
          </a:prstGeom>
          <a:solidFill>
            <a:srgbClr val="1c1c2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42" name="TextBox 42"/>
          <p:cNvSpPr/>
          <p:nvPr/>
        </p:nvSpPr>
        <p:spPr>
          <a:xfrm>
            <a:off x="6217920" y="3840480"/>
            <a:ext cx="25142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4a9ec7"/>
                </a:solidFill>
                <a:effectLst/>
                <a:uFillTx/>
                <a:latin typeface="Calibri"/>
              </a:rPr>
              <a:t>+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3" name="Rectangle 43"/>
          <p:cNvSpPr/>
          <p:nvPr/>
        </p:nvSpPr>
        <p:spPr>
          <a:xfrm>
            <a:off x="8869680" y="3840480"/>
            <a:ext cx="2514240" cy="566640"/>
          </a:xfrm>
          <a:prstGeom prst="rect">
            <a:avLst/>
          </a:prstGeom>
          <a:solidFill>
            <a:srgbClr val="1c1c2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44" name="TextBox 44"/>
          <p:cNvSpPr/>
          <p:nvPr/>
        </p:nvSpPr>
        <p:spPr>
          <a:xfrm>
            <a:off x="8869680" y="3840480"/>
            <a:ext cx="25142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c98540"/>
                </a:solidFill>
                <a:effectLst/>
                <a:uFillTx/>
                <a:latin typeface="Calibri"/>
              </a:rPr>
              <a:t>−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5" name="Rectangle 45"/>
          <p:cNvSpPr/>
          <p:nvPr/>
        </p:nvSpPr>
        <p:spPr>
          <a:xfrm>
            <a:off x="365760" y="4434840"/>
            <a:ext cx="3062880" cy="566640"/>
          </a:xfrm>
          <a:prstGeom prst="rect">
            <a:avLst/>
          </a:prstGeom>
          <a:solidFill>
            <a:srgbClr val="1c1c2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46" name="TextBox 46"/>
          <p:cNvSpPr/>
          <p:nvPr/>
        </p:nvSpPr>
        <p:spPr>
          <a:xfrm>
            <a:off x="429840" y="4526280"/>
            <a:ext cx="29714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e8e8e8"/>
                </a:solidFill>
                <a:effectLst/>
                <a:uFillTx/>
                <a:latin typeface="Calibri"/>
              </a:rPr>
              <a:t>Монетизації немає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7" name="Rectangle 47"/>
          <p:cNvSpPr/>
          <p:nvPr/>
        </p:nvSpPr>
        <p:spPr>
          <a:xfrm>
            <a:off x="3566160" y="4434840"/>
            <a:ext cx="2514240" cy="566640"/>
          </a:xfrm>
          <a:prstGeom prst="rect">
            <a:avLst/>
          </a:prstGeom>
          <a:solidFill>
            <a:srgbClr val="1c1c2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48" name="TextBox 48"/>
          <p:cNvSpPr/>
          <p:nvPr/>
        </p:nvSpPr>
        <p:spPr>
          <a:xfrm>
            <a:off x="3566160" y="4434840"/>
            <a:ext cx="25142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4a9ec7"/>
                </a:solidFill>
                <a:effectLst/>
                <a:uFillTx/>
                <a:latin typeface="Calibri"/>
              </a:rPr>
              <a:t>+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9" name="Rectangle 49"/>
          <p:cNvSpPr/>
          <p:nvPr/>
        </p:nvSpPr>
        <p:spPr>
          <a:xfrm>
            <a:off x="6217920" y="4434840"/>
            <a:ext cx="2514240" cy="566640"/>
          </a:xfrm>
          <a:prstGeom prst="rect">
            <a:avLst/>
          </a:prstGeom>
          <a:solidFill>
            <a:srgbClr val="1c1c2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50" name="TextBox 50"/>
          <p:cNvSpPr/>
          <p:nvPr/>
        </p:nvSpPr>
        <p:spPr>
          <a:xfrm>
            <a:off x="6217920" y="4434840"/>
            <a:ext cx="25142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5ab878"/>
                </a:solidFill>
                <a:effectLst/>
                <a:uFillTx/>
                <a:latin typeface="Calibri"/>
              </a:rPr>
              <a:t>++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1" name="Rectangle 51"/>
          <p:cNvSpPr/>
          <p:nvPr/>
        </p:nvSpPr>
        <p:spPr>
          <a:xfrm>
            <a:off x="8869680" y="4434840"/>
            <a:ext cx="2514240" cy="566640"/>
          </a:xfrm>
          <a:prstGeom prst="rect">
            <a:avLst/>
          </a:prstGeom>
          <a:solidFill>
            <a:srgbClr val="1c1c2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52" name="TextBox 52"/>
          <p:cNvSpPr/>
          <p:nvPr/>
        </p:nvSpPr>
        <p:spPr>
          <a:xfrm>
            <a:off x="8869680" y="4434840"/>
            <a:ext cx="25142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c05050"/>
                </a:solidFill>
                <a:effectLst/>
                <a:uFillTx/>
                <a:latin typeface="Calibri"/>
              </a:rPr>
              <a:t>−−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3" name="Rectangle 53"/>
          <p:cNvSpPr/>
          <p:nvPr/>
        </p:nvSpPr>
        <p:spPr>
          <a:xfrm>
            <a:off x="365760" y="5989320"/>
            <a:ext cx="11429640" cy="639720"/>
          </a:xfrm>
          <a:prstGeom prst="rect">
            <a:avLst/>
          </a:prstGeom>
          <a:solidFill>
            <a:srgbClr val="081a08"/>
          </a:solidFill>
          <a:ln w="12700">
            <a:solidFill>
              <a:srgbClr val="5ab87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54" name="TextBox 54"/>
          <p:cNvSpPr/>
          <p:nvPr/>
        </p:nvSpPr>
        <p:spPr>
          <a:xfrm>
            <a:off x="548640" y="6062400"/>
            <a:ext cx="111553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5ab878"/>
                </a:solidFill>
                <a:effectLst/>
                <a:uFillTx/>
                <a:latin typeface="Calibri"/>
              </a:rPr>
              <a:t>✓  Висновок: H1 має найменшу кількість суперечностей → найімовірніша гіпотеза.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0d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TextBox 1"/>
          <p:cNvSpPr/>
          <p:nvPr/>
        </p:nvSpPr>
        <p:spPr>
          <a:xfrm>
            <a:off x="365760" y="73080"/>
            <a:ext cx="10972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4a9ec7"/>
                </a:solidFill>
                <a:effectLst/>
                <a:uFillTx/>
                <a:latin typeface="Calibri"/>
              </a:rPr>
              <a:t>ЧАСТИНА ІІІ — ШАБЛОНИ ТА OBSIDIAN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6" name="TextBox 2"/>
          <p:cNvSpPr/>
          <p:nvPr/>
        </p:nvSpPr>
        <p:spPr>
          <a:xfrm>
            <a:off x="365760" y="320040"/>
            <a:ext cx="109724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200" b="1" u="none" strike="noStrike">
                <a:solidFill>
                  <a:srgbClr val="e8e8e8"/>
                </a:solidFill>
                <a:effectLst/>
                <a:uFillTx/>
                <a:latin typeface="Calibri"/>
              </a:rPr>
              <a:t>Obsidian як OSINT knowledge base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7" name="Rectangle 3"/>
          <p:cNvSpPr/>
          <p:nvPr/>
        </p:nvSpPr>
        <p:spPr>
          <a:xfrm>
            <a:off x="365760" y="804600"/>
            <a:ext cx="11457000" cy="27000"/>
          </a:xfrm>
          <a:prstGeom prst="rect">
            <a:avLst/>
          </a:prstGeom>
          <a:solidFill>
            <a:srgbClr val="4a9ec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17640" bIns="-1764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58" name="Rectangle 4"/>
          <p:cNvSpPr/>
          <p:nvPr/>
        </p:nvSpPr>
        <p:spPr>
          <a:xfrm>
            <a:off x="365760" y="960120"/>
            <a:ext cx="5028840" cy="3108600"/>
          </a:xfrm>
          <a:prstGeom prst="rect">
            <a:avLst/>
          </a:prstGeom>
          <a:solidFill>
            <a:srgbClr val="1c1c22"/>
          </a:solidFill>
          <a:ln w="10160">
            <a:solidFill>
              <a:srgbClr val="4a9ec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59" name="TextBox 5"/>
          <p:cNvSpPr/>
          <p:nvPr/>
        </p:nvSpPr>
        <p:spPr>
          <a:xfrm>
            <a:off x="502920" y="1024200"/>
            <a:ext cx="47545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4a9ec7"/>
                </a:solidFill>
                <a:effectLst/>
                <a:uFillTx/>
                <a:latin typeface="Calibri"/>
              </a:rPr>
              <a:t>Чому Obsidian для OSINT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0" name="TextBox 6"/>
          <p:cNvSpPr/>
          <p:nvPr/>
        </p:nvSpPr>
        <p:spPr>
          <a:xfrm>
            <a:off x="502920" y="1481400"/>
            <a:ext cx="4754520" cy="246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Bef>
                <a:spcPts val="201"/>
              </a:spcBef>
              <a:spcAft>
                <a:spcPts val="400"/>
              </a:spcAft>
            </a:pPr>
            <a:r>
              <a:rPr lang="en-US" sz="1400" b="0" u="none" strike="noStrike">
                <a:solidFill>
                  <a:srgbClr val="e8e8e8"/>
                </a:solidFill>
                <a:effectLst/>
                <a:uFillTx/>
                <a:latin typeface="Calibri"/>
              </a:rPr>
              <a:t>→ Усі файли — звичайні .md (git-версіонування)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  <a:spcAft>
                <a:spcPts val="400"/>
              </a:spcAft>
            </a:pPr>
            <a:r>
              <a:rPr lang="en-US" sz="1400" b="0" u="none" strike="noStrike">
                <a:solidFill>
                  <a:srgbClr val="e8e8e8"/>
                </a:solidFill>
                <a:effectLst/>
                <a:uFillTx/>
                <a:latin typeface="Calibri"/>
              </a:rPr>
              <a:t>→ [[Посилання]] → автоматичний граф зв'язків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  <a:spcAft>
                <a:spcPts val="400"/>
              </a:spcAft>
            </a:pPr>
            <a:r>
              <a:rPr lang="en-US" sz="1400" b="0" u="none" strike="noStrike">
                <a:solidFill>
                  <a:srgbClr val="e8e8e8"/>
                </a:solidFill>
                <a:effectLst/>
                <a:uFillTx/>
                <a:latin typeface="Calibri"/>
              </a:rPr>
              <a:t>→ YAML frontmatter → Dataview-запити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  <a:spcAft>
                <a:spcPts val="400"/>
              </a:spcAft>
            </a:pPr>
            <a:r>
              <a:rPr lang="en-US" sz="1400" b="0" u="none" strike="noStrike">
                <a:solidFill>
                  <a:srgbClr val="e8e8e8"/>
                </a:solidFill>
                <a:effectLst/>
                <a:uFillTx/>
                <a:latin typeface="Calibri"/>
              </a:rPr>
              <a:t>→ Canvas → візуальна карта розслідування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  <a:spcAft>
                <a:spcPts val="400"/>
              </a:spcAft>
            </a:pPr>
            <a:r>
              <a:rPr lang="en-US" sz="1400" b="0" u="none" strike="noStrike">
                <a:solidFill>
                  <a:srgbClr val="5ab878"/>
                </a:solidFill>
                <a:effectLst/>
                <a:uFillTx/>
                <a:latin typeface="Calibri"/>
              </a:rPr>
              <a:t>→ Без хмари — дані залишаються локально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1" name="Rectangle 7"/>
          <p:cNvSpPr/>
          <p:nvPr/>
        </p:nvSpPr>
        <p:spPr>
          <a:xfrm>
            <a:off x="5577840" y="960120"/>
            <a:ext cx="6583320" cy="5028840"/>
          </a:xfrm>
          <a:prstGeom prst="rect">
            <a:avLst/>
          </a:prstGeom>
          <a:solidFill>
            <a:srgbClr val="1c1c22"/>
          </a:solidFill>
          <a:ln w="10160">
            <a:solidFill>
              <a:srgbClr val="c9854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62" name="TextBox 8"/>
          <p:cNvSpPr/>
          <p:nvPr/>
        </p:nvSpPr>
        <p:spPr>
          <a:xfrm>
            <a:off x="5715000" y="1024200"/>
            <a:ext cx="62175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c98540"/>
                </a:solidFill>
                <a:effectLst/>
                <a:uFillTx/>
                <a:latin typeface="Calibri"/>
              </a:rPr>
              <a:t>Структура vault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3" name="TextBox 9"/>
          <p:cNvSpPr/>
          <p:nvPr/>
        </p:nvSpPr>
        <p:spPr>
          <a:xfrm>
            <a:off x="5760720" y="1463040"/>
            <a:ext cx="62175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c98540"/>
                </a:solidFill>
                <a:effectLst/>
                <a:uFillTx/>
                <a:latin typeface="Calibri"/>
              </a:rPr>
              <a:t>Investigation-Vault/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4" name="TextBox 10"/>
          <p:cNvSpPr/>
          <p:nvPr/>
        </p:nvSpPr>
        <p:spPr>
          <a:xfrm>
            <a:off x="5760720" y="1892880"/>
            <a:ext cx="62175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787880"/>
                </a:solidFill>
                <a:effectLst/>
                <a:uFillTx/>
                <a:latin typeface="Calibri"/>
              </a:rPr>
              <a:t>  ├── 00-Дашборд.md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5" name="TextBox 11"/>
          <p:cNvSpPr/>
          <p:nvPr/>
        </p:nvSpPr>
        <p:spPr>
          <a:xfrm>
            <a:off x="5760720" y="2322720"/>
            <a:ext cx="62175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e8e8e8"/>
                </a:solidFill>
                <a:effectLst/>
                <a:uFillTx/>
                <a:latin typeface="Calibri"/>
              </a:rPr>
              <a:t>  ├── 01-Суб'єкти/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6" name="TextBox 12"/>
          <p:cNvSpPr/>
          <p:nvPr/>
        </p:nvSpPr>
        <p:spPr>
          <a:xfrm>
            <a:off x="5760720" y="2752200"/>
            <a:ext cx="62175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787880"/>
                </a:solidFill>
                <a:effectLst/>
                <a:uFillTx/>
                <a:latin typeface="Calibri"/>
              </a:rPr>
              <a:t>  │   ├── Person-Іванов.md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7" name="TextBox 13"/>
          <p:cNvSpPr/>
          <p:nvPr/>
        </p:nvSpPr>
        <p:spPr>
          <a:xfrm>
            <a:off x="5760720" y="3182040"/>
            <a:ext cx="62175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787880"/>
                </a:solidFill>
                <a:effectLst/>
                <a:uFillTx/>
                <a:latin typeface="Calibri"/>
              </a:rPr>
              <a:t>  │   └── Account-@ivan_ua.md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8" name="TextBox 14"/>
          <p:cNvSpPr/>
          <p:nvPr/>
        </p:nvSpPr>
        <p:spPr>
          <a:xfrm>
            <a:off x="5760720" y="3611880"/>
            <a:ext cx="62175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e8e8e8"/>
                </a:solidFill>
                <a:effectLst/>
                <a:uFillTx/>
                <a:latin typeface="Calibri"/>
              </a:rPr>
              <a:t>  ├── 02-Події/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9" name="TextBox 15"/>
          <p:cNvSpPr/>
          <p:nvPr/>
        </p:nvSpPr>
        <p:spPr>
          <a:xfrm>
            <a:off x="5760720" y="4041720"/>
            <a:ext cx="62175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e8e8e8"/>
                </a:solidFill>
                <a:effectLst/>
                <a:uFillTx/>
                <a:latin typeface="Calibri"/>
              </a:rPr>
              <a:t>  ├── 03-Докази/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0" name="TextBox 16"/>
          <p:cNvSpPr/>
          <p:nvPr/>
        </p:nvSpPr>
        <p:spPr>
          <a:xfrm>
            <a:off x="5760720" y="4471560"/>
            <a:ext cx="62175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e8e8e8"/>
                </a:solidFill>
                <a:effectLst/>
                <a:uFillTx/>
                <a:latin typeface="Calibri"/>
              </a:rPr>
              <a:t>  ├── 04-Джерела/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1" name="TextBox 17"/>
          <p:cNvSpPr/>
          <p:nvPr/>
        </p:nvSpPr>
        <p:spPr>
          <a:xfrm>
            <a:off x="5760720" y="4901040"/>
            <a:ext cx="62175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e8e8e8"/>
                </a:solidFill>
                <a:effectLst/>
                <a:uFillTx/>
                <a:latin typeface="Calibri"/>
              </a:rPr>
              <a:t>  └── 05-Звіти/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2" name="Rectangle 18"/>
          <p:cNvSpPr/>
          <p:nvPr/>
        </p:nvSpPr>
        <p:spPr>
          <a:xfrm>
            <a:off x="365760" y="4160520"/>
            <a:ext cx="5028840" cy="2422800"/>
          </a:xfrm>
          <a:prstGeom prst="rect">
            <a:avLst/>
          </a:prstGeom>
          <a:solidFill>
            <a:srgbClr val="1a1a2e"/>
          </a:solidFill>
          <a:ln w="15240">
            <a:solidFill>
              <a:srgbClr val="4a9ec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73" name="TextBox 19"/>
          <p:cNvSpPr/>
          <p:nvPr/>
        </p:nvSpPr>
        <p:spPr>
          <a:xfrm>
            <a:off x="457200" y="5143680"/>
            <a:ext cx="48459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4a9ec7"/>
                </a:solidFill>
                <a:effectLst/>
                <a:uFillTx/>
                <a:latin typeface="Calibri"/>
              </a:rPr>
              <a:t>[ SCREENSHOT: Obsidian граф зв'язків розслідування ]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0d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TextBox 1"/>
          <p:cNvSpPr/>
          <p:nvPr/>
        </p:nvSpPr>
        <p:spPr>
          <a:xfrm>
            <a:off x="365760" y="73080"/>
            <a:ext cx="10972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4a9ec7"/>
                </a:solidFill>
                <a:effectLst/>
                <a:uFillTx/>
                <a:latin typeface="Calibri"/>
              </a:rPr>
              <a:t>ЧАСТИНА ІІІ — ШАБЛОНИ ТА OBSIDIAN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5" name="TextBox 2"/>
          <p:cNvSpPr/>
          <p:nvPr/>
        </p:nvSpPr>
        <p:spPr>
          <a:xfrm>
            <a:off x="365760" y="320040"/>
            <a:ext cx="109724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200" b="1" u="none" strike="noStrike">
                <a:solidFill>
                  <a:srgbClr val="e8e8e8"/>
                </a:solidFill>
                <a:effectLst/>
                <a:uFillTx/>
                <a:latin typeface="Calibri"/>
              </a:rPr>
              <a:t>Шаблони Obsidian: YAML frontmatter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6" name="Rectangle 3"/>
          <p:cNvSpPr/>
          <p:nvPr/>
        </p:nvSpPr>
        <p:spPr>
          <a:xfrm>
            <a:off x="365760" y="804600"/>
            <a:ext cx="11457000" cy="27000"/>
          </a:xfrm>
          <a:prstGeom prst="rect">
            <a:avLst/>
          </a:prstGeom>
          <a:solidFill>
            <a:srgbClr val="4a9ec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17640" bIns="-1764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77" name="Rectangle 4"/>
          <p:cNvSpPr/>
          <p:nvPr/>
        </p:nvSpPr>
        <p:spPr>
          <a:xfrm>
            <a:off x="365760" y="960120"/>
            <a:ext cx="5486040" cy="5303160"/>
          </a:xfrm>
          <a:prstGeom prst="rect">
            <a:avLst/>
          </a:prstGeom>
          <a:solidFill>
            <a:srgbClr val="1c1c22"/>
          </a:solidFill>
          <a:ln w="10160">
            <a:solidFill>
              <a:srgbClr val="5ab87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78" name="TextBox 5"/>
          <p:cNvSpPr/>
          <p:nvPr/>
        </p:nvSpPr>
        <p:spPr>
          <a:xfrm>
            <a:off x="502920" y="1005840"/>
            <a:ext cx="5211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5ab878"/>
                </a:solidFill>
                <a:effectLst/>
                <a:uFillTx/>
                <a:latin typeface="Calibri"/>
              </a:rPr>
              <a:t>Шаблон: Суб'єкт (Person)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9" name="TextBox 6"/>
          <p:cNvSpPr/>
          <p:nvPr/>
        </p:nvSpPr>
        <p:spPr>
          <a:xfrm>
            <a:off x="502920" y="1417320"/>
            <a:ext cx="5211720" cy="466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lang="en-US" sz="1100" b="0" u="none" strike="noStrike">
                <a:solidFill>
                  <a:srgbClr val="aaffaa"/>
                </a:solidFill>
                <a:effectLst/>
                <a:uFillTx/>
                <a:latin typeface="Calibri"/>
              </a:rPr>
              <a:t>---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aaffaa"/>
                </a:solidFill>
                <a:effectLst/>
                <a:uFillTx/>
                <a:latin typeface="Calibri"/>
              </a:rPr>
              <a:t>тип: особа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aaffaa"/>
                </a:solidFill>
                <a:effectLst/>
                <a:uFillTx/>
                <a:latin typeface="Calibri"/>
              </a:rPr>
              <a:t>ім'я: Іванов Іван Іванович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aaffaa"/>
                </a:solidFill>
                <a:effectLst/>
                <a:uFillTx/>
                <a:latin typeface="Calibri"/>
              </a:rPr>
              <a:t>псевдоніми: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aaffaa"/>
                </a:solidFill>
                <a:effectLst/>
                <a:uFillTx/>
                <a:latin typeface="Calibri"/>
              </a:rPr>
              <a:t>  - "@ivan_ua"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aaffaa"/>
                </a:solidFill>
                <a:effectLst/>
                <a:uFillTx/>
                <a:latin typeface="Calibri"/>
              </a:rPr>
              <a:t>  - "ivan.petrenko90@gmail.com"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aaffaa"/>
                </a:solidFill>
                <a:effectLst/>
                <a:uFillTx/>
                <a:latin typeface="Calibri"/>
              </a:rPr>
              <a:t>статус: підтверджено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aaffaa"/>
                </a:solidFill>
                <a:effectLst/>
                <a:uFillTx/>
                <a:latin typeface="Calibri"/>
              </a:rPr>
              <a:t>впевненість: висока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aaffaa"/>
                </a:solidFill>
                <a:effectLst/>
                <a:uFillTx/>
                <a:latin typeface="Calibri"/>
              </a:rPr>
              <a:t>теги: [фігурант, оператор-впливу]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aaffaa"/>
                </a:solidFill>
                <a:effectLst/>
                <a:uFillTx/>
                <a:latin typeface="Calibri"/>
              </a:rPr>
              <a:t>пов'язані_організації: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aaffaa"/>
                </a:solidFill>
                <a:effectLst/>
                <a:uFillTx/>
                <a:latin typeface="Calibri"/>
              </a:rPr>
              <a:t>  - "[[Organization-TechUA]]"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aaffaa"/>
                </a:solidFill>
                <a:effectLst/>
                <a:uFillTx/>
                <a:latin typeface="Calibri"/>
              </a:rPr>
              <a:t>джерела: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aaffaa"/>
                </a:solidFill>
                <a:effectLst/>
                <a:uFillTx/>
                <a:latin typeface="Calibri"/>
              </a:rPr>
              <a:t>  - "[[Source-TelegramChannel]]"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aaffaa"/>
                </a:solidFill>
                <a:effectLst/>
                <a:uFillTx/>
                <a:latin typeface="Calibri"/>
              </a:rPr>
              <a:t>дата_додавання: 2026-05-26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aaffaa"/>
                </a:solidFill>
                <a:effectLst/>
                <a:uFillTx/>
                <a:latin typeface="Calibri"/>
              </a:rPr>
              <a:t>---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aaffaa"/>
                </a:solidFill>
                <a:effectLst/>
                <a:uFillTx/>
                <a:latin typeface="Calibri"/>
              </a:rPr>
              <a:t>## Відомі факти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aaffaa"/>
                </a:solidFill>
                <a:effectLst/>
                <a:uFillTx/>
                <a:latin typeface="Calibri"/>
              </a:rPr>
              <a:t>## Встановлені зв'язки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aaffaa"/>
                </a:solidFill>
                <a:effectLst/>
                <a:uFillTx/>
                <a:latin typeface="Calibri"/>
              </a:rPr>
              <a:t>## Прогалини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0" name="Rectangle 7"/>
          <p:cNvSpPr/>
          <p:nvPr/>
        </p:nvSpPr>
        <p:spPr>
          <a:xfrm>
            <a:off x="6126480" y="960120"/>
            <a:ext cx="5486040" cy="5303160"/>
          </a:xfrm>
          <a:prstGeom prst="rect">
            <a:avLst/>
          </a:prstGeom>
          <a:solidFill>
            <a:srgbClr val="1c1c22"/>
          </a:solidFill>
          <a:ln w="10160">
            <a:solidFill>
              <a:srgbClr val="c9854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81" name="TextBox 8"/>
          <p:cNvSpPr/>
          <p:nvPr/>
        </p:nvSpPr>
        <p:spPr>
          <a:xfrm>
            <a:off x="6263640" y="1005840"/>
            <a:ext cx="5211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c98540"/>
                </a:solidFill>
                <a:effectLst/>
                <a:uFillTx/>
                <a:latin typeface="Calibri"/>
              </a:rPr>
              <a:t>Шаблон: Подія (Event)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2" name="TextBox 9"/>
          <p:cNvSpPr/>
          <p:nvPr/>
        </p:nvSpPr>
        <p:spPr>
          <a:xfrm>
            <a:off x="6263640" y="1417320"/>
            <a:ext cx="5211720" cy="347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lang="en-US" sz="1100" b="0" u="none" strike="noStrike">
                <a:solidFill>
                  <a:srgbClr val="ffcc88"/>
                </a:solidFill>
                <a:effectLst/>
                <a:uFillTx/>
                <a:latin typeface="Calibri"/>
              </a:rPr>
              <a:t>---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ffcc88"/>
                </a:solidFill>
                <a:effectLst/>
                <a:uFillTx/>
                <a:latin typeface="Calibri"/>
              </a:rPr>
              <a:t>тип: подія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ffcc88"/>
                </a:solidFill>
                <a:effectLst/>
                <a:uFillTx/>
                <a:latin typeface="Calibri"/>
              </a:rPr>
              <a:t>назва: Координована публікація контенту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ffcc88"/>
                </a:solidFill>
                <a:effectLst/>
                <a:uFillTx/>
                <a:latin typeface="Calibri"/>
              </a:rPr>
              <a:t>дата: 2026-01-15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ffcc88"/>
                </a:solidFill>
                <a:effectLst/>
                <a:uFillTx/>
                <a:latin typeface="Calibri"/>
              </a:rPr>
              <a:t>час: "14:22"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ffcc88"/>
                </a:solidFill>
                <a:effectLst/>
                <a:uFillTx/>
                <a:latin typeface="Calibri"/>
              </a:rPr>
              <a:t>місце: Telegram / онлайн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ffcc88"/>
                </a:solidFill>
                <a:effectLst/>
                <a:uFillTx/>
                <a:latin typeface="Calibri"/>
              </a:rPr>
              <a:t>учасники: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ffcc88"/>
                </a:solidFill>
                <a:effectLst/>
                <a:uFillTx/>
                <a:latin typeface="Calibri"/>
              </a:rPr>
              <a:t>  - "[[Account-@channel_a]]"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ffcc88"/>
                </a:solidFill>
                <a:effectLst/>
                <a:uFillTx/>
                <a:latin typeface="Calibri"/>
              </a:rPr>
              <a:t>  - "[[Account-@channel_b]]"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ffcc88"/>
                </a:solidFill>
                <a:effectLst/>
                <a:uFillTx/>
                <a:latin typeface="Calibri"/>
              </a:rPr>
              <a:t>докази: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ffcc88"/>
                </a:solidFill>
                <a:effectLst/>
                <a:uFillTx/>
                <a:latin typeface="Calibri"/>
              </a:rPr>
              <a:t>  - "[[Screenshot-001]]"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ffcc88"/>
                </a:solidFill>
                <a:effectLst/>
                <a:uFillTx/>
                <a:latin typeface="Calibri"/>
              </a:rPr>
              <a:t>статус: підтверджено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ffcc88"/>
                </a:solidFill>
                <a:effectLst/>
                <a:uFillTx/>
                <a:latin typeface="Calibri"/>
              </a:rPr>
              <a:t>теги: [CIB, координація, вибори]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ffcc88"/>
                </a:solidFill>
                <a:effectLst/>
                <a:uFillTx/>
                <a:latin typeface="Calibri"/>
              </a:rPr>
              <a:t>---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3" name="TextBox 10"/>
          <p:cNvSpPr/>
          <p:nvPr/>
        </p:nvSpPr>
        <p:spPr>
          <a:xfrm>
            <a:off x="365760" y="6400800"/>
            <a:ext cx="114296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i="1" u="none" strike="noStrike">
                <a:solidFill>
                  <a:srgbClr val="5ab878"/>
                </a:solidFill>
                <a:effectLst/>
                <a:uFillTx/>
                <a:latin typeface="Calibri"/>
              </a:rPr>
              <a:t>💡 Templater плагін автоматично заповнює {{date}}, {{title}} при створенні нотатки.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0d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TextBox 1"/>
          <p:cNvSpPr/>
          <p:nvPr/>
        </p:nvSpPr>
        <p:spPr>
          <a:xfrm>
            <a:off x="365760" y="73080"/>
            <a:ext cx="10972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4a9ec7"/>
                </a:solidFill>
                <a:effectLst/>
                <a:uFillTx/>
                <a:latin typeface="Calibri"/>
              </a:rPr>
              <a:t>ЧАСТИНА ІІІ — ШАБЛОНИ ТА OBSIDIAN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5" name="TextBox 2"/>
          <p:cNvSpPr/>
          <p:nvPr/>
        </p:nvSpPr>
        <p:spPr>
          <a:xfrm>
            <a:off x="365760" y="320040"/>
            <a:ext cx="109724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000" b="1" u="none" strike="noStrike">
                <a:solidFill>
                  <a:srgbClr val="e8e8e8"/>
                </a:solidFill>
                <a:effectLst/>
                <a:uFillTx/>
                <a:latin typeface="Calibri"/>
              </a:rPr>
              <a:t>Dataview: живий дашборд розслідування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6" name="Rectangle 3"/>
          <p:cNvSpPr/>
          <p:nvPr/>
        </p:nvSpPr>
        <p:spPr>
          <a:xfrm>
            <a:off x="365760" y="804600"/>
            <a:ext cx="11457000" cy="27000"/>
          </a:xfrm>
          <a:prstGeom prst="rect">
            <a:avLst/>
          </a:prstGeom>
          <a:solidFill>
            <a:srgbClr val="4a9ec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17640" bIns="-1764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87" name="TextBox 4"/>
          <p:cNvSpPr/>
          <p:nvPr/>
        </p:nvSpPr>
        <p:spPr>
          <a:xfrm>
            <a:off x="365760" y="914400"/>
            <a:ext cx="10972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787880"/>
                </a:solidFill>
                <a:effectLst/>
                <a:uFillTx/>
                <a:latin typeface="Calibri"/>
              </a:rPr>
              <a:t>SQL-подібні запити до YAML frontmatter усіх нотаток vault у реальному часі.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8" name="Rectangle 5"/>
          <p:cNvSpPr/>
          <p:nvPr/>
        </p:nvSpPr>
        <p:spPr>
          <a:xfrm>
            <a:off x="365760" y="1371600"/>
            <a:ext cx="5486040" cy="2285640"/>
          </a:xfrm>
          <a:prstGeom prst="rect">
            <a:avLst/>
          </a:prstGeom>
          <a:solidFill>
            <a:srgbClr val="1c1c22"/>
          </a:solidFill>
          <a:ln w="8890">
            <a:solidFill>
              <a:srgbClr val="4a9ec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89" name="TextBox 6"/>
          <p:cNvSpPr/>
          <p:nvPr/>
        </p:nvSpPr>
        <p:spPr>
          <a:xfrm>
            <a:off x="475560" y="1463040"/>
            <a:ext cx="52117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4a9ec7"/>
                </a:solidFill>
                <a:effectLst/>
                <a:uFillTx/>
                <a:latin typeface="Calibri"/>
              </a:rPr>
              <a:t>Непідтверджені суб'єкти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0" name="TextBox 7"/>
          <p:cNvSpPr/>
          <p:nvPr/>
        </p:nvSpPr>
        <p:spPr>
          <a:xfrm>
            <a:off x="475560" y="1901880"/>
            <a:ext cx="5211720" cy="164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lang="en-US" sz="1100" b="0" u="none" strike="noStrike">
                <a:solidFill>
                  <a:srgbClr val="5ab878"/>
                </a:solidFill>
                <a:effectLst/>
                <a:uFillTx/>
                <a:latin typeface="Calibri"/>
              </a:rPr>
              <a:t>TABLE ім'я, впевненість, теги, дата_оновлення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5ab878"/>
                </a:solidFill>
                <a:effectLst/>
                <a:uFillTx/>
                <a:latin typeface="Calibri"/>
              </a:rPr>
              <a:t>FROM "01-Суб'єкти"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5ab878"/>
                </a:solidFill>
                <a:effectLst/>
                <a:uFillTx/>
                <a:latin typeface="Calibri"/>
              </a:rPr>
              <a:t>WHERE статус = "ймовірно"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5ab878"/>
                </a:solidFill>
                <a:effectLst/>
                <a:uFillTx/>
                <a:latin typeface="Calibri"/>
              </a:rPr>
              <a:t>SORT дата_оновлення DESC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1" name="Rectangle 8"/>
          <p:cNvSpPr/>
          <p:nvPr/>
        </p:nvSpPr>
        <p:spPr>
          <a:xfrm>
            <a:off x="6126480" y="1371600"/>
            <a:ext cx="5486040" cy="2285640"/>
          </a:xfrm>
          <a:prstGeom prst="rect">
            <a:avLst/>
          </a:prstGeom>
          <a:solidFill>
            <a:srgbClr val="1c1c22"/>
          </a:solidFill>
          <a:ln w="8890">
            <a:solidFill>
              <a:srgbClr val="4a9ec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92" name="TextBox 9"/>
          <p:cNvSpPr/>
          <p:nvPr/>
        </p:nvSpPr>
        <p:spPr>
          <a:xfrm>
            <a:off x="6236280" y="1463040"/>
            <a:ext cx="52117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4a9ec7"/>
                </a:solidFill>
                <a:effectLst/>
                <a:uFillTx/>
                <a:latin typeface="Calibri"/>
              </a:rPr>
              <a:t>Таймлайн подій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3" name="TextBox 10"/>
          <p:cNvSpPr/>
          <p:nvPr/>
        </p:nvSpPr>
        <p:spPr>
          <a:xfrm>
            <a:off x="6236280" y="1901880"/>
            <a:ext cx="5211720" cy="164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lang="en-US" sz="1100" b="0" u="none" strike="noStrike">
                <a:solidFill>
                  <a:srgbClr val="5ab878"/>
                </a:solidFill>
                <a:effectLst/>
                <a:uFillTx/>
                <a:latin typeface="Calibri"/>
              </a:rPr>
              <a:t>TABLE назва, час, учасники, статус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5ab878"/>
                </a:solidFill>
                <a:effectLst/>
                <a:uFillTx/>
                <a:latin typeface="Calibri"/>
              </a:rPr>
              <a:t>FROM "02-Події"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5ab878"/>
                </a:solidFill>
                <a:effectLst/>
                <a:uFillTx/>
                <a:latin typeface="Calibri"/>
              </a:rPr>
              <a:t>SORT дата ASC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4" name="Rectangle 11"/>
          <p:cNvSpPr/>
          <p:nvPr/>
        </p:nvSpPr>
        <p:spPr>
          <a:xfrm>
            <a:off x="365760" y="3794760"/>
            <a:ext cx="5486040" cy="2285640"/>
          </a:xfrm>
          <a:prstGeom prst="rect">
            <a:avLst/>
          </a:prstGeom>
          <a:solidFill>
            <a:srgbClr val="1c1c22"/>
          </a:solidFill>
          <a:ln w="8890">
            <a:solidFill>
              <a:srgbClr val="4a9ec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95" name="TextBox 12"/>
          <p:cNvSpPr/>
          <p:nvPr/>
        </p:nvSpPr>
        <p:spPr>
          <a:xfrm>
            <a:off x="475560" y="3886200"/>
            <a:ext cx="52117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4a9ec7"/>
                </a:solidFill>
                <a:effectLst/>
                <a:uFillTx/>
                <a:latin typeface="Calibri"/>
              </a:rPr>
              <a:t>Суб'єкти без зв'язків (прогалини)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6" name="TextBox 13"/>
          <p:cNvSpPr/>
          <p:nvPr/>
        </p:nvSpPr>
        <p:spPr>
          <a:xfrm>
            <a:off x="475560" y="4325040"/>
            <a:ext cx="5211720" cy="164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lang="en-US" sz="1100" b="0" u="none" strike="noStrike">
                <a:solidFill>
                  <a:srgbClr val="5ab878"/>
                </a:solidFill>
                <a:effectLst/>
                <a:uFillTx/>
                <a:latin typeface="Calibri"/>
              </a:rPr>
              <a:t>TABLE ім'я, дата_додавання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5ab878"/>
                </a:solidFill>
                <a:effectLst/>
                <a:uFillTx/>
                <a:latin typeface="Calibri"/>
              </a:rPr>
              <a:t>FROM "01-Суб'єкти"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5ab878"/>
                </a:solidFill>
                <a:effectLst/>
                <a:uFillTx/>
                <a:latin typeface="Calibri"/>
              </a:rPr>
              <a:t>WHERE !пов'язані_організації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5ab878"/>
                </a:solidFill>
                <a:effectLst/>
                <a:uFillTx/>
                <a:latin typeface="Calibri"/>
              </a:rPr>
              <a:t>SORT дата_додавання ASC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7" name="Rectangle 14"/>
          <p:cNvSpPr/>
          <p:nvPr/>
        </p:nvSpPr>
        <p:spPr>
          <a:xfrm>
            <a:off x="6126480" y="3794760"/>
            <a:ext cx="5486040" cy="2285640"/>
          </a:xfrm>
          <a:prstGeom prst="rect">
            <a:avLst/>
          </a:prstGeom>
          <a:solidFill>
            <a:srgbClr val="1c1c22"/>
          </a:solidFill>
          <a:ln w="8890">
            <a:solidFill>
              <a:srgbClr val="4a9ec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98" name="TextBox 15"/>
          <p:cNvSpPr/>
          <p:nvPr/>
        </p:nvSpPr>
        <p:spPr>
          <a:xfrm>
            <a:off x="6236280" y="3886200"/>
            <a:ext cx="52117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4a9ec7"/>
                </a:solidFill>
                <a:effectLst/>
                <a:uFillTx/>
                <a:latin typeface="Calibri"/>
              </a:rPr>
              <a:t>Дашборд (JavaScript)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9" name="TextBox 16"/>
          <p:cNvSpPr/>
          <p:nvPr/>
        </p:nvSpPr>
        <p:spPr>
          <a:xfrm>
            <a:off x="6236280" y="4325040"/>
            <a:ext cx="5211720" cy="164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lang="en-US" sz="1100" b="0" u="none" strike="noStrike">
                <a:solidFill>
                  <a:srgbClr val="5ab878"/>
                </a:solidFill>
                <a:effectLst/>
                <a:uFillTx/>
                <a:latin typeface="Calibri"/>
              </a:rPr>
              <a:t>const s = dv.pages'"01-Суб\'єкти"');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5ab878"/>
                </a:solidFill>
                <a:effectLst/>
                <a:uFillTx/>
                <a:latin typeface="Calibri"/>
              </a:rPr>
              <a:t>dv.paragraph(`Фігурантів: ${s.length}`);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5ab878"/>
                </a:solidFill>
                <a:effectLst/>
                <a:uFillTx/>
                <a:latin typeface="Calibri"/>
              </a:rPr>
              <a:t>// підтверджено: ${s.filter(p=&gt;p.статус==="підтверджено").length}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0" name="Rectangle 17"/>
          <p:cNvSpPr/>
          <p:nvPr/>
        </p:nvSpPr>
        <p:spPr>
          <a:xfrm>
            <a:off x="365760" y="6263640"/>
            <a:ext cx="11429640" cy="502560"/>
          </a:xfrm>
          <a:prstGeom prst="rect">
            <a:avLst/>
          </a:prstGeom>
          <a:solidFill>
            <a:srgbClr val="1a1a2e"/>
          </a:solidFill>
          <a:ln w="15240">
            <a:solidFill>
              <a:srgbClr val="4a9ec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01" name="TextBox 18"/>
          <p:cNvSpPr/>
          <p:nvPr/>
        </p:nvSpPr>
        <p:spPr>
          <a:xfrm>
            <a:off x="457200" y="6286680"/>
            <a:ext cx="112467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4a9ec7"/>
                </a:solidFill>
                <a:effectLst/>
                <a:uFillTx/>
                <a:latin typeface="Calibri"/>
              </a:rPr>
              <a:t>[ SCREENSHOT: Dataview таблиця в Obsidian ]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0d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TextBox 1"/>
          <p:cNvSpPr/>
          <p:nvPr/>
        </p:nvSpPr>
        <p:spPr>
          <a:xfrm>
            <a:off x="365760" y="73080"/>
            <a:ext cx="10972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4a9ec7"/>
                </a:solidFill>
                <a:effectLst/>
                <a:uFillTx/>
                <a:latin typeface="Calibri"/>
              </a:rPr>
              <a:t>ЧАСТИНА ІV — PYTHON АВТОМАТИЗАЦІЯ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3" name="TextBox 2"/>
          <p:cNvSpPr/>
          <p:nvPr/>
        </p:nvSpPr>
        <p:spPr>
          <a:xfrm>
            <a:off x="365760" y="320040"/>
            <a:ext cx="109724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000" b="1" u="none" strike="noStrike">
                <a:solidFill>
                  <a:srgbClr val="e8e8e8"/>
                </a:solidFill>
                <a:effectLst/>
                <a:uFillTx/>
                <a:latin typeface="Calibri"/>
              </a:rPr>
              <a:t>Python pipeline: від сирих даних до звіту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4" name="Rectangle 3"/>
          <p:cNvSpPr/>
          <p:nvPr/>
        </p:nvSpPr>
        <p:spPr>
          <a:xfrm>
            <a:off x="365760" y="804600"/>
            <a:ext cx="11457000" cy="27000"/>
          </a:xfrm>
          <a:prstGeom prst="rect">
            <a:avLst/>
          </a:prstGeom>
          <a:solidFill>
            <a:srgbClr val="4a9ec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17640" bIns="-1764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05" name="Rectangle 4"/>
          <p:cNvSpPr/>
          <p:nvPr/>
        </p:nvSpPr>
        <p:spPr>
          <a:xfrm>
            <a:off x="365760" y="1051560"/>
            <a:ext cx="1919880" cy="776880"/>
          </a:xfrm>
          <a:prstGeom prst="rect">
            <a:avLst/>
          </a:prstGeom>
          <a:solidFill>
            <a:srgbClr val="1c1c22"/>
          </a:solidFill>
          <a:ln w="12700">
            <a:solidFill>
              <a:srgbClr val="78788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06" name="TextBox 5"/>
          <p:cNvSpPr/>
          <p:nvPr/>
        </p:nvSpPr>
        <p:spPr>
          <a:xfrm>
            <a:off x="411480" y="1097280"/>
            <a:ext cx="18284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787880"/>
                </a:solidFill>
                <a:effectLst/>
                <a:uFillTx/>
                <a:latin typeface="Calibri"/>
              </a:rPr>
              <a:t>CSV / JSON / DB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7" name="TextBox 6"/>
          <p:cNvSpPr/>
          <p:nvPr/>
        </p:nvSpPr>
        <p:spPr>
          <a:xfrm>
            <a:off x="2286000" y="1234440"/>
            <a:ext cx="2556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787880"/>
                </a:solidFill>
                <a:effectLst/>
                <a:uFillTx/>
                <a:latin typeface="Calibri"/>
              </a:rPr>
              <a:t>→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8" name="Rectangle 7"/>
          <p:cNvSpPr/>
          <p:nvPr/>
        </p:nvSpPr>
        <p:spPr>
          <a:xfrm>
            <a:off x="2560320" y="1051560"/>
            <a:ext cx="1919880" cy="776880"/>
          </a:xfrm>
          <a:prstGeom prst="rect">
            <a:avLst/>
          </a:prstGeom>
          <a:solidFill>
            <a:srgbClr val="1c1c22"/>
          </a:solidFill>
          <a:ln w="12700">
            <a:solidFill>
              <a:srgbClr val="4a9ec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09" name="TextBox 8"/>
          <p:cNvSpPr/>
          <p:nvPr/>
        </p:nvSpPr>
        <p:spPr>
          <a:xfrm>
            <a:off x="2606040" y="1097280"/>
            <a:ext cx="18284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lang="en-US" sz="1300" b="1" u="none" strike="noStrike">
                <a:solidFill>
                  <a:srgbClr val="4a9ec7"/>
                </a:solidFill>
                <a:effectLst/>
                <a:uFillTx/>
                <a:latin typeface="Calibri"/>
              </a:rPr>
              <a:t>pandas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4a9ec7"/>
                </a:solidFill>
                <a:effectLst/>
                <a:uFillTx/>
                <a:latin typeface="Calibri"/>
              </a:rPr>
              <a:t>очищення + агрегація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0" name="TextBox 9"/>
          <p:cNvSpPr/>
          <p:nvPr/>
        </p:nvSpPr>
        <p:spPr>
          <a:xfrm>
            <a:off x="4480560" y="1234440"/>
            <a:ext cx="2556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787880"/>
                </a:solidFill>
                <a:effectLst/>
                <a:uFillTx/>
                <a:latin typeface="Calibri"/>
              </a:rPr>
              <a:t>→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1" name="Rectangle 10"/>
          <p:cNvSpPr/>
          <p:nvPr/>
        </p:nvSpPr>
        <p:spPr>
          <a:xfrm>
            <a:off x="4754880" y="1051560"/>
            <a:ext cx="1919880" cy="776880"/>
          </a:xfrm>
          <a:prstGeom prst="rect">
            <a:avLst/>
          </a:prstGeom>
          <a:solidFill>
            <a:srgbClr val="1c1c22"/>
          </a:solidFill>
          <a:ln w="12700">
            <a:solidFill>
              <a:srgbClr val="c9854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12" name="TextBox 11"/>
          <p:cNvSpPr/>
          <p:nvPr/>
        </p:nvSpPr>
        <p:spPr>
          <a:xfrm>
            <a:off x="4800600" y="1097280"/>
            <a:ext cx="18284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lang="en-US" sz="1300" b="1" u="none" strike="noStrike">
                <a:solidFill>
                  <a:srgbClr val="c98540"/>
                </a:solidFill>
                <a:effectLst/>
                <a:uFillTx/>
                <a:latin typeface="Calibri"/>
              </a:rPr>
              <a:t>Plotly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c98540"/>
                </a:solidFill>
                <a:effectLst/>
                <a:uFillTx/>
                <a:latin typeface="Calibri"/>
              </a:rPr>
              <a:t>графіки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3" name="TextBox 12"/>
          <p:cNvSpPr/>
          <p:nvPr/>
        </p:nvSpPr>
        <p:spPr>
          <a:xfrm>
            <a:off x="6675120" y="1234440"/>
            <a:ext cx="2556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787880"/>
                </a:solidFill>
                <a:effectLst/>
                <a:uFillTx/>
                <a:latin typeface="Calibri"/>
              </a:rPr>
              <a:t>→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4" name="Rectangle 13"/>
          <p:cNvSpPr/>
          <p:nvPr/>
        </p:nvSpPr>
        <p:spPr>
          <a:xfrm>
            <a:off x="6949440" y="1051560"/>
            <a:ext cx="1919880" cy="776880"/>
          </a:xfrm>
          <a:prstGeom prst="rect">
            <a:avLst/>
          </a:prstGeom>
          <a:solidFill>
            <a:srgbClr val="1c1c22"/>
          </a:solidFill>
          <a:ln w="12700">
            <a:solidFill>
              <a:srgbClr val="5ab87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15" name="TextBox 14"/>
          <p:cNvSpPr/>
          <p:nvPr/>
        </p:nvSpPr>
        <p:spPr>
          <a:xfrm>
            <a:off x="6995160" y="1097280"/>
            <a:ext cx="18284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lang="en-US" sz="1300" b="1" u="none" strike="noStrike">
                <a:solidFill>
                  <a:srgbClr val="5ab878"/>
                </a:solidFill>
                <a:effectLst/>
                <a:uFillTx/>
                <a:latin typeface="Calibri"/>
              </a:rPr>
              <a:t>Jinja2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5ab878"/>
                </a:solidFill>
                <a:effectLst/>
                <a:uFillTx/>
                <a:latin typeface="Calibri"/>
              </a:rPr>
              <a:t>шаблон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6" name="TextBox 15"/>
          <p:cNvSpPr/>
          <p:nvPr/>
        </p:nvSpPr>
        <p:spPr>
          <a:xfrm>
            <a:off x="8869680" y="1234440"/>
            <a:ext cx="2556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787880"/>
                </a:solidFill>
                <a:effectLst/>
                <a:uFillTx/>
                <a:latin typeface="Calibri"/>
              </a:rPr>
              <a:t>→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7" name="Rectangle 16"/>
          <p:cNvSpPr/>
          <p:nvPr/>
        </p:nvSpPr>
        <p:spPr>
          <a:xfrm>
            <a:off x="9144000" y="1051560"/>
            <a:ext cx="1919880" cy="776880"/>
          </a:xfrm>
          <a:prstGeom prst="rect">
            <a:avLst/>
          </a:prstGeom>
          <a:solidFill>
            <a:srgbClr val="1c1c22"/>
          </a:solidFill>
          <a:ln w="12700">
            <a:solidFill>
              <a:srgbClr val="4a9ec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18" name="TextBox 17"/>
          <p:cNvSpPr/>
          <p:nvPr/>
        </p:nvSpPr>
        <p:spPr>
          <a:xfrm>
            <a:off x="9189720" y="1097280"/>
            <a:ext cx="18284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lang="en-US" sz="1300" b="1" u="none" strike="noStrike">
                <a:solidFill>
                  <a:srgbClr val="4a9ec7"/>
                </a:solidFill>
                <a:effectLst/>
                <a:uFillTx/>
                <a:latin typeface="Calibri"/>
              </a:rPr>
              <a:t>PDF / Markdown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4a9ec7"/>
                </a:solidFill>
                <a:effectLst/>
                <a:uFillTx/>
                <a:latin typeface="Calibri"/>
              </a:rPr>
              <a:t>звіт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9" name="Rectangle 18"/>
          <p:cNvSpPr/>
          <p:nvPr/>
        </p:nvSpPr>
        <p:spPr>
          <a:xfrm>
            <a:off x="365760" y="2011680"/>
            <a:ext cx="11429640" cy="4434480"/>
          </a:xfrm>
          <a:prstGeom prst="rect">
            <a:avLst/>
          </a:prstGeom>
          <a:solidFill>
            <a:srgbClr val="1c1c22"/>
          </a:solidFill>
          <a:ln w="8890">
            <a:solidFill>
              <a:srgbClr val="4a9ec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20" name="TextBox 19"/>
          <p:cNvSpPr/>
          <p:nvPr/>
        </p:nvSpPr>
        <p:spPr>
          <a:xfrm>
            <a:off x="502920" y="2075760"/>
            <a:ext cx="111553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4a9ec7"/>
                </a:solidFill>
                <a:effectLst/>
                <a:uFillTx/>
                <a:latin typeface="Calibri"/>
              </a:rPr>
              <a:t># Мінімальний робочий приклад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1" name="TextBox 20"/>
          <p:cNvSpPr/>
          <p:nvPr/>
        </p:nvSpPr>
        <p:spPr>
          <a:xfrm>
            <a:off x="502920" y="2450520"/>
            <a:ext cx="11155320" cy="384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lang="en-US" sz="1100" b="0" u="none" strike="noStrike">
                <a:solidFill>
                  <a:srgbClr val="5ab878"/>
                </a:solidFill>
                <a:effectLst/>
                <a:uFillTx/>
                <a:latin typeface="Calibri"/>
              </a:rPr>
              <a:t>import pandas as pd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5ab878"/>
                </a:solidFill>
                <a:effectLst/>
                <a:uFillTx/>
                <a:latin typeface="Calibri"/>
              </a:rPr>
              <a:t>import plotly.express as px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5ab878"/>
                </a:solidFill>
                <a:effectLst/>
                <a:uFillTx/>
                <a:latin typeface="Calibri"/>
              </a:rPr>
              <a:t>from jinja2 import Environment, FileSystemLoader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5ab878"/>
                </a:solidFill>
                <a:effectLst/>
                <a:uFillTx/>
                <a:latin typeface="Calibri"/>
              </a:rPr>
              <a:t>df = pd.read_csv("telegram_events.csv", parse_dates=["timestamp"])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5ab878"/>
                </a:solidFill>
                <a:effectLst/>
                <a:uFillTx/>
                <a:latin typeface="Calibri"/>
              </a:rPr>
              <a:t>df["date"] = df["timestamp"].dt.date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5ab878"/>
                </a:solidFill>
                <a:effectLst/>
                <a:uFillTx/>
                <a:latin typeface="Calibri"/>
              </a:rPr>
              <a:t>daily = df.groupby("date").agg(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5ab878"/>
                </a:solidFill>
                <a:effectLst/>
                <a:uFillTx/>
                <a:latin typeface="Calibri"/>
              </a:rPr>
              <a:t>    messages=("message_id", "count"),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5ab878"/>
                </a:solidFill>
                <a:effectLst/>
                <a:uFillTx/>
                <a:latin typeface="Calibri"/>
              </a:rPr>
              <a:t>    unique_channels=("channel_id", "nunique")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5ab878"/>
                </a:solidFill>
                <a:effectLst/>
                <a:uFillTx/>
                <a:latin typeface="Calibri"/>
              </a:rPr>
              <a:t>).reset_index()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5ab878"/>
                </a:solidFill>
                <a:effectLst/>
                <a:uFillTx/>
                <a:latin typeface="Calibri"/>
              </a:rPr>
              <a:t>fig = px.line(daily, x="date", y="messages", title="Активність мережі по днях")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5ab878"/>
                </a:solidFill>
                <a:effectLst/>
                <a:uFillTx/>
                <a:latin typeface="Calibri"/>
              </a:rPr>
              <a:t>fig.write_image("activity_chart.png", width=1200, height=500)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5ab878"/>
                </a:solidFill>
                <a:effectLst/>
                <a:uFillTx/>
                <a:latin typeface="Calibri"/>
              </a:rPr>
              <a:t>stats = {"total_messages": int(df.shape[0]),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5ab878"/>
                </a:solidFill>
                <a:effectLst/>
                <a:uFillTx/>
                <a:latin typeface="Calibri"/>
              </a:rPr>
              <a:t>         "peak_day": str(daily.loc[daily["messages"].idxmax(), "date"]),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5ab878"/>
                </a:solidFill>
                <a:effectLst/>
                <a:uFillTx/>
                <a:latin typeface="Calibri"/>
              </a:rPr>
              <a:t>         "peak_count": int(daily["messages"].max())}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5ab878"/>
                </a:solidFill>
                <a:effectLst/>
                <a:uFillTx/>
                <a:latin typeface="Calibri"/>
              </a:rPr>
              <a:t>env = Environment(loader=FileSystemLoader("."))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5ab878"/>
                </a:solidFill>
                <a:effectLst/>
                <a:uFillTx/>
                <a:latin typeface="Calibri"/>
              </a:rPr>
              <a:t>report = env.get_template("report_template.md").render(**stats)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5ab878"/>
                </a:solidFill>
                <a:effectLst/>
                <a:uFillTx/>
                <a:latin typeface="Calibri"/>
              </a:rPr>
              <a:t>open("report_output.md", "w").write(report)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0d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TextBox 1"/>
          <p:cNvSpPr/>
          <p:nvPr/>
        </p:nvSpPr>
        <p:spPr>
          <a:xfrm>
            <a:off x="365760" y="73080"/>
            <a:ext cx="10972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4a9ec7"/>
                </a:solidFill>
                <a:effectLst/>
                <a:uFillTx/>
                <a:latin typeface="Calibri"/>
              </a:rPr>
              <a:t>ЧАСТИНА ІV — PYTHON АВТОМАТИЗАЦІЯ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3" name="TextBox 2"/>
          <p:cNvSpPr/>
          <p:nvPr/>
        </p:nvSpPr>
        <p:spPr>
          <a:xfrm>
            <a:off x="365760" y="320040"/>
            <a:ext cx="109724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400" b="1" u="none" strike="noStrike">
                <a:solidFill>
                  <a:srgbClr val="e8e8e8"/>
                </a:solidFill>
                <a:effectLst/>
                <a:uFillTx/>
                <a:latin typeface="Calibri"/>
              </a:rPr>
              <a:t>Jinja2: шаблон звіту</a:t>
            </a:r>
            <a:endParaRPr lang="en-US" sz="3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4" name="Rectangle 3"/>
          <p:cNvSpPr/>
          <p:nvPr/>
        </p:nvSpPr>
        <p:spPr>
          <a:xfrm>
            <a:off x="365760" y="804600"/>
            <a:ext cx="11457000" cy="27000"/>
          </a:xfrm>
          <a:prstGeom prst="rect">
            <a:avLst/>
          </a:prstGeom>
          <a:solidFill>
            <a:srgbClr val="4a9ec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17640" bIns="-1764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25" name="Rectangle 4"/>
          <p:cNvSpPr/>
          <p:nvPr/>
        </p:nvSpPr>
        <p:spPr>
          <a:xfrm>
            <a:off x="365760" y="960120"/>
            <a:ext cx="11429640" cy="5348880"/>
          </a:xfrm>
          <a:prstGeom prst="rect">
            <a:avLst/>
          </a:prstGeom>
          <a:solidFill>
            <a:srgbClr val="1c1c22"/>
          </a:solidFill>
          <a:ln w="8890">
            <a:solidFill>
              <a:srgbClr val="4a9ec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26" name="TextBox 5"/>
          <p:cNvSpPr/>
          <p:nvPr/>
        </p:nvSpPr>
        <p:spPr>
          <a:xfrm>
            <a:off x="502920" y="1051560"/>
            <a:ext cx="1115532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lang="en-US" sz="1100" b="0" u="none" strike="noStrike">
                <a:solidFill>
                  <a:srgbClr val="aaddff"/>
                </a:solidFill>
                <a:effectLst/>
                <a:uFillTx/>
                <a:latin typeface="Calibri"/>
              </a:rPr>
              <a:t># SPOT REPORT — Аналіз мережі Telegram-каналів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aaddff"/>
                </a:solidFill>
                <a:effectLst/>
                <a:uFillTx/>
                <a:latin typeface="Calibri"/>
              </a:rPr>
              <a:t>**Дата:** {{ now }}   |   **Гриф:** FOR OFFICIAL USE ONLY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aaddff"/>
                </a:solidFill>
                <a:effectLst/>
                <a:uFillTx/>
                <a:latin typeface="Calibri"/>
              </a:rPr>
              <a:t>---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aaddff"/>
                </a:solidFill>
                <a:effectLst/>
                <a:uFillTx/>
                <a:latin typeface="Calibri"/>
              </a:rPr>
              <a:t>## BLUF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aaddff"/>
                </a:solidFill>
                <a:effectLst/>
                <a:uFillTx/>
                <a:latin typeface="Calibri"/>
              </a:rPr>
              <a:t>Аналіз мережі з **{{ total_channels }} каналів** за {{ date_from }} — {{ date_to }}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aaddff"/>
                </a:solidFill>
                <a:effectLst/>
                <a:uFillTx/>
                <a:latin typeface="Calibri"/>
              </a:rPr>
              <a:t>виявив ознаки координованої активності.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aaddff"/>
                </a:solidFill>
                <a:effectLst/>
                <a:uFillTx/>
                <a:latin typeface="Calibri"/>
              </a:rPr>
              <a:t>Пікове навантаження: **{{ peak_count }} повідомлень** за {{ peak_day }}.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aaddff"/>
                </a:solidFill>
                <a:effectLst/>
                <a:uFillTx/>
                <a:latin typeface="Calibri"/>
              </a:rPr>
              <a:t>## Ключові судження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aaddff"/>
                </a:solidFill>
                <a:effectLst/>
                <a:uFillTx/>
                <a:latin typeface="Calibri"/>
              </a:rPr>
              <a:t>1. (Висока впевненість) Мережа синхронізує публікації у вікні ±5 хвилин...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aaddff"/>
                </a:solidFill>
                <a:effectLst/>
                <a:uFillTx/>
                <a:latin typeface="Calibri"/>
              </a:rPr>
              <a:t>2. (Помірна впевненість) Перекриття аудиторії свідчить про спільне управління...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aaddff"/>
                </a:solidFill>
                <a:effectLst/>
                <a:uFillTx/>
                <a:latin typeface="Calibri"/>
              </a:rPr>
              <a:t>## Динаміка активності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aaddff"/>
                </a:solidFill>
                <a:effectLst/>
                <a:uFillTx/>
                <a:latin typeface="Calibri"/>
              </a:rPr>
              <a:t>![Графік активності](activity_chart.png)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aaddff"/>
                </a:solidFill>
                <a:effectLst/>
                <a:uFillTx/>
                <a:latin typeface="Calibri"/>
              </a:rPr>
              <a:t>{% if peak_count &gt; 5000 %}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aaddff"/>
                </a:solidFill>
                <a:effectLst/>
                <a:uFillTx/>
                <a:latin typeface="Calibri"/>
              </a:rPr>
              <a:t>&gt; ⚠  АНОМАЛІЯ: Пікова активність перевищує поріг 5 000 повідомлень/день.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aaddff"/>
                </a:solidFill>
                <a:effectLst/>
                <a:uFillTx/>
                <a:latin typeface="Calibri"/>
              </a:rPr>
              <a:t>{% endif %}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aaddff"/>
                </a:solidFill>
                <a:effectLst/>
                <a:uFillTx/>
                <a:latin typeface="Calibri"/>
              </a:rPr>
              <a:t>| Метрика | Значення |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aaddff"/>
                </a:solidFill>
                <a:effectLst/>
                <a:uFillTx/>
                <a:latin typeface="Calibri"/>
              </a:rPr>
              <a:t>|---------|---------|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aaddff"/>
                </a:solidFill>
                <a:effectLst/>
                <a:uFillTx/>
                <a:latin typeface="Calibri"/>
              </a:rPr>
              <a:t>| Повідомлень | {{ total_messages }} |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aaddff"/>
                </a:solidFill>
                <a:effectLst/>
                <a:uFillTx/>
                <a:latin typeface="Calibri"/>
              </a:rPr>
              <a:t>| Пікова дата | {{ peak_day }} |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7" name="TextBox 6"/>
          <p:cNvSpPr/>
          <p:nvPr/>
        </p:nvSpPr>
        <p:spPr>
          <a:xfrm>
            <a:off x="365760" y="6400800"/>
            <a:ext cx="114296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i="1" u="none" strike="noStrike">
                <a:solidFill>
                  <a:srgbClr val="787880"/>
                </a:solidFill>
                <a:effectLst/>
                <a:uFillTx/>
                <a:latin typeface="Calibri"/>
              </a:rPr>
              <a:t>Змінні {{ }} — підставляє Python. {% if %} — умовна логіка. Один шаблон → нескінченно звітів.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0d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TextBox 1"/>
          <p:cNvSpPr/>
          <p:nvPr/>
        </p:nvSpPr>
        <p:spPr>
          <a:xfrm>
            <a:off x="365760" y="73080"/>
            <a:ext cx="10972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4a9ec7"/>
                </a:solidFill>
                <a:effectLst/>
                <a:uFillTx/>
                <a:latin typeface="Calibri"/>
              </a:rPr>
              <a:t>ЧАСТИНА ІV — PYTHON АВТОМАТИЗАЦІЯ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9" name="TextBox 2"/>
          <p:cNvSpPr/>
          <p:nvPr/>
        </p:nvSpPr>
        <p:spPr>
          <a:xfrm>
            <a:off x="365760" y="320040"/>
            <a:ext cx="109724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000" b="1" u="none" strike="noStrike">
                <a:solidFill>
                  <a:srgbClr val="e8e8e8"/>
                </a:solidFill>
                <a:effectLst/>
                <a:uFillTx/>
                <a:latin typeface="Calibri"/>
              </a:rPr>
              <a:t>Автоматичні візуалізації: Plotly для OSINT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0" name="Rectangle 3"/>
          <p:cNvSpPr/>
          <p:nvPr/>
        </p:nvSpPr>
        <p:spPr>
          <a:xfrm>
            <a:off x="365760" y="804600"/>
            <a:ext cx="11457000" cy="27000"/>
          </a:xfrm>
          <a:prstGeom prst="rect">
            <a:avLst/>
          </a:prstGeom>
          <a:solidFill>
            <a:srgbClr val="4a9ec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17640" bIns="-1764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31" name="Rectangle 4"/>
          <p:cNvSpPr/>
          <p:nvPr/>
        </p:nvSpPr>
        <p:spPr>
          <a:xfrm>
            <a:off x="365760" y="1005840"/>
            <a:ext cx="11429640" cy="1599840"/>
          </a:xfrm>
          <a:prstGeom prst="rect">
            <a:avLst/>
          </a:prstGeom>
          <a:solidFill>
            <a:srgbClr val="1c1c22"/>
          </a:solidFill>
          <a:ln w="8890">
            <a:solidFill>
              <a:srgbClr val="4a9ec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32" name="TextBox 5"/>
          <p:cNvSpPr/>
          <p:nvPr/>
        </p:nvSpPr>
        <p:spPr>
          <a:xfrm>
            <a:off x="502920" y="1078920"/>
            <a:ext cx="50288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4a9ec7"/>
                </a:solidFill>
                <a:effectLst/>
                <a:uFillTx/>
                <a:latin typeface="Calibri"/>
              </a:rPr>
              <a:t>Heatmap активності по годинах та днях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3" name="TextBox 6"/>
          <p:cNvSpPr/>
          <p:nvPr/>
        </p:nvSpPr>
        <p:spPr>
          <a:xfrm>
            <a:off x="502920" y="1554480"/>
            <a:ext cx="50288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lang="en-US" sz="1300" b="0" u="none" strike="noStrike">
                <a:solidFill>
                  <a:srgbClr val="787880"/>
                </a:solidFill>
                <a:effectLst/>
                <a:uFillTx/>
                <a:latin typeface="Calibri"/>
              </a:rPr>
              <a:t>Показує: у який час і день тижня найвища активність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787880"/>
                </a:solidFill>
                <a:effectLst/>
                <a:uFillTx/>
                <a:latin typeface="Calibri"/>
              </a:rPr>
              <a:t>→ виявляє робочий графік оператора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4" name="TextBox 7"/>
          <p:cNvSpPr/>
          <p:nvPr/>
        </p:nvSpPr>
        <p:spPr>
          <a:xfrm>
            <a:off x="5623560" y="1234440"/>
            <a:ext cx="603468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5ab878"/>
                </a:solidFill>
                <a:effectLst/>
                <a:uFillTx/>
                <a:latin typeface="Calibri"/>
              </a:rPr>
              <a:t>px.imshow(pivot) / go.Heatmap(z=..., x=[hours], y=[days])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5" name="Rectangle 8"/>
          <p:cNvSpPr/>
          <p:nvPr/>
        </p:nvSpPr>
        <p:spPr>
          <a:xfrm>
            <a:off x="365760" y="2743200"/>
            <a:ext cx="11429640" cy="1599840"/>
          </a:xfrm>
          <a:prstGeom prst="rect">
            <a:avLst/>
          </a:prstGeom>
          <a:solidFill>
            <a:srgbClr val="1c1c22"/>
          </a:solidFill>
          <a:ln w="8890">
            <a:solidFill>
              <a:srgbClr val="4a9ec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36" name="TextBox 9"/>
          <p:cNvSpPr/>
          <p:nvPr/>
        </p:nvSpPr>
        <p:spPr>
          <a:xfrm>
            <a:off x="502920" y="2816280"/>
            <a:ext cx="50288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4a9ec7"/>
                </a:solidFill>
                <a:effectLst/>
                <a:uFillTx/>
                <a:latin typeface="Calibri"/>
              </a:rPr>
              <a:t>Scatter: Betweenness vs PageRank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7" name="TextBox 10"/>
          <p:cNvSpPr/>
          <p:nvPr/>
        </p:nvSpPr>
        <p:spPr>
          <a:xfrm>
            <a:off x="502920" y="3291840"/>
            <a:ext cx="50288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lang="en-US" sz="1300" b="0" u="none" strike="noStrike">
                <a:solidFill>
                  <a:srgbClr val="787880"/>
                </a:solidFill>
                <a:effectLst/>
                <a:uFillTx/>
                <a:latin typeface="Calibri"/>
              </a:rPr>
              <a:t>Показує: вузли в топ-10% за обома метриками одночасно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787880"/>
                </a:solidFill>
                <a:effectLst/>
                <a:uFillTx/>
                <a:latin typeface="Calibri"/>
              </a:rPr>
              <a:t>→ критичні точки мережі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8" name="TextBox 11"/>
          <p:cNvSpPr/>
          <p:nvPr/>
        </p:nvSpPr>
        <p:spPr>
          <a:xfrm>
            <a:off x="5623560" y="2971800"/>
            <a:ext cx="603468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5ab878"/>
                </a:solidFill>
                <a:effectLst/>
                <a:uFillTx/>
                <a:latin typeface="Calibri"/>
              </a:rPr>
              <a:t>px.scatter(df, x='betweenness', y='pagerank', size='degree', color='community')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9" name="Rectangle 12"/>
          <p:cNvSpPr/>
          <p:nvPr/>
        </p:nvSpPr>
        <p:spPr>
          <a:xfrm>
            <a:off x="365760" y="4480560"/>
            <a:ext cx="11429640" cy="1599840"/>
          </a:xfrm>
          <a:prstGeom prst="rect">
            <a:avLst/>
          </a:prstGeom>
          <a:solidFill>
            <a:srgbClr val="1c1c22"/>
          </a:solidFill>
          <a:ln w="8890">
            <a:solidFill>
              <a:srgbClr val="4a9ec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40" name="TextBox 13"/>
          <p:cNvSpPr/>
          <p:nvPr/>
        </p:nvSpPr>
        <p:spPr>
          <a:xfrm>
            <a:off x="502920" y="4553640"/>
            <a:ext cx="50288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4a9ec7"/>
                </a:solidFill>
                <a:effectLst/>
                <a:uFillTx/>
                <a:latin typeface="Calibri"/>
              </a:rPr>
              <a:t>Animated bar chart (bar race)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1" name="TextBox 14"/>
          <p:cNvSpPr/>
          <p:nvPr/>
        </p:nvSpPr>
        <p:spPr>
          <a:xfrm>
            <a:off x="502920" y="5029200"/>
            <a:ext cx="50288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lang="en-US" sz="1300" b="0" u="none" strike="noStrike">
                <a:solidFill>
                  <a:srgbClr val="787880"/>
                </a:solidFill>
                <a:effectLst/>
                <a:uFillTx/>
                <a:latin typeface="Calibri"/>
              </a:rPr>
              <a:t>Показує: топ-10 каналів по тижнях, хто зростає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787880"/>
                </a:solidFill>
                <a:effectLst/>
                <a:uFillTx/>
                <a:latin typeface="Calibri"/>
              </a:rPr>
              <a:t>→ виявляє нові координаційні центри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2" name="TextBox 15"/>
          <p:cNvSpPr/>
          <p:nvPr/>
        </p:nvSpPr>
        <p:spPr>
          <a:xfrm>
            <a:off x="5623560" y="4709160"/>
            <a:ext cx="603468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5ab878"/>
                </a:solidFill>
                <a:effectLst/>
                <a:uFillTx/>
                <a:latin typeface="Calibri"/>
              </a:rPr>
              <a:t>px.bar(weekly_top, x='count', y='channel', animation_frame='week', orientation='h')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3" name="Rectangle 16"/>
          <p:cNvSpPr/>
          <p:nvPr/>
        </p:nvSpPr>
        <p:spPr>
          <a:xfrm>
            <a:off x="365760" y="6263640"/>
            <a:ext cx="11429640" cy="502560"/>
          </a:xfrm>
          <a:prstGeom prst="rect">
            <a:avLst/>
          </a:prstGeom>
          <a:solidFill>
            <a:srgbClr val="1a1a2e"/>
          </a:solidFill>
          <a:ln w="15240">
            <a:solidFill>
              <a:srgbClr val="4a9ec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44" name="TextBox 17"/>
          <p:cNvSpPr/>
          <p:nvPr/>
        </p:nvSpPr>
        <p:spPr>
          <a:xfrm>
            <a:off x="457200" y="6286680"/>
            <a:ext cx="112467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4a9ec7"/>
                </a:solidFill>
                <a:effectLst/>
                <a:uFillTx/>
                <a:latin typeface="Calibri"/>
              </a:rPr>
              <a:t>[ SCREENSHOT: Heatmap активності / Scatter метрик — приклади Plotly графіків ]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0d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TextBox 1"/>
          <p:cNvSpPr/>
          <p:nvPr/>
        </p:nvSpPr>
        <p:spPr>
          <a:xfrm>
            <a:off x="365760" y="73080"/>
            <a:ext cx="10972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4a9ec7"/>
                </a:solidFill>
                <a:effectLst/>
                <a:uFillTx/>
                <a:latin typeface="Calibri"/>
              </a:rPr>
              <a:t>ЧАСТИНА ІV — PYTHON АВТОМАТИЗАЦІЯ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6" name="TextBox 2"/>
          <p:cNvSpPr/>
          <p:nvPr/>
        </p:nvSpPr>
        <p:spPr>
          <a:xfrm>
            <a:off x="365760" y="320040"/>
            <a:ext cx="109724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100" b="1" u="none" strike="noStrike">
                <a:solidFill>
                  <a:srgbClr val="e8e8e8"/>
                </a:solidFill>
                <a:effectLst/>
                <a:uFillTx/>
                <a:latin typeface="Calibri"/>
              </a:rPr>
              <a:t>AI-генерація коду для OSINT-скриптів</a:t>
            </a:r>
            <a:endParaRPr lang="en-US" sz="3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7" name="Rectangle 3"/>
          <p:cNvSpPr/>
          <p:nvPr/>
        </p:nvSpPr>
        <p:spPr>
          <a:xfrm>
            <a:off x="365760" y="804600"/>
            <a:ext cx="11457000" cy="27000"/>
          </a:xfrm>
          <a:prstGeom prst="rect">
            <a:avLst/>
          </a:prstGeom>
          <a:solidFill>
            <a:srgbClr val="4a9ec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17640" bIns="-1764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48" name="Rectangle 4"/>
          <p:cNvSpPr/>
          <p:nvPr/>
        </p:nvSpPr>
        <p:spPr>
          <a:xfrm>
            <a:off x="365760" y="960120"/>
            <a:ext cx="11429640" cy="2651400"/>
          </a:xfrm>
          <a:prstGeom prst="rect">
            <a:avLst/>
          </a:prstGeom>
          <a:solidFill>
            <a:srgbClr val="1c1c22"/>
          </a:solidFill>
          <a:ln w="10160">
            <a:solidFill>
              <a:srgbClr val="4a9ec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49" name="TextBox 5"/>
          <p:cNvSpPr/>
          <p:nvPr/>
        </p:nvSpPr>
        <p:spPr>
          <a:xfrm>
            <a:off x="502920" y="1024200"/>
            <a:ext cx="10972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4a9ec7"/>
                </a:solidFill>
                <a:effectLst/>
                <a:uFillTx/>
                <a:latin typeface="Calibri"/>
              </a:rPr>
              <a:t>Приклад промпту для генерації коду: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0" name="TextBox 6"/>
          <p:cNvSpPr/>
          <p:nvPr/>
        </p:nvSpPr>
        <p:spPr>
          <a:xfrm>
            <a:off x="502920" y="1435680"/>
            <a:ext cx="11155320" cy="21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lang="en-US" sz="1200" b="0" i="1" u="none" strike="noStrike">
                <a:solidFill>
                  <a:srgbClr val="787880"/>
                </a:solidFill>
                <a:effectLst/>
                <a:uFillTx/>
                <a:latin typeface="Calibri"/>
              </a:rPr>
              <a:t>Напиши Python скрипт для наступного завдання: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200" b="0" i="1" u="none" strike="noStrike">
                <a:solidFill>
                  <a:srgbClr val="787880"/>
                </a:solidFill>
                <a:effectLst/>
                <a:uFillTx/>
                <a:latin typeface="Calibri"/>
              </a:rPr>
              <a:t>Вхідні дані: CSV файл telegram_messages.csv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200" b="0" i="1" u="none" strike="noStrike">
                <a:solidFill>
                  <a:srgbClr val="787880"/>
                </a:solidFill>
                <a:effectLst/>
                <a:uFillTx/>
                <a:latin typeface="Calibri"/>
              </a:rPr>
              <a:t>Колонки: timestamp (ISO8601), channel_id (str), message_id (int), text (str)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200" b="0" i="1" u="none" strike="noStrike">
                <a:solidFill>
                  <a:srgbClr val="787880"/>
                </a:solidFill>
                <a:effectLst/>
                <a:uFillTx/>
                <a:latin typeface="Calibri"/>
              </a:rPr>
              <a:t>Задача: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200" b="0" i="1" u="none" strike="noStrike">
                <a:solidFill>
                  <a:srgbClr val="787880"/>
                </a:solidFill>
                <a:effectLst/>
                <a:uFillTx/>
                <a:latin typeface="Calibri"/>
              </a:rPr>
              <a:t>1. Знайди всі канали, що публікували ідентичний текст (cosine similarity &gt; 0.9) у 10-хв. вікні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200" b="0" i="1" u="none" strike="noStrike">
                <a:solidFill>
                  <a:srgbClr val="787880"/>
                </a:solidFill>
                <a:effectLst/>
                <a:uFillTx/>
                <a:latin typeface="Calibri"/>
              </a:rPr>
              <a:t>2. Виведи: пари каналів + кількість збігів + приклад тексту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200" b="0" i="1" u="none" strike="noStrike">
                <a:solidFill>
                  <a:srgbClr val="787880"/>
                </a:solidFill>
                <a:effectLst/>
                <a:uFillTx/>
                <a:latin typeface="Calibri"/>
              </a:rPr>
              <a:t>3. Збережи результат у coincident_posts.csv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i="1" u="none" strike="noStrike">
                <a:solidFill>
                  <a:srgbClr val="787880"/>
                </a:solidFill>
                <a:effectLst/>
                <a:uFillTx/>
                <a:latin typeface="Calibri"/>
              </a:rPr>
              <a:t>Бібліотеки: pandas, sklearn (TfidfVectorizer, cosine_similarity)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1" name="Rectangle 7"/>
          <p:cNvSpPr/>
          <p:nvPr/>
        </p:nvSpPr>
        <p:spPr>
          <a:xfrm>
            <a:off x="365760" y="3749040"/>
            <a:ext cx="5394600" cy="2559960"/>
          </a:xfrm>
          <a:prstGeom prst="rect">
            <a:avLst/>
          </a:prstGeom>
          <a:solidFill>
            <a:srgbClr val="1c1c22"/>
          </a:solidFill>
          <a:ln w="10160">
            <a:solidFill>
              <a:srgbClr val="c9854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52" name="TextBox 8"/>
          <p:cNvSpPr/>
          <p:nvPr/>
        </p:nvSpPr>
        <p:spPr>
          <a:xfrm>
            <a:off x="502920" y="3813120"/>
            <a:ext cx="51202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c98540"/>
                </a:solidFill>
                <a:effectLst/>
                <a:uFillTx/>
                <a:latin typeface="Calibri"/>
              </a:rPr>
              <a:t>Що перевірити перед запуском: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3" name="TextBox 9"/>
          <p:cNvSpPr/>
          <p:nvPr/>
        </p:nvSpPr>
        <p:spPr>
          <a:xfrm>
            <a:off x="502920" y="4251960"/>
            <a:ext cx="5120280" cy="191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Bef>
                <a:spcPts val="201"/>
              </a:spcBef>
              <a:spcAft>
                <a:spcPts val="400"/>
              </a:spcAft>
            </a:pPr>
            <a:r>
              <a:rPr lang="en-US" sz="1400" b="0" u="none" strike="noStrike">
                <a:solidFill>
                  <a:srgbClr val="e8e8e8"/>
                </a:solidFill>
                <a:effectLst/>
                <a:uFillTx/>
                <a:latin typeface="Calibri"/>
              </a:rPr>
              <a:t>☐ Правильне кодування (encoding='utf-8')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  <a:spcAft>
                <a:spcPts val="400"/>
              </a:spcAft>
            </a:pPr>
            <a:r>
              <a:rPr lang="en-US" sz="1400" b="0" u="none" strike="noStrike">
                <a:solidFill>
                  <a:srgbClr val="e8e8e8"/>
                </a:solidFill>
                <a:effectLst/>
                <a:uFillTx/>
                <a:latin typeface="Calibri"/>
              </a:rPr>
              <a:t>☐ Немає hardcoded шляхів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  <a:spcAft>
                <a:spcPts val="400"/>
              </a:spcAft>
            </a:pPr>
            <a:r>
              <a:rPr lang="en-US" sz="1400" b="0" u="none" strike="noStrike">
                <a:solidFill>
                  <a:srgbClr val="e8e8e8"/>
                </a:solidFill>
                <a:effectLst/>
                <a:uFillTx/>
                <a:latin typeface="Calibri"/>
              </a:rPr>
              <a:t>☐ Обробка порожніх значень (dropna)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  <a:spcAft>
                <a:spcPts val="400"/>
              </a:spcAft>
            </a:pPr>
            <a:r>
              <a:rPr lang="en-US" sz="1400" b="0" u="none" strike="noStrike">
                <a:solidFill>
                  <a:srgbClr val="e8e8e8"/>
                </a:solidFill>
                <a:effectLst/>
                <a:uFillTx/>
                <a:latin typeface="Calibri"/>
              </a:rPr>
              <a:t>☐ Ліміт на розмір вибірки (OOM ризик)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4" name="Rectangle 10"/>
          <p:cNvSpPr/>
          <p:nvPr/>
        </p:nvSpPr>
        <p:spPr>
          <a:xfrm>
            <a:off x="6035040" y="3749040"/>
            <a:ext cx="5760360" cy="2559960"/>
          </a:xfrm>
          <a:prstGeom prst="rect">
            <a:avLst/>
          </a:prstGeom>
          <a:solidFill>
            <a:srgbClr val="1c1c22"/>
          </a:solidFill>
          <a:ln w="10160">
            <a:solidFill>
              <a:srgbClr val="5ab87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55" name="TextBox 11"/>
          <p:cNvSpPr/>
          <p:nvPr/>
        </p:nvSpPr>
        <p:spPr>
          <a:xfrm>
            <a:off x="6172200" y="3813120"/>
            <a:ext cx="54860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5ab878"/>
                </a:solidFill>
                <a:effectLst/>
                <a:uFillTx/>
                <a:latin typeface="Calibri"/>
              </a:rPr>
              <a:t>Ітеративний рефайнинг: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6" name="TextBox 12"/>
          <p:cNvSpPr/>
          <p:nvPr/>
        </p:nvSpPr>
        <p:spPr>
          <a:xfrm>
            <a:off x="6172200" y="4251960"/>
            <a:ext cx="5486040" cy="191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Bef>
                <a:spcPts val="201"/>
              </a:spcBef>
              <a:spcAft>
                <a:spcPts val="400"/>
              </a:spcAft>
            </a:pPr>
            <a:r>
              <a:rPr lang="en-US" sz="1300" b="0" u="none" strike="noStrike">
                <a:solidFill>
                  <a:srgbClr val="e8e8e8"/>
                </a:solidFill>
                <a:effectLst/>
                <a:uFillTx/>
                <a:latin typeface="Calibri"/>
              </a:rPr>
              <a:t>1. Отримав скрипт → запустив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  <a:spcAft>
                <a:spcPts val="400"/>
              </a:spcAft>
            </a:pPr>
            <a:r>
              <a:rPr lang="en-US" sz="1300" b="0" u="none" strike="noStrike">
                <a:solidFill>
                  <a:srgbClr val="c05050"/>
                </a:solidFill>
                <a:effectLst/>
                <a:uFillTx/>
                <a:latin typeface="Calibri"/>
              </a:rPr>
              <a:t>2. Помилка: KeyError: 'channel_name'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  <a:spcAft>
                <a:spcPts val="400"/>
              </a:spcAft>
            </a:pPr>
            <a:r>
              <a:rPr lang="en-US" sz="1300" b="0" u="none" strike="noStrike">
                <a:solidFill>
                  <a:srgbClr val="e8e8e8"/>
                </a:solidFill>
                <a:effectLst/>
                <a:uFillTx/>
                <a:latin typeface="Calibri"/>
              </a:rPr>
              <a:t>3. → Claude: «Скрипт падає з KeyError.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  <a:spcAft>
                <a:spcPts val="400"/>
              </a:spcAft>
            </a:pPr>
            <a:r>
              <a:rPr lang="en-US" sz="1300" b="1" u="none" strike="noStrike">
                <a:solidFill>
                  <a:srgbClr val="787880"/>
                </a:solidFill>
                <a:effectLst/>
                <a:uFillTx/>
                <a:latin typeface="Calibri"/>
              </a:rPr>
              <a:t>   Ось перші 3 рядки CSV: [вставити]. Виправ.»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  <a:spcAft>
                <a:spcPts val="400"/>
              </a:spcAft>
            </a:pPr>
            <a:r>
              <a:rPr lang="en-US" sz="1300" b="0" u="none" strike="noStrike">
                <a:solidFill>
                  <a:srgbClr val="5ab878"/>
                </a:solidFill>
                <a:effectLst/>
                <a:uFillTx/>
                <a:latin typeface="Calibri"/>
              </a:rPr>
              <a:t>4. Виправлений скрипт ✓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  <a:spcAft>
                <a:spcPts val="400"/>
              </a:spcAft>
            </a:pPr>
            <a:r>
              <a:rPr lang="en-US" sz="1300" b="1" u="none" strike="noStrike">
                <a:solidFill>
                  <a:srgbClr val="c98540"/>
                </a:solidFill>
                <a:effectLst/>
                <a:uFillTx/>
                <a:latin typeface="Calibri"/>
              </a:rPr>
              <a:t>⌀ 2–4 ітерації до робочого скрипту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0d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TextBox 1"/>
          <p:cNvSpPr/>
          <p:nvPr/>
        </p:nvSpPr>
        <p:spPr>
          <a:xfrm>
            <a:off x="365760" y="73080"/>
            <a:ext cx="10972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4a9ec7"/>
                </a:solidFill>
                <a:effectLst/>
                <a:uFillTx/>
                <a:latin typeface="Calibri"/>
              </a:rPr>
              <a:t>ЧАСТИНА ІVБ — ГЕОПРОСТОРОВІ ВІЗУАЛІЗАЦІЇ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8" name="TextBox 2"/>
          <p:cNvSpPr/>
          <p:nvPr/>
        </p:nvSpPr>
        <p:spPr>
          <a:xfrm>
            <a:off x="365760" y="320040"/>
            <a:ext cx="109724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400" b="1" u="none" strike="noStrike">
                <a:solidFill>
                  <a:srgbClr val="e8e8e8"/>
                </a:solidFill>
                <a:effectLst/>
                <a:uFillTx/>
                <a:latin typeface="Calibri"/>
              </a:rPr>
              <a:t>Карта в OSINT-звіті: коли і як</a:t>
            </a:r>
            <a:endParaRPr lang="en-US" sz="3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9" name="Rectangle 3"/>
          <p:cNvSpPr/>
          <p:nvPr/>
        </p:nvSpPr>
        <p:spPr>
          <a:xfrm>
            <a:off x="365760" y="804600"/>
            <a:ext cx="11457000" cy="27000"/>
          </a:xfrm>
          <a:prstGeom prst="rect">
            <a:avLst/>
          </a:prstGeom>
          <a:solidFill>
            <a:srgbClr val="4a9ec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17640" bIns="-1764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60" name="Rectangle 4"/>
          <p:cNvSpPr/>
          <p:nvPr/>
        </p:nvSpPr>
        <p:spPr>
          <a:xfrm>
            <a:off x="365760" y="960120"/>
            <a:ext cx="5394600" cy="2377080"/>
          </a:xfrm>
          <a:prstGeom prst="rect">
            <a:avLst/>
          </a:prstGeom>
          <a:solidFill>
            <a:srgbClr val="1c1c22"/>
          </a:solidFill>
          <a:ln w="10160">
            <a:solidFill>
              <a:srgbClr val="5ab87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61" name="TextBox 5"/>
          <p:cNvSpPr/>
          <p:nvPr/>
        </p:nvSpPr>
        <p:spPr>
          <a:xfrm>
            <a:off x="502920" y="1024200"/>
            <a:ext cx="51202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5ab878"/>
                </a:solidFill>
                <a:effectLst/>
                <a:uFillTx/>
                <a:latin typeface="Calibri"/>
              </a:rPr>
              <a:t>Карта додає цінності: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2" name="TextBox 6"/>
          <p:cNvSpPr/>
          <p:nvPr/>
        </p:nvSpPr>
        <p:spPr>
          <a:xfrm>
            <a:off x="502920" y="1463040"/>
            <a:ext cx="516600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Bef>
                <a:spcPts val="201"/>
              </a:spcBef>
              <a:spcAft>
                <a:spcPts val="400"/>
              </a:spcAft>
            </a:pPr>
            <a:r>
              <a:rPr lang="en-US" sz="1300" b="0" u="none" strike="noStrike">
                <a:solidFill>
                  <a:srgbClr val="e8e8e8"/>
                </a:solidFill>
                <a:effectLst/>
                <a:uFillTx/>
                <a:latin typeface="Calibri"/>
              </a:rPr>
              <a:t>Подія прив'язана до конкретної локації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  <a:spcAft>
                <a:spcPts val="400"/>
              </a:spcAft>
            </a:pPr>
            <a:r>
              <a:rPr lang="en-US" sz="1300" b="0" u="none" strike="noStrike">
                <a:solidFill>
                  <a:srgbClr val="e8e8e8"/>
                </a:solidFill>
                <a:effectLst/>
                <a:uFillTx/>
                <a:latin typeface="Calibri"/>
              </a:rPr>
              <a:t>Показати просторовий патерн / кластер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  <a:spcAft>
                <a:spcPts val="400"/>
              </a:spcAft>
            </a:pPr>
            <a:r>
              <a:rPr lang="en-US" sz="1300" b="0" u="none" strike="noStrike">
                <a:solidFill>
                  <a:srgbClr val="e8e8e8"/>
                </a:solidFill>
                <a:effectLst/>
                <a:uFillTx/>
                <a:latin typeface="Calibri"/>
              </a:rPr>
              <a:t>Верифікація: «де заявлено» vs «де насправді»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  <a:spcAft>
                <a:spcPts val="400"/>
              </a:spcAft>
            </a:pPr>
            <a:r>
              <a:rPr lang="en-US" sz="1300" b="0" u="none" strike="noStrike">
                <a:solidFill>
                  <a:srgbClr val="e8e8e8"/>
                </a:solidFill>
                <a:effectLst/>
                <a:uFillTx/>
                <a:latin typeface="Calibri"/>
              </a:rPr>
              <a:t>Маршрут або переміщення є частиною знахідки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3" name="Rectangle 7"/>
          <p:cNvSpPr/>
          <p:nvPr/>
        </p:nvSpPr>
        <p:spPr>
          <a:xfrm>
            <a:off x="365760" y="3456360"/>
            <a:ext cx="5394600" cy="1828440"/>
          </a:xfrm>
          <a:prstGeom prst="rect">
            <a:avLst/>
          </a:prstGeom>
          <a:solidFill>
            <a:srgbClr val="1c1c22"/>
          </a:solidFill>
          <a:ln w="10160">
            <a:solidFill>
              <a:srgbClr val="c0505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64" name="TextBox 8"/>
          <p:cNvSpPr/>
          <p:nvPr/>
        </p:nvSpPr>
        <p:spPr>
          <a:xfrm>
            <a:off x="502920" y="3520440"/>
            <a:ext cx="51202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c05050"/>
                </a:solidFill>
                <a:effectLst/>
                <a:uFillTx/>
                <a:latin typeface="Calibri"/>
              </a:rPr>
              <a:t>Карта зайва: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5" name="TextBox 9"/>
          <p:cNvSpPr/>
          <p:nvPr/>
        </p:nvSpPr>
        <p:spPr>
          <a:xfrm>
            <a:off x="502920" y="3931920"/>
            <a:ext cx="5166000" cy="12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Bef>
                <a:spcPts val="201"/>
              </a:spcBef>
              <a:spcAft>
                <a:spcPts val="400"/>
              </a:spcAft>
            </a:pPr>
            <a:r>
              <a:rPr lang="en-US" sz="1300" b="0" u="none" strike="noStrike">
                <a:solidFill>
                  <a:srgbClr val="787880"/>
                </a:solidFill>
                <a:effectLst/>
                <a:uFillTx/>
                <a:latin typeface="Calibri"/>
              </a:rPr>
              <a:t>Немає реального просторового змісту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  <a:spcAft>
                <a:spcPts val="400"/>
              </a:spcAft>
            </a:pPr>
            <a:r>
              <a:rPr lang="en-US" sz="1300" b="0" u="none" strike="noStrike">
                <a:solidFill>
                  <a:srgbClr val="787880"/>
                </a:solidFill>
                <a:effectLst/>
                <a:uFillTx/>
                <a:latin typeface="Calibri"/>
              </a:rPr>
              <a:t>Точність геолокації &lt;30 км — крапка вводить в оману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  <a:spcAft>
                <a:spcPts val="400"/>
              </a:spcAft>
            </a:pPr>
            <a:r>
              <a:rPr lang="en-US" sz="1300" b="0" u="none" strike="noStrike">
                <a:solidFill>
                  <a:srgbClr val="787880"/>
                </a:solidFill>
                <a:effectLst/>
                <a:uFillTx/>
                <a:latin typeface="Calibri"/>
              </a:rPr>
              <a:t>Дублює таблицю без додаткового сенсу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6" name="Rectangle 10"/>
          <p:cNvSpPr/>
          <p:nvPr/>
        </p:nvSpPr>
        <p:spPr>
          <a:xfrm>
            <a:off x="5989320" y="960120"/>
            <a:ext cx="6217560" cy="4324680"/>
          </a:xfrm>
          <a:prstGeom prst="rect">
            <a:avLst/>
          </a:prstGeom>
          <a:solidFill>
            <a:srgbClr val="1c1c22"/>
          </a:solidFill>
          <a:ln w="10160">
            <a:solidFill>
              <a:srgbClr val="4a9ec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67" name="TextBox 11"/>
          <p:cNvSpPr/>
          <p:nvPr/>
        </p:nvSpPr>
        <p:spPr>
          <a:xfrm>
            <a:off x="6126480" y="1024200"/>
            <a:ext cx="59432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4a9ec7"/>
                </a:solidFill>
                <a:effectLst/>
                <a:uFillTx/>
                <a:latin typeface="Calibri"/>
              </a:rPr>
              <a:t>Стандарти публікаційної карти: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8" name="Rectangle 12"/>
          <p:cNvSpPr/>
          <p:nvPr/>
        </p:nvSpPr>
        <p:spPr>
          <a:xfrm>
            <a:off x="6126480" y="1481400"/>
            <a:ext cx="5897520" cy="685440"/>
          </a:xfrm>
          <a:prstGeom prst="rect">
            <a:avLst/>
          </a:prstGeom>
          <a:solidFill>
            <a:srgbClr val="14141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69" name="TextBox 13"/>
          <p:cNvSpPr/>
          <p:nvPr/>
        </p:nvSpPr>
        <p:spPr>
          <a:xfrm>
            <a:off x="6236280" y="1527120"/>
            <a:ext cx="56689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4a9ec7"/>
                </a:solidFill>
                <a:effectLst/>
                <a:uFillTx/>
                <a:latin typeface="Calibri"/>
              </a:rPr>
              <a:t>Масштабна лінійка + Північ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0" name="TextBox 14"/>
          <p:cNvSpPr/>
          <p:nvPr/>
        </p:nvSpPr>
        <p:spPr>
          <a:xfrm>
            <a:off x="6236280" y="1828800"/>
            <a:ext cx="5668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787880"/>
                </a:solidFill>
                <a:effectLst/>
                <a:uFillTx/>
                <a:latin typeface="Calibri"/>
              </a:rPr>
              <a:t>читач розуміє відстані та орієнтацію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1" name="Rectangle 15"/>
          <p:cNvSpPr/>
          <p:nvPr/>
        </p:nvSpPr>
        <p:spPr>
          <a:xfrm>
            <a:off x="6126480" y="2249280"/>
            <a:ext cx="5897520" cy="685440"/>
          </a:xfrm>
          <a:prstGeom prst="rect">
            <a:avLst/>
          </a:prstGeom>
          <a:solidFill>
            <a:srgbClr val="14141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72" name="TextBox 16"/>
          <p:cNvSpPr/>
          <p:nvPr/>
        </p:nvSpPr>
        <p:spPr>
          <a:xfrm>
            <a:off x="6236280" y="2295000"/>
            <a:ext cx="56689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4a9ec7"/>
                </a:solidFill>
                <a:effectLst/>
                <a:uFillTx/>
                <a:latin typeface="Calibri"/>
              </a:rPr>
              <a:t>Легенда для кожного шару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3" name="TextBox 17"/>
          <p:cNvSpPr/>
          <p:nvPr/>
        </p:nvSpPr>
        <p:spPr>
          <a:xfrm>
            <a:off x="6236280" y="2597040"/>
            <a:ext cx="5668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787880"/>
                </a:solidFill>
                <a:effectLst/>
                <a:uFillTx/>
                <a:latin typeface="Calibri"/>
              </a:rPr>
              <a:t>символ без пояснення — не доказ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4" name="Rectangle 18"/>
          <p:cNvSpPr/>
          <p:nvPr/>
        </p:nvSpPr>
        <p:spPr>
          <a:xfrm>
            <a:off x="6126480" y="3017520"/>
            <a:ext cx="5897520" cy="685440"/>
          </a:xfrm>
          <a:prstGeom prst="rect">
            <a:avLst/>
          </a:prstGeom>
          <a:solidFill>
            <a:srgbClr val="14141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75" name="TextBox 19"/>
          <p:cNvSpPr/>
          <p:nvPr/>
        </p:nvSpPr>
        <p:spPr>
          <a:xfrm>
            <a:off x="6236280" y="3063240"/>
            <a:ext cx="56689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4a9ec7"/>
                </a:solidFill>
                <a:effectLst/>
                <a:uFillTx/>
                <a:latin typeface="Calibri"/>
              </a:rPr>
              <a:t>Джерело підложки + дата знімку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6" name="TextBox 20"/>
          <p:cNvSpPr/>
          <p:nvPr/>
        </p:nvSpPr>
        <p:spPr>
          <a:xfrm>
            <a:off x="6236280" y="3364920"/>
            <a:ext cx="5668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787880"/>
                </a:solidFill>
                <a:effectLst/>
                <a:uFillTx/>
                <a:latin typeface="Calibri"/>
              </a:rPr>
              <a:t>знімки змінюються і видаляються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7" name="Rectangle 21"/>
          <p:cNvSpPr/>
          <p:nvPr/>
        </p:nvSpPr>
        <p:spPr>
          <a:xfrm>
            <a:off x="6126480" y="3785760"/>
            <a:ext cx="5897520" cy="685440"/>
          </a:xfrm>
          <a:prstGeom prst="rect">
            <a:avLst/>
          </a:prstGeom>
          <a:solidFill>
            <a:srgbClr val="14141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78" name="TextBox 22"/>
          <p:cNvSpPr/>
          <p:nvPr/>
        </p:nvSpPr>
        <p:spPr>
          <a:xfrm>
            <a:off x="6236280" y="3831480"/>
            <a:ext cx="56689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4a9ec7"/>
                </a:solidFill>
                <a:effectLst/>
                <a:uFillTx/>
                <a:latin typeface="Calibri"/>
              </a:rPr>
              <a:t>Координатна сітка або bbox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9" name="TextBox 23"/>
          <p:cNvSpPr/>
          <p:nvPr/>
        </p:nvSpPr>
        <p:spPr>
          <a:xfrm>
            <a:off x="6236280" y="4133160"/>
            <a:ext cx="5668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787880"/>
                </a:solidFill>
                <a:effectLst/>
                <a:uFillTx/>
                <a:latin typeface="Calibri"/>
              </a:rPr>
              <a:t>незалежна перевірка локації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0" name="Rectangle 24"/>
          <p:cNvSpPr/>
          <p:nvPr/>
        </p:nvSpPr>
        <p:spPr>
          <a:xfrm>
            <a:off x="6126480" y="4553640"/>
            <a:ext cx="5897520" cy="685440"/>
          </a:xfrm>
          <a:prstGeom prst="rect">
            <a:avLst/>
          </a:prstGeom>
          <a:solidFill>
            <a:srgbClr val="14141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81" name="TextBox 25"/>
          <p:cNvSpPr/>
          <p:nvPr/>
        </p:nvSpPr>
        <p:spPr>
          <a:xfrm>
            <a:off x="6236280" y="4599360"/>
            <a:ext cx="56689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4a9ec7"/>
                </a:solidFill>
                <a:effectLst/>
                <a:uFillTx/>
                <a:latin typeface="Calibri"/>
              </a:rPr>
              <a:t>CRS / проєкція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2" name="TextBox 26"/>
          <p:cNvSpPr/>
          <p:nvPr/>
        </p:nvSpPr>
        <p:spPr>
          <a:xfrm>
            <a:off x="6236280" y="4901040"/>
            <a:ext cx="5668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787880"/>
                </a:solidFill>
                <a:effectLst/>
                <a:uFillTx/>
                <a:latin typeface="Calibri"/>
              </a:rPr>
              <a:t>обов'язково при вимірах відстаней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3" name="Rectangle 27"/>
          <p:cNvSpPr/>
          <p:nvPr/>
        </p:nvSpPr>
        <p:spPr>
          <a:xfrm>
            <a:off x="365760" y="5376600"/>
            <a:ext cx="11429640" cy="1371240"/>
          </a:xfrm>
          <a:prstGeom prst="rect">
            <a:avLst/>
          </a:prstGeom>
          <a:solidFill>
            <a:srgbClr val="1c1c22"/>
          </a:solidFill>
          <a:ln w="10160">
            <a:solidFill>
              <a:srgbClr val="c9854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84" name="TextBox 28"/>
          <p:cNvSpPr/>
          <p:nvPr/>
        </p:nvSpPr>
        <p:spPr>
          <a:xfrm>
            <a:off x="502920" y="5431680"/>
            <a:ext cx="91436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c98540"/>
                </a:solidFill>
                <a:effectLst/>
                <a:uFillTx/>
                <a:latin typeface="Calibri"/>
              </a:rPr>
              <a:t>Промпт: описати просторову знахідку словами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5" name="TextBox 29"/>
          <p:cNvSpPr/>
          <p:nvPr/>
        </p:nvSpPr>
        <p:spPr>
          <a:xfrm>
            <a:off x="502920" y="5806440"/>
            <a:ext cx="1115532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i="1" u="none" strike="noStrike">
                <a:solidFill>
                  <a:srgbClr val="e8e8e8"/>
                </a:solidFill>
                <a:effectLst/>
                <a:uFillTx/>
                <a:latin typeface="Calibri"/>
              </a:rPr>
              <a:t>«Я маю координати 12 подій з атрибутами [тип, дата, джерело]. Опиши просторовий патерн для секції Findings: кластеризація, відстані, охоплений регіон. Лише факти — без оцінювальних суджень.»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0d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TextBox 1"/>
          <p:cNvSpPr/>
          <p:nvPr/>
        </p:nvSpPr>
        <p:spPr>
          <a:xfrm>
            <a:off x="365760" y="73080"/>
            <a:ext cx="10972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4a9ec7"/>
                </a:solidFill>
                <a:effectLst/>
                <a:uFillTx/>
                <a:latin typeface="Calibri"/>
              </a:rPr>
              <a:t>ЧАСТИНА ІVБ — ГЕОПРОСТОРОВІ ВІЗУАЛІЗАЦІЇ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7" name="TextBox 2"/>
          <p:cNvSpPr/>
          <p:nvPr/>
        </p:nvSpPr>
        <p:spPr>
          <a:xfrm>
            <a:off x="365760" y="320040"/>
            <a:ext cx="109724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200" b="1" u="none" strike="noStrike">
                <a:solidFill>
                  <a:srgbClr val="e8e8e8"/>
                </a:solidFill>
                <a:effectLst/>
                <a:uFillTx/>
                <a:latin typeface="Calibri"/>
              </a:rPr>
              <a:t>QGIS: від даних до звітної карти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8" name="Rectangle 3"/>
          <p:cNvSpPr/>
          <p:nvPr/>
        </p:nvSpPr>
        <p:spPr>
          <a:xfrm>
            <a:off x="365760" y="804600"/>
            <a:ext cx="11457000" cy="27000"/>
          </a:xfrm>
          <a:prstGeom prst="rect">
            <a:avLst/>
          </a:prstGeom>
          <a:solidFill>
            <a:srgbClr val="4a9ec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17640" bIns="-1764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89" name="Rectangle 4"/>
          <p:cNvSpPr/>
          <p:nvPr/>
        </p:nvSpPr>
        <p:spPr>
          <a:xfrm>
            <a:off x="320040" y="1005840"/>
            <a:ext cx="2011320" cy="868320"/>
          </a:xfrm>
          <a:prstGeom prst="rect">
            <a:avLst/>
          </a:prstGeom>
          <a:solidFill>
            <a:srgbClr val="1c1c22"/>
          </a:solidFill>
          <a:ln w="11430">
            <a:solidFill>
              <a:srgbClr val="78788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90" name="TextBox 5"/>
          <p:cNvSpPr/>
          <p:nvPr/>
        </p:nvSpPr>
        <p:spPr>
          <a:xfrm>
            <a:off x="365760" y="1051560"/>
            <a:ext cx="191988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lang="en-US" sz="1200" b="1" u="none" strike="noStrike">
                <a:solidFill>
                  <a:srgbClr val="787880"/>
                </a:solidFill>
                <a:effectLst/>
                <a:uFillTx/>
                <a:latin typeface="Calibri"/>
              </a:rPr>
              <a:t>CSV / GeoJSON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787880"/>
                </a:solidFill>
                <a:effectLst/>
                <a:uFillTx/>
                <a:latin typeface="Calibri"/>
              </a:rPr>
              <a:t>(lat, lon + attr)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1" name="TextBox 6"/>
          <p:cNvSpPr/>
          <p:nvPr/>
        </p:nvSpPr>
        <p:spPr>
          <a:xfrm>
            <a:off x="2340720" y="1170360"/>
            <a:ext cx="2739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700" b="1" u="none" strike="noStrike">
                <a:solidFill>
                  <a:srgbClr val="787880"/>
                </a:solidFill>
                <a:effectLst/>
                <a:uFillTx/>
                <a:latin typeface="Calibri"/>
              </a:rPr>
              <a:t>→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2" name="Rectangle 7"/>
          <p:cNvSpPr/>
          <p:nvPr/>
        </p:nvSpPr>
        <p:spPr>
          <a:xfrm>
            <a:off x="2496240" y="1005840"/>
            <a:ext cx="2011320" cy="868320"/>
          </a:xfrm>
          <a:prstGeom prst="rect">
            <a:avLst/>
          </a:prstGeom>
          <a:solidFill>
            <a:srgbClr val="1c1c22"/>
          </a:solidFill>
          <a:ln w="11430">
            <a:solidFill>
              <a:srgbClr val="4a9ec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93" name="TextBox 8"/>
          <p:cNvSpPr/>
          <p:nvPr/>
        </p:nvSpPr>
        <p:spPr>
          <a:xfrm>
            <a:off x="2541960" y="1051560"/>
            <a:ext cx="191988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lang="en-US" sz="1200" b="1" u="none" strike="noStrike">
                <a:solidFill>
                  <a:srgbClr val="4a9ec7"/>
                </a:solidFill>
                <a:effectLst/>
                <a:uFillTx/>
                <a:latin typeface="Calibri"/>
              </a:rPr>
              <a:t>Add Layer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4a9ec7"/>
                </a:solidFill>
                <a:effectLst/>
                <a:uFillTx/>
                <a:latin typeface="Calibri"/>
              </a:rPr>
              <a:t>→ QGIS canvas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4" name="TextBox 9"/>
          <p:cNvSpPr/>
          <p:nvPr/>
        </p:nvSpPr>
        <p:spPr>
          <a:xfrm>
            <a:off x="4517280" y="1170360"/>
            <a:ext cx="2739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700" b="1" u="none" strike="noStrike">
                <a:solidFill>
                  <a:srgbClr val="787880"/>
                </a:solidFill>
                <a:effectLst/>
                <a:uFillTx/>
                <a:latin typeface="Calibri"/>
              </a:rPr>
              <a:t>→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5" name="Rectangle 10"/>
          <p:cNvSpPr/>
          <p:nvPr/>
        </p:nvSpPr>
        <p:spPr>
          <a:xfrm>
            <a:off x="4672440" y="1005840"/>
            <a:ext cx="2011320" cy="868320"/>
          </a:xfrm>
          <a:prstGeom prst="rect">
            <a:avLst/>
          </a:prstGeom>
          <a:solidFill>
            <a:srgbClr val="1c1c22"/>
          </a:solidFill>
          <a:ln w="11430">
            <a:solidFill>
              <a:srgbClr val="4a9ec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96" name="TextBox 11"/>
          <p:cNvSpPr/>
          <p:nvPr/>
        </p:nvSpPr>
        <p:spPr>
          <a:xfrm>
            <a:off x="4718160" y="1051560"/>
            <a:ext cx="191988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lang="en-US" sz="1200" b="1" u="none" strike="noStrike">
                <a:solidFill>
                  <a:srgbClr val="4a9ec7"/>
                </a:solidFill>
                <a:effectLst/>
                <a:uFillTx/>
                <a:latin typeface="Calibri"/>
              </a:rPr>
              <a:t>QuickMapServices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4a9ec7"/>
                </a:solidFill>
                <a:effectLst/>
                <a:uFillTx/>
                <a:latin typeface="Calibri"/>
              </a:rPr>
              <a:t>Супутник підложка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7" name="TextBox 12"/>
          <p:cNvSpPr/>
          <p:nvPr/>
        </p:nvSpPr>
        <p:spPr>
          <a:xfrm>
            <a:off x="6693480" y="1170360"/>
            <a:ext cx="2739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700" b="1" u="none" strike="noStrike">
                <a:solidFill>
                  <a:srgbClr val="787880"/>
                </a:solidFill>
                <a:effectLst/>
                <a:uFillTx/>
                <a:latin typeface="Calibri"/>
              </a:rPr>
              <a:t>→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8" name="Rectangle 13"/>
          <p:cNvSpPr/>
          <p:nvPr/>
        </p:nvSpPr>
        <p:spPr>
          <a:xfrm>
            <a:off x="6849000" y="1005840"/>
            <a:ext cx="2011320" cy="868320"/>
          </a:xfrm>
          <a:prstGeom prst="rect">
            <a:avLst/>
          </a:prstGeom>
          <a:solidFill>
            <a:srgbClr val="1c1c22"/>
          </a:solidFill>
          <a:ln w="11430">
            <a:solidFill>
              <a:srgbClr val="c9854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99" name="TextBox 14"/>
          <p:cNvSpPr/>
          <p:nvPr/>
        </p:nvSpPr>
        <p:spPr>
          <a:xfrm>
            <a:off x="6894720" y="1051560"/>
            <a:ext cx="191988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lang="en-US" sz="1200" b="1" u="none" strike="noStrike">
                <a:solidFill>
                  <a:srgbClr val="c98540"/>
                </a:solidFill>
                <a:effectLst/>
                <a:uFillTx/>
                <a:latin typeface="Calibri"/>
              </a:rPr>
              <a:t>Heatmap /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c98540"/>
                </a:solidFill>
                <a:effectLst/>
                <a:uFillTx/>
                <a:latin typeface="Calibri"/>
              </a:rPr>
              <a:t>Buffer / Join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0" name="TextBox 15"/>
          <p:cNvSpPr/>
          <p:nvPr/>
        </p:nvSpPr>
        <p:spPr>
          <a:xfrm>
            <a:off x="8869680" y="1170360"/>
            <a:ext cx="2739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700" b="1" u="none" strike="noStrike">
                <a:solidFill>
                  <a:srgbClr val="787880"/>
                </a:solidFill>
                <a:effectLst/>
                <a:uFillTx/>
                <a:latin typeface="Calibri"/>
              </a:rPr>
              <a:t>→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1" name="Rectangle 16"/>
          <p:cNvSpPr/>
          <p:nvPr/>
        </p:nvSpPr>
        <p:spPr>
          <a:xfrm>
            <a:off x="9025200" y="1005840"/>
            <a:ext cx="2011320" cy="868320"/>
          </a:xfrm>
          <a:prstGeom prst="rect">
            <a:avLst/>
          </a:prstGeom>
          <a:solidFill>
            <a:srgbClr val="1c1c22"/>
          </a:solidFill>
          <a:ln w="11430">
            <a:solidFill>
              <a:srgbClr val="5ab87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02" name="TextBox 17"/>
          <p:cNvSpPr/>
          <p:nvPr/>
        </p:nvSpPr>
        <p:spPr>
          <a:xfrm>
            <a:off x="9070920" y="1051560"/>
            <a:ext cx="191988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lang="en-US" sz="1200" b="1" u="none" strike="noStrike">
                <a:solidFill>
                  <a:srgbClr val="5ab878"/>
                </a:solidFill>
                <a:effectLst/>
                <a:uFillTx/>
                <a:latin typeface="Calibri"/>
              </a:rPr>
              <a:t>Print Layout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5ab878"/>
                </a:solidFill>
                <a:effectLst/>
                <a:uFillTx/>
                <a:latin typeface="Calibri"/>
              </a:rPr>
              <a:t>Експорт PNG 300 dpi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3" name="Rectangle 18"/>
          <p:cNvSpPr/>
          <p:nvPr/>
        </p:nvSpPr>
        <p:spPr>
          <a:xfrm>
            <a:off x="365760" y="2057400"/>
            <a:ext cx="5394600" cy="3657240"/>
          </a:xfrm>
          <a:prstGeom prst="rect">
            <a:avLst/>
          </a:prstGeom>
          <a:solidFill>
            <a:srgbClr val="1c1c22"/>
          </a:solidFill>
          <a:ln w="10160">
            <a:solidFill>
              <a:srgbClr val="4a9ec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04" name="TextBox 19"/>
          <p:cNvSpPr/>
          <p:nvPr/>
        </p:nvSpPr>
        <p:spPr>
          <a:xfrm>
            <a:off x="502920" y="2121480"/>
            <a:ext cx="51202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4a9ec7"/>
                </a:solidFill>
                <a:effectLst/>
                <a:uFillTx/>
                <a:latin typeface="Calibri"/>
              </a:rPr>
              <a:t>Print Layout — обов'язкові елементи: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5" name="TextBox 20"/>
          <p:cNvSpPr/>
          <p:nvPr/>
        </p:nvSpPr>
        <p:spPr>
          <a:xfrm>
            <a:off x="502920" y="2560320"/>
            <a:ext cx="292572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4a9ec7"/>
                </a:solidFill>
                <a:effectLst/>
                <a:uFillTx/>
                <a:latin typeface="Calibri"/>
              </a:rPr>
              <a:t>Add Item → Map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6" name="TextBox 21"/>
          <p:cNvSpPr/>
          <p:nvPr/>
        </p:nvSpPr>
        <p:spPr>
          <a:xfrm>
            <a:off x="3520440" y="2560320"/>
            <a:ext cx="214848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787880"/>
                </a:solidFill>
                <a:effectLst/>
                <a:uFillTx/>
                <a:latin typeface="Calibri"/>
              </a:rPr>
              <a:t>вставити вид карти в макет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7" name="TextBox 22"/>
          <p:cNvSpPr/>
          <p:nvPr/>
        </p:nvSpPr>
        <p:spPr>
          <a:xfrm>
            <a:off x="502920" y="3072240"/>
            <a:ext cx="292572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4a9ec7"/>
                </a:solidFill>
                <a:effectLst/>
                <a:uFillTx/>
                <a:latin typeface="Calibri"/>
              </a:rPr>
              <a:t>Add Item → Scale Bar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8" name="TextBox 23"/>
          <p:cNvSpPr/>
          <p:nvPr/>
        </p:nvSpPr>
        <p:spPr>
          <a:xfrm>
            <a:off x="3520440" y="3072240"/>
            <a:ext cx="214848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787880"/>
                </a:solidFill>
                <a:effectLst/>
                <a:uFillTx/>
                <a:latin typeface="Calibri"/>
              </a:rPr>
              <a:t>масштабна лінійка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9" name="TextBox 24"/>
          <p:cNvSpPr/>
          <p:nvPr/>
        </p:nvSpPr>
        <p:spPr>
          <a:xfrm>
            <a:off x="502920" y="3584520"/>
            <a:ext cx="292572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4a9ec7"/>
                </a:solidFill>
                <a:effectLst/>
                <a:uFillTx/>
                <a:latin typeface="Calibri"/>
              </a:rPr>
              <a:t>Add Item → North Arrow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0" name="TextBox 25"/>
          <p:cNvSpPr/>
          <p:nvPr/>
        </p:nvSpPr>
        <p:spPr>
          <a:xfrm>
            <a:off x="3520440" y="3584520"/>
            <a:ext cx="214848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787880"/>
                </a:solidFill>
                <a:effectLst/>
                <a:uFillTx/>
                <a:latin typeface="Calibri"/>
              </a:rPr>
              <a:t>Північ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1" name="TextBox 26"/>
          <p:cNvSpPr/>
          <p:nvPr/>
        </p:nvSpPr>
        <p:spPr>
          <a:xfrm>
            <a:off x="502920" y="4096440"/>
            <a:ext cx="292572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4a9ec7"/>
                </a:solidFill>
                <a:effectLst/>
                <a:uFillTx/>
                <a:latin typeface="Calibri"/>
              </a:rPr>
              <a:t>Add Item → Legend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2" name="TextBox 27"/>
          <p:cNvSpPr/>
          <p:nvPr/>
        </p:nvSpPr>
        <p:spPr>
          <a:xfrm>
            <a:off x="3520440" y="4096440"/>
            <a:ext cx="214848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787880"/>
                </a:solidFill>
                <a:effectLst/>
                <a:uFillTx/>
                <a:latin typeface="Calibri"/>
              </a:rPr>
              <a:t>авто-легенда зі стилів шарів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3" name="TextBox 28"/>
          <p:cNvSpPr/>
          <p:nvPr/>
        </p:nvSpPr>
        <p:spPr>
          <a:xfrm>
            <a:off x="502920" y="4608720"/>
            <a:ext cx="292572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4a9ec7"/>
                </a:solidFill>
                <a:effectLst/>
                <a:uFillTx/>
                <a:latin typeface="Calibri"/>
              </a:rPr>
              <a:t>Add Item → Label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4" name="TextBox 29"/>
          <p:cNvSpPr/>
          <p:nvPr/>
        </p:nvSpPr>
        <p:spPr>
          <a:xfrm>
            <a:off x="3520440" y="4608720"/>
            <a:ext cx="214848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787880"/>
                </a:solidFill>
                <a:effectLst/>
                <a:uFillTx/>
                <a:latin typeface="Calibri"/>
              </a:rPr>
              <a:t>джерело, CRS, дата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5" name="TextBox 30"/>
          <p:cNvSpPr/>
          <p:nvPr/>
        </p:nvSpPr>
        <p:spPr>
          <a:xfrm>
            <a:off x="502920" y="5120640"/>
            <a:ext cx="292572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4a9ec7"/>
                </a:solidFill>
                <a:effectLst/>
                <a:uFillTx/>
                <a:latin typeface="Calibri"/>
              </a:rPr>
              <a:t>Export as Image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6" name="TextBox 31"/>
          <p:cNvSpPr/>
          <p:nvPr/>
        </p:nvSpPr>
        <p:spPr>
          <a:xfrm>
            <a:off x="3520440" y="5120640"/>
            <a:ext cx="214848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787880"/>
                </a:solidFill>
                <a:effectLst/>
                <a:uFillTx/>
                <a:latin typeface="Calibri"/>
              </a:rPr>
              <a:t>PNG 300 dpi → у Markdown / Word / PDF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7" name="Rectangle 32"/>
          <p:cNvSpPr/>
          <p:nvPr/>
        </p:nvSpPr>
        <p:spPr>
          <a:xfrm>
            <a:off x="5989320" y="2057400"/>
            <a:ext cx="6217560" cy="3657240"/>
          </a:xfrm>
          <a:prstGeom prst="rect">
            <a:avLst/>
          </a:prstGeom>
          <a:solidFill>
            <a:srgbClr val="1c1c22"/>
          </a:solidFill>
          <a:ln w="10160">
            <a:solidFill>
              <a:srgbClr val="5ab87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18" name="TextBox 33"/>
          <p:cNvSpPr/>
          <p:nvPr/>
        </p:nvSpPr>
        <p:spPr>
          <a:xfrm>
            <a:off x="6126480" y="2121480"/>
            <a:ext cx="59432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5ab878"/>
                </a:solidFill>
                <a:effectLst/>
                <a:uFillTx/>
                <a:latin typeface="Calibri"/>
              </a:rPr>
              <a:t>Підготовка CSV у Python перед QGIS: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9" name="TextBox 34"/>
          <p:cNvSpPr/>
          <p:nvPr/>
        </p:nvSpPr>
        <p:spPr>
          <a:xfrm>
            <a:off x="6126480" y="2578680"/>
            <a:ext cx="5943240" cy="306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lang="en-US" sz="1100" b="0" u="none" strike="noStrike">
                <a:solidFill>
                  <a:srgbClr val="5ab878"/>
                </a:solidFill>
                <a:effectLst/>
                <a:uFillTx/>
                <a:latin typeface="Calibri"/>
              </a:rPr>
              <a:t>import pandas as pd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5ab878"/>
                </a:solidFill>
                <a:effectLst/>
                <a:uFillTx/>
                <a:latin typeface="Calibri"/>
              </a:rPr>
              <a:t>df_map = df[[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5ab878"/>
                </a:solidFill>
                <a:effectLst/>
                <a:uFillTx/>
                <a:latin typeface="Calibri"/>
              </a:rPr>
              <a:t>    "lat", "lon",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5ab878"/>
                </a:solidFill>
                <a:effectLst/>
                <a:uFillTx/>
                <a:latin typeface="Calibri"/>
              </a:rPr>
              <a:t>    "event_type", "date", "source"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5ab878"/>
                </a:solidFill>
                <a:effectLst/>
                <a:uFillTx/>
                <a:latin typeface="Calibri"/>
              </a:rPr>
              <a:t>]].dropna(subset=["lat", "lon"])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5ab878"/>
                </a:solidFill>
                <a:effectLst/>
                <a:uFillTx/>
                <a:latin typeface="Calibri"/>
              </a:rPr>
              <a:t>df_map.to_csv(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5ab878"/>
                </a:solidFill>
                <a:effectLst/>
                <a:uFillTx/>
                <a:latin typeface="Calibri"/>
              </a:rPr>
              <a:t>    "events_for_map.csv",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5ab878"/>
                </a:solidFill>
                <a:effectLst/>
                <a:uFillTx/>
                <a:latin typeface="Calibri"/>
              </a:rPr>
              <a:t>    index=False,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5ab878"/>
                </a:solidFill>
                <a:effectLst/>
                <a:uFillTx/>
                <a:latin typeface="Calibri"/>
              </a:rPr>
              <a:t>    encoding="utf-8"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5ab878"/>
                </a:solidFill>
                <a:effectLst/>
                <a:uFillTx/>
                <a:latin typeface="Calibri"/>
              </a:rPr>
              <a:t>)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5ab878"/>
                </a:solidFill>
                <a:effectLst/>
                <a:uFillTx/>
                <a:latin typeface="Calibri"/>
              </a:rPr>
              <a:t># Обов'язково: lat/lon у десятковому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5ab878"/>
                </a:solidFill>
                <a:effectLst/>
                <a:uFillTx/>
                <a:latin typeface="Calibri"/>
              </a:rPr>
              <a:t># форматі (50.4501, а не 50°27'N)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0" name="Rectangle 35"/>
          <p:cNvSpPr/>
          <p:nvPr/>
        </p:nvSpPr>
        <p:spPr>
          <a:xfrm>
            <a:off x="365760" y="5806440"/>
            <a:ext cx="11429640" cy="502560"/>
          </a:xfrm>
          <a:prstGeom prst="rect">
            <a:avLst/>
          </a:prstGeom>
          <a:solidFill>
            <a:srgbClr val="1a1a2e"/>
          </a:solidFill>
          <a:ln w="15240">
            <a:solidFill>
              <a:srgbClr val="4a9ec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21" name="TextBox 36"/>
          <p:cNvSpPr/>
          <p:nvPr/>
        </p:nvSpPr>
        <p:spPr>
          <a:xfrm>
            <a:off x="457200" y="5829480"/>
            <a:ext cx="112467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4a9ec7"/>
                </a:solidFill>
                <a:effectLst/>
                <a:uFillTx/>
                <a:latin typeface="Calibri"/>
              </a:rPr>
              <a:t>[ SCREENSHOT: QGIS: вікно Print Layout з легендою і масштабною лінійкою ]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0d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TextBox 1"/>
          <p:cNvSpPr/>
          <p:nvPr/>
        </p:nvSpPr>
        <p:spPr>
          <a:xfrm>
            <a:off x="365760" y="73080"/>
            <a:ext cx="10972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4a9ec7"/>
                </a:solidFill>
                <a:effectLst/>
                <a:uFillTx/>
                <a:latin typeface="Calibri"/>
              </a:rPr>
              <a:t>ЧАСТИНА ІVБ — ГЕОПРОСТОРОВІ ВІЗУАЛІЗАЦІЇ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3" name="TextBox 2"/>
          <p:cNvSpPr/>
          <p:nvPr/>
        </p:nvSpPr>
        <p:spPr>
          <a:xfrm>
            <a:off x="365760" y="320040"/>
            <a:ext cx="114296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e8e8e8"/>
                </a:solidFill>
                <a:effectLst/>
                <a:uFillTx/>
                <a:latin typeface="Calibri"/>
              </a:rPr>
              <a:t>Альтернативи QGIS: вибір інструменту під задачу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4" name="Rectangle 3"/>
          <p:cNvSpPr/>
          <p:nvPr/>
        </p:nvSpPr>
        <p:spPr>
          <a:xfrm>
            <a:off x="365760" y="804600"/>
            <a:ext cx="11457000" cy="27000"/>
          </a:xfrm>
          <a:prstGeom prst="rect">
            <a:avLst/>
          </a:prstGeom>
          <a:solidFill>
            <a:srgbClr val="4a9ec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17640" bIns="-1764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25" name="Rectangle 4"/>
          <p:cNvSpPr/>
          <p:nvPr/>
        </p:nvSpPr>
        <p:spPr>
          <a:xfrm>
            <a:off x="365760" y="960120"/>
            <a:ext cx="1645560" cy="411120"/>
          </a:xfrm>
          <a:prstGeom prst="rect">
            <a:avLst/>
          </a:prstGeom>
          <a:solidFill>
            <a:srgbClr val="4a9ec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26" name="TextBox 5"/>
          <p:cNvSpPr/>
          <p:nvPr/>
        </p:nvSpPr>
        <p:spPr>
          <a:xfrm>
            <a:off x="411480" y="1005840"/>
            <a:ext cx="1554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0d0d0f"/>
                </a:solidFill>
                <a:effectLst/>
                <a:uFillTx/>
                <a:latin typeface="Calibri"/>
              </a:rPr>
              <a:t>Інструмент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7" name="Rectangle 6"/>
          <p:cNvSpPr/>
          <p:nvPr/>
        </p:nvSpPr>
        <p:spPr>
          <a:xfrm>
            <a:off x="2057400" y="960120"/>
            <a:ext cx="3657240" cy="411120"/>
          </a:xfrm>
          <a:prstGeom prst="rect">
            <a:avLst/>
          </a:prstGeom>
          <a:solidFill>
            <a:srgbClr val="4a9ec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28" name="TextBox 7"/>
          <p:cNvSpPr/>
          <p:nvPr/>
        </p:nvSpPr>
        <p:spPr>
          <a:xfrm>
            <a:off x="2103120" y="1005840"/>
            <a:ext cx="35658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0d0d0f"/>
                </a:solidFill>
                <a:effectLst/>
                <a:uFillTx/>
                <a:latin typeface="Calibri"/>
              </a:rPr>
              <a:t>Сильна сторона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9" name="Rectangle 8"/>
          <p:cNvSpPr/>
          <p:nvPr/>
        </p:nvSpPr>
        <p:spPr>
          <a:xfrm>
            <a:off x="5760720" y="960120"/>
            <a:ext cx="3017160" cy="411120"/>
          </a:xfrm>
          <a:prstGeom prst="rect">
            <a:avLst/>
          </a:prstGeom>
          <a:solidFill>
            <a:srgbClr val="4a9ec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30" name="TextBox 9"/>
          <p:cNvSpPr/>
          <p:nvPr/>
        </p:nvSpPr>
        <p:spPr>
          <a:xfrm>
            <a:off x="5806440" y="1005840"/>
            <a:ext cx="29257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0d0d0f"/>
                </a:solidFill>
                <a:effectLst/>
                <a:uFillTx/>
                <a:latin typeface="Calibri"/>
              </a:rPr>
              <a:t>Обмеження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1" name="Rectangle 10"/>
          <p:cNvSpPr/>
          <p:nvPr/>
        </p:nvSpPr>
        <p:spPr>
          <a:xfrm>
            <a:off x="8823960" y="960120"/>
            <a:ext cx="3017160" cy="411120"/>
          </a:xfrm>
          <a:prstGeom prst="rect">
            <a:avLst/>
          </a:prstGeom>
          <a:solidFill>
            <a:srgbClr val="4a9ec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32" name="TextBox 11"/>
          <p:cNvSpPr/>
          <p:nvPr/>
        </p:nvSpPr>
        <p:spPr>
          <a:xfrm>
            <a:off x="8869680" y="1005840"/>
            <a:ext cx="29257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0d0d0f"/>
                </a:solidFill>
                <a:effectLst/>
                <a:uFillTx/>
                <a:latin typeface="Calibri"/>
              </a:rPr>
              <a:t>Коли обирати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3" name="Rectangle 12"/>
          <p:cNvSpPr/>
          <p:nvPr/>
        </p:nvSpPr>
        <p:spPr>
          <a:xfrm>
            <a:off x="365760" y="1417320"/>
            <a:ext cx="11795400" cy="621360"/>
          </a:xfrm>
          <a:prstGeom prst="rect">
            <a:avLst/>
          </a:prstGeom>
          <a:solidFill>
            <a:srgbClr val="1c1c2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34" name="TextBox 13"/>
          <p:cNvSpPr/>
          <p:nvPr/>
        </p:nvSpPr>
        <p:spPr>
          <a:xfrm>
            <a:off x="411480" y="1545480"/>
            <a:ext cx="15541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4a9ec7"/>
                </a:solidFill>
                <a:effectLst/>
                <a:uFillTx/>
                <a:latin typeface="Calibri"/>
              </a:rPr>
              <a:t>QGIS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5" name="TextBox 14"/>
          <p:cNvSpPr/>
          <p:nvPr/>
        </p:nvSpPr>
        <p:spPr>
          <a:xfrm>
            <a:off x="2103120" y="1508760"/>
            <a:ext cx="35658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e8e8e8"/>
                </a:solidFill>
                <a:effectLst/>
                <a:uFillTx/>
                <a:latin typeface="Calibri"/>
              </a:rPr>
              <a:t>Повний GIS-аналіз, OSM-запити, PDF-друк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6" name="TextBox 15"/>
          <p:cNvSpPr/>
          <p:nvPr/>
        </p:nvSpPr>
        <p:spPr>
          <a:xfrm>
            <a:off x="5806440" y="1508760"/>
            <a:ext cx="29257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787880"/>
                </a:solidFill>
                <a:effectLst/>
                <a:uFillTx/>
                <a:latin typeface="Calibri"/>
              </a:rPr>
              <a:t>Крива навчання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7" name="TextBox 16"/>
          <p:cNvSpPr/>
          <p:nvPr/>
        </p:nvSpPr>
        <p:spPr>
          <a:xfrm>
            <a:off x="8869680" y="1508760"/>
            <a:ext cx="29257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4a9ec7"/>
                </a:solidFill>
                <a:effectLst/>
                <a:uFillTx/>
                <a:latin typeface="Calibri"/>
              </a:rPr>
              <a:t>Аналіз, звіт для друку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8" name="Rectangle 17"/>
          <p:cNvSpPr/>
          <p:nvPr/>
        </p:nvSpPr>
        <p:spPr>
          <a:xfrm>
            <a:off x="365760" y="2075760"/>
            <a:ext cx="11795400" cy="621360"/>
          </a:xfrm>
          <a:prstGeom prst="rect">
            <a:avLst/>
          </a:prstGeom>
          <a:solidFill>
            <a:srgbClr val="14141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39" name="TextBox 18"/>
          <p:cNvSpPr/>
          <p:nvPr/>
        </p:nvSpPr>
        <p:spPr>
          <a:xfrm>
            <a:off x="411480" y="2203560"/>
            <a:ext cx="15541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c98540"/>
                </a:solidFill>
                <a:effectLst/>
                <a:uFillTx/>
                <a:latin typeface="Calibri"/>
              </a:rPr>
              <a:t>Kepler.gl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0" name="TextBox 19"/>
          <p:cNvSpPr/>
          <p:nvPr/>
        </p:nvSpPr>
        <p:spPr>
          <a:xfrm>
            <a:off x="2103120" y="2167200"/>
            <a:ext cx="35658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e8e8e8"/>
                </a:solidFill>
                <a:effectLst/>
                <a:uFillTx/>
                <a:latin typeface="Calibri"/>
              </a:rPr>
              <a:t>Мільйони точок, Trip-анімація, HTML-звіт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1" name="TextBox 20"/>
          <p:cNvSpPr/>
          <p:nvPr/>
        </p:nvSpPr>
        <p:spPr>
          <a:xfrm>
            <a:off x="5806440" y="2167200"/>
            <a:ext cx="29257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787880"/>
                </a:solidFill>
                <a:effectLst/>
                <a:uFillTx/>
                <a:latin typeface="Calibri"/>
              </a:rPr>
              <a:t>Немає spatial join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2" name="TextBox 21"/>
          <p:cNvSpPr/>
          <p:nvPr/>
        </p:nvSpPr>
        <p:spPr>
          <a:xfrm>
            <a:off x="8869680" y="2167200"/>
            <a:ext cx="29257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c98540"/>
                </a:solidFill>
                <a:effectLst/>
                <a:uFillTx/>
                <a:latin typeface="Calibri"/>
              </a:rPr>
              <a:t>Великий датасет, веб-публікація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3" name="Rectangle 22"/>
          <p:cNvSpPr/>
          <p:nvPr/>
        </p:nvSpPr>
        <p:spPr>
          <a:xfrm>
            <a:off x="365760" y="2734200"/>
            <a:ext cx="11795400" cy="621360"/>
          </a:xfrm>
          <a:prstGeom prst="rect">
            <a:avLst/>
          </a:prstGeom>
          <a:solidFill>
            <a:srgbClr val="1c1c2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44" name="TextBox 23"/>
          <p:cNvSpPr/>
          <p:nvPr/>
        </p:nvSpPr>
        <p:spPr>
          <a:xfrm>
            <a:off x="411480" y="2862000"/>
            <a:ext cx="15541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5ab878"/>
                </a:solidFill>
                <a:effectLst/>
                <a:uFillTx/>
                <a:latin typeface="Calibri"/>
              </a:rPr>
              <a:t>Google Earth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5" name="TextBox 24"/>
          <p:cNvSpPr/>
          <p:nvPr/>
        </p:nvSpPr>
        <p:spPr>
          <a:xfrm>
            <a:off x="2103120" y="2825640"/>
            <a:ext cx="35658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e8e8e8"/>
                </a:solidFill>
                <a:effectLst/>
                <a:uFillTx/>
                <a:latin typeface="Calibri"/>
              </a:rPr>
              <a:t>Historical Imagery, KMZ/KML, безкоштовно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6" name="TextBox 25"/>
          <p:cNvSpPr/>
          <p:nvPr/>
        </p:nvSpPr>
        <p:spPr>
          <a:xfrm>
            <a:off x="5806440" y="2825640"/>
            <a:ext cx="29257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787880"/>
                </a:solidFill>
                <a:effectLst/>
                <a:uFillTx/>
                <a:latin typeface="Calibri"/>
              </a:rPr>
              <a:t>Закритий, не аналітичний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7" name="TextBox 26"/>
          <p:cNvSpPr/>
          <p:nvPr/>
        </p:nvSpPr>
        <p:spPr>
          <a:xfrm>
            <a:off x="8869680" y="2825640"/>
            <a:ext cx="29257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5ab878"/>
                </a:solidFill>
                <a:effectLst/>
                <a:uFillTx/>
                <a:latin typeface="Calibri"/>
              </a:rPr>
              <a:t>Швидка геолокаційна верифікація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8" name="Rectangle 27"/>
          <p:cNvSpPr/>
          <p:nvPr/>
        </p:nvSpPr>
        <p:spPr>
          <a:xfrm>
            <a:off x="365760" y="3392280"/>
            <a:ext cx="11795400" cy="621360"/>
          </a:xfrm>
          <a:prstGeom prst="rect">
            <a:avLst/>
          </a:prstGeom>
          <a:solidFill>
            <a:srgbClr val="14141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49" name="TextBox 28"/>
          <p:cNvSpPr/>
          <p:nvPr/>
        </p:nvSpPr>
        <p:spPr>
          <a:xfrm>
            <a:off x="411480" y="3520440"/>
            <a:ext cx="15541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4a9ec7"/>
                </a:solidFill>
                <a:effectLst/>
                <a:uFillTx/>
                <a:latin typeface="Calibri"/>
              </a:rPr>
              <a:t>Felt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0" name="TextBox 29"/>
          <p:cNvSpPr/>
          <p:nvPr/>
        </p:nvSpPr>
        <p:spPr>
          <a:xfrm>
            <a:off x="2103120" y="3483720"/>
            <a:ext cx="35658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e8e8e8"/>
                </a:solidFill>
                <a:effectLst/>
                <a:uFillTx/>
                <a:latin typeface="Calibri"/>
              </a:rPr>
              <a:t>Сучасний колаборативний веб-редактор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1" name="TextBox 30"/>
          <p:cNvSpPr/>
          <p:nvPr/>
        </p:nvSpPr>
        <p:spPr>
          <a:xfrm>
            <a:off x="5806440" y="3483720"/>
            <a:ext cx="29257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787880"/>
                </a:solidFill>
                <a:effectLst/>
                <a:uFillTx/>
                <a:latin typeface="Calibri"/>
              </a:rPr>
              <a:t>Хмарний — не для чутливих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2" name="TextBox 31"/>
          <p:cNvSpPr/>
          <p:nvPr/>
        </p:nvSpPr>
        <p:spPr>
          <a:xfrm>
            <a:off x="8869680" y="3483720"/>
            <a:ext cx="29257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4a9ec7"/>
                </a:solidFill>
                <a:effectLst/>
                <a:uFillTx/>
                <a:latin typeface="Calibri"/>
              </a:rPr>
              <a:t>Командна робота, швидка публікація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3" name="Rectangle 32"/>
          <p:cNvSpPr/>
          <p:nvPr/>
        </p:nvSpPr>
        <p:spPr>
          <a:xfrm>
            <a:off x="365760" y="4050720"/>
            <a:ext cx="11795400" cy="621360"/>
          </a:xfrm>
          <a:prstGeom prst="rect">
            <a:avLst/>
          </a:prstGeom>
          <a:solidFill>
            <a:srgbClr val="1c1c2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54" name="TextBox 33"/>
          <p:cNvSpPr/>
          <p:nvPr/>
        </p:nvSpPr>
        <p:spPr>
          <a:xfrm>
            <a:off x="411480" y="4178880"/>
            <a:ext cx="15541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787880"/>
                </a:solidFill>
                <a:effectLst/>
                <a:uFillTx/>
                <a:latin typeface="Calibri"/>
              </a:rPr>
              <a:t>uMap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5" name="TextBox 34"/>
          <p:cNvSpPr/>
          <p:nvPr/>
        </p:nvSpPr>
        <p:spPr>
          <a:xfrm>
            <a:off x="2103120" y="4142160"/>
            <a:ext cx="35658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e8e8e8"/>
                </a:solidFill>
                <a:effectLst/>
                <a:uFillTx/>
                <a:latin typeface="Calibri"/>
              </a:rPr>
              <a:t>Open source, self-hostable, OSM підложки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6" name="TextBox 35"/>
          <p:cNvSpPr/>
          <p:nvPr/>
        </p:nvSpPr>
        <p:spPr>
          <a:xfrm>
            <a:off x="5806440" y="4142160"/>
            <a:ext cx="29257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787880"/>
                </a:solidFill>
                <a:effectLst/>
                <a:uFillTx/>
                <a:latin typeface="Calibri"/>
              </a:rPr>
              <a:t>Обмежені шари, нема аналітики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7" name="TextBox 36"/>
          <p:cNvSpPr/>
          <p:nvPr/>
        </p:nvSpPr>
        <p:spPr>
          <a:xfrm>
            <a:off x="8869680" y="4142160"/>
            <a:ext cx="29257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787880"/>
                </a:solidFill>
                <a:effectLst/>
                <a:uFillTx/>
                <a:latin typeface="Calibri"/>
              </a:rPr>
              <a:t>Self-hosted для чутливих кейсів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8" name="Rectangle 37"/>
          <p:cNvSpPr/>
          <p:nvPr/>
        </p:nvSpPr>
        <p:spPr>
          <a:xfrm>
            <a:off x="365760" y="4709160"/>
            <a:ext cx="11795400" cy="621360"/>
          </a:xfrm>
          <a:prstGeom prst="rect">
            <a:avLst/>
          </a:prstGeom>
          <a:solidFill>
            <a:srgbClr val="14141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59" name="TextBox 38"/>
          <p:cNvSpPr/>
          <p:nvPr/>
        </p:nvSpPr>
        <p:spPr>
          <a:xfrm>
            <a:off x="411480" y="4837320"/>
            <a:ext cx="15541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c98540"/>
                </a:solidFill>
                <a:effectLst/>
                <a:uFillTx/>
                <a:latin typeface="Calibri"/>
              </a:rPr>
              <a:t>Datawrapper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0" name="TextBox 39"/>
          <p:cNvSpPr/>
          <p:nvPr/>
        </p:nvSpPr>
        <p:spPr>
          <a:xfrm>
            <a:off x="2103120" y="4800600"/>
            <a:ext cx="35658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e8e8e8"/>
                </a:solidFill>
                <a:effectLst/>
                <a:uFillTx/>
                <a:latin typeface="Calibri"/>
              </a:rPr>
              <a:t>Хороплет-карти для публікацій за 5 хв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1" name="TextBox 40"/>
          <p:cNvSpPr/>
          <p:nvPr/>
        </p:nvSpPr>
        <p:spPr>
          <a:xfrm>
            <a:off x="5806440" y="4800600"/>
            <a:ext cx="29257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787880"/>
                </a:solidFill>
                <a:effectLst/>
                <a:uFillTx/>
                <a:latin typeface="Calibri"/>
              </a:rPr>
              <a:t>Тільки агреговані дані, без точок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2" name="TextBox 41"/>
          <p:cNvSpPr/>
          <p:nvPr/>
        </p:nvSpPr>
        <p:spPr>
          <a:xfrm>
            <a:off x="8869680" y="4800600"/>
            <a:ext cx="29257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c98540"/>
                </a:solidFill>
                <a:effectLst/>
                <a:uFillTx/>
                <a:latin typeface="Calibri"/>
              </a:rPr>
              <a:t>Choropleth по країнах і регіонах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3" name="Rectangle 42"/>
          <p:cNvSpPr/>
          <p:nvPr/>
        </p:nvSpPr>
        <p:spPr>
          <a:xfrm>
            <a:off x="365760" y="5824800"/>
            <a:ext cx="5394600" cy="959760"/>
          </a:xfrm>
          <a:prstGeom prst="rect">
            <a:avLst/>
          </a:prstGeom>
          <a:solidFill>
            <a:srgbClr val="1c1c22"/>
          </a:solidFill>
          <a:ln w="8890">
            <a:solidFill>
              <a:srgbClr val="4a9ec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64" name="TextBox 43"/>
          <p:cNvSpPr/>
          <p:nvPr/>
        </p:nvSpPr>
        <p:spPr>
          <a:xfrm>
            <a:off x="502920" y="5870520"/>
            <a:ext cx="51202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4a9ec7"/>
                </a:solidFill>
                <a:effectLst/>
                <a:uFillTx/>
                <a:latin typeface="Calibri"/>
              </a:rPr>
              <a:t>Правило: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5" name="TextBox 44"/>
          <p:cNvSpPr/>
          <p:nvPr/>
        </p:nvSpPr>
        <p:spPr>
          <a:xfrm>
            <a:off x="502920" y="6199560"/>
            <a:ext cx="512028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lang="en-US" sz="1200" b="0" u="none" strike="noStrike">
                <a:solidFill>
                  <a:srgbClr val="e8e8e8"/>
                </a:solidFill>
                <a:effectLst/>
                <a:uFillTx/>
                <a:latin typeface="Calibri"/>
              </a:rPr>
              <a:t>Чутливий кейс → QGIS / self-hosted uMap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200" b="0" u="none" strike="noStrike">
                <a:solidFill>
                  <a:srgbClr val="e8e8e8"/>
                </a:solidFill>
                <a:effectLst/>
                <a:uFillTx/>
                <a:latin typeface="Calibri"/>
              </a:rPr>
              <a:t>Багато точок → Kepler.gl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e8e8e8"/>
                </a:solidFill>
                <a:effectLst/>
                <a:uFillTx/>
                <a:latin typeface="Calibri"/>
              </a:rPr>
              <a:t>Швидка перевірка → Google Earth Pro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6" name="Rectangle 45"/>
          <p:cNvSpPr/>
          <p:nvPr/>
        </p:nvSpPr>
        <p:spPr>
          <a:xfrm>
            <a:off x="5989320" y="5824800"/>
            <a:ext cx="6217560" cy="959760"/>
          </a:xfrm>
          <a:prstGeom prst="rect">
            <a:avLst/>
          </a:prstGeom>
          <a:solidFill>
            <a:srgbClr val="1c1c22"/>
          </a:solidFill>
          <a:ln w="8890">
            <a:solidFill>
              <a:srgbClr val="5ab87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67" name="TextBox 46"/>
          <p:cNvSpPr/>
          <p:nvPr/>
        </p:nvSpPr>
        <p:spPr>
          <a:xfrm>
            <a:off x="6126480" y="5870520"/>
            <a:ext cx="5943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5ab878"/>
                </a:solidFill>
                <a:effectLst/>
                <a:uFillTx/>
                <a:latin typeface="Calibri"/>
              </a:rPr>
              <a:t>Kepler.gl у Python: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8" name="TextBox 47"/>
          <p:cNvSpPr/>
          <p:nvPr/>
        </p:nvSpPr>
        <p:spPr>
          <a:xfrm>
            <a:off x="6126480" y="6199560"/>
            <a:ext cx="594324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lang="en-US" sz="1100" b="0" u="none" strike="noStrike">
                <a:solidFill>
                  <a:srgbClr val="5ab878"/>
                </a:solidFill>
                <a:effectLst/>
                <a:uFillTx/>
                <a:latin typeface="Calibri"/>
              </a:rPr>
              <a:t>map_1 = KeplerGl(height=600)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5ab878"/>
                </a:solidFill>
                <a:effectLst/>
                <a:uFillTx/>
                <a:latin typeface="Calibri"/>
              </a:rPr>
              <a:t>map_1.add_data(data=df_map, name='events')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5ab878"/>
                </a:solidFill>
                <a:effectLst/>
                <a:uFillTx/>
                <a:latin typeface="Calibri"/>
              </a:rPr>
              <a:t>map_1.save_to_html('report_map.html')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0d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TextBox 1"/>
          <p:cNvSpPr/>
          <p:nvPr/>
        </p:nvSpPr>
        <p:spPr>
          <a:xfrm>
            <a:off x="365760" y="73080"/>
            <a:ext cx="10972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4a9ec7"/>
                </a:solidFill>
                <a:effectLst/>
                <a:uFillTx/>
                <a:latin typeface="Calibri"/>
              </a:rPr>
              <a:t>ЧАСТИНА V — АГЕНТНІ ВОРКФЛОУ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0" name="TextBox 2"/>
          <p:cNvSpPr/>
          <p:nvPr/>
        </p:nvSpPr>
        <p:spPr>
          <a:xfrm>
            <a:off x="365760" y="320040"/>
            <a:ext cx="109724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400" b="1" u="none" strike="noStrike">
                <a:solidFill>
                  <a:srgbClr val="e8e8e8"/>
                </a:solidFill>
                <a:effectLst/>
                <a:uFillTx/>
                <a:latin typeface="Calibri"/>
              </a:rPr>
              <a:t>Агентний AI: ReAct патерн</a:t>
            </a:r>
            <a:endParaRPr lang="en-US" sz="3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1" name="Rectangle 3"/>
          <p:cNvSpPr/>
          <p:nvPr/>
        </p:nvSpPr>
        <p:spPr>
          <a:xfrm>
            <a:off x="365760" y="804600"/>
            <a:ext cx="11457000" cy="27000"/>
          </a:xfrm>
          <a:prstGeom prst="rect">
            <a:avLst/>
          </a:prstGeom>
          <a:solidFill>
            <a:srgbClr val="4a9ec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17640" bIns="-1764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72" name="TextBox 4"/>
          <p:cNvSpPr/>
          <p:nvPr/>
        </p:nvSpPr>
        <p:spPr>
          <a:xfrm>
            <a:off x="365760" y="914400"/>
            <a:ext cx="109724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787880"/>
                </a:solidFill>
                <a:effectLst/>
                <a:uFillTx/>
                <a:latin typeface="Calibri"/>
              </a:rPr>
              <a:t>ReAct = Reason + Act   |   LLM розбиває задачу на кроки → викликає інструменти → оцінює → продовжує.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3" name="Rectangle 5"/>
          <p:cNvSpPr/>
          <p:nvPr/>
        </p:nvSpPr>
        <p:spPr>
          <a:xfrm>
            <a:off x="365760" y="1463040"/>
            <a:ext cx="456840" cy="959760"/>
          </a:xfrm>
          <a:prstGeom prst="rect">
            <a:avLst/>
          </a:prstGeom>
          <a:solidFill>
            <a:srgbClr val="4a9ec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74" name="TextBox 6"/>
          <p:cNvSpPr/>
          <p:nvPr/>
        </p:nvSpPr>
        <p:spPr>
          <a:xfrm>
            <a:off x="365760" y="1463040"/>
            <a:ext cx="45684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0d0d0f"/>
                </a:solidFill>
                <a:effectLst/>
                <a:uFillTx/>
                <a:latin typeface="Calibri"/>
              </a:rPr>
              <a:t>1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5" name="Rectangle 7"/>
          <p:cNvSpPr/>
          <p:nvPr/>
        </p:nvSpPr>
        <p:spPr>
          <a:xfrm>
            <a:off x="887040" y="1463040"/>
            <a:ext cx="5028840" cy="438480"/>
          </a:xfrm>
          <a:prstGeom prst="rect">
            <a:avLst/>
          </a:prstGeom>
          <a:solidFill>
            <a:srgbClr val="1c1c2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76" name="TextBox 8"/>
          <p:cNvSpPr/>
          <p:nvPr/>
        </p:nvSpPr>
        <p:spPr>
          <a:xfrm>
            <a:off x="978480" y="1508760"/>
            <a:ext cx="4845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4a9ec7"/>
                </a:solidFill>
                <a:effectLst/>
                <a:uFillTx/>
                <a:latin typeface="Calibri"/>
              </a:rPr>
              <a:t>THINK: Спочатку перевірю WHOIS для реєстрації і власника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7" name="Rectangle 9"/>
          <p:cNvSpPr/>
          <p:nvPr/>
        </p:nvSpPr>
        <p:spPr>
          <a:xfrm>
            <a:off x="887040" y="1965960"/>
            <a:ext cx="5028840" cy="438480"/>
          </a:xfrm>
          <a:prstGeom prst="rect">
            <a:avLst/>
          </a:prstGeom>
          <a:solidFill>
            <a:srgbClr val="1c1c2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78" name="TextBox 10"/>
          <p:cNvSpPr/>
          <p:nvPr/>
        </p:nvSpPr>
        <p:spPr>
          <a:xfrm>
            <a:off x="978480" y="2011680"/>
            <a:ext cx="4845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i="1" u="none" strike="noStrike">
                <a:solidFill>
                  <a:srgbClr val="787880"/>
                </a:solidFill>
                <a:effectLst/>
                <a:uFillTx/>
                <a:latin typeface="Calibri"/>
              </a:rPr>
              <a:t>OBSERVE: Реєстратор: Namecheap, 2025-11-03, email: admin@fastmail.com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9" name="TextBox 11"/>
          <p:cNvSpPr/>
          <p:nvPr/>
        </p:nvSpPr>
        <p:spPr>
          <a:xfrm>
            <a:off x="365760" y="2441520"/>
            <a:ext cx="4568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4a9ec7"/>
                </a:solidFill>
                <a:effectLst/>
                <a:uFillTx/>
                <a:latin typeface="Calibri"/>
              </a:rPr>
              <a:t>↓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0" name="Rectangle 12"/>
          <p:cNvSpPr/>
          <p:nvPr/>
        </p:nvSpPr>
        <p:spPr>
          <a:xfrm>
            <a:off x="365760" y="2560320"/>
            <a:ext cx="456840" cy="959760"/>
          </a:xfrm>
          <a:prstGeom prst="rect">
            <a:avLst/>
          </a:prstGeom>
          <a:solidFill>
            <a:srgbClr val="c9854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81" name="TextBox 13"/>
          <p:cNvSpPr/>
          <p:nvPr/>
        </p:nvSpPr>
        <p:spPr>
          <a:xfrm>
            <a:off x="365760" y="2560320"/>
            <a:ext cx="45684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0d0d0f"/>
                </a:solidFill>
                <a:effectLst/>
                <a:uFillTx/>
                <a:latin typeface="Calibri"/>
              </a:rPr>
              <a:t>2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2" name="Rectangle 14"/>
          <p:cNvSpPr/>
          <p:nvPr/>
        </p:nvSpPr>
        <p:spPr>
          <a:xfrm>
            <a:off x="887040" y="2560320"/>
            <a:ext cx="5028840" cy="438480"/>
          </a:xfrm>
          <a:prstGeom prst="rect">
            <a:avLst/>
          </a:prstGeom>
          <a:solidFill>
            <a:srgbClr val="1c1c2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83" name="TextBox 15"/>
          <p:cNvSpPr/>
          <p:nvPr/>
        </p:nvSpPr>
        <p:spPr>
          <a:xfrm>
            <a:off x="978480" y="2606040"/>
            <a:ext cx="4845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c98540"/>
                </a:solidFill>
                <a:effectLst/>
                <a:uFillTx/>
                <a:latin typeface="Calibri"/>
              </a:rPr>
              <a:t>THINK: Email admin@fastmail.com — перевірю витоки баз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4" name="Rectangle 16"/>
          <p:cNvSpPr/>
          <p:nvPr/>
        </p:nvSpPr>
        <p:spPr>
          <a:xfrm>
            <a:off x="887040" y="3063240"/>
            <a:ext cx="5028840" cy="438480"/>
          </a:xfrm>
          <a:prstGeom prst="rect">
            <a:avLst/>
          </a:prstGeom>
          <a:solidFill>
            <a:srgbClr val="1c1c2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85" name="TextBox 17"/>
          <p:cNvSpPr/>
          <p:nvPr/>
        </p:nvSpPr>
        <p:spPr>
          <a:xfrm>
            <a:off x="978480" y="3108960"/>
            <a:ext cx="4845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i="1" u="none" strike="noStrike">
                <a:solidFill>
                  <a:srgbClr val="787880"/>
                </a:solidFill>
                <a:effectLst/>
                <a:uFillTx/>
                <a:latin typeface="Calibri"/>
              </a:rPr>
              <a:t>OBSERVE: Знайдено в 2 витоках (LinkedIn 2021, Canva 2019)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6" name="TextBox 18"/>
          <p:cNvSpPr/>
          <p:nvPr/>
        </p:nvSpPr>
        <p:spPr>
          <a:xfrm>
            <a:off x="365760" y="3538800"/>
            <a:ext cx="4568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c98540"/>
                </a:solidFill>
                <a:effectLst/>
                <a:uFillTx/>
                <a:latin typeface="Calibri"/>
              </a:rPr>
              <a:t>↓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7" name="Rectangle 19"/>
          <p:cNvSpPr/>
          <p:nvPr/>
        </p:nvSpPr>
        <p:spPr>
          <a:xfrm>
            <a:off x="365760" y="3657600"/>
            <a:ext cx="456840" cy="959760"/>
          </a:xfrm>
          <a:prstGeom prst="rect">
            <a:avLst/>
          </a:prstGeom>
          <a:solidFill>
            <a:srgbClr val="4a9ec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88" name="TextBox 20"/>
          <p:cNvSpPr/>
          <p:nvPr/>
        </p:nvSpPr>
        <p:spPr>
          <a:xfrm>
            <a:off x="365760" y="3657600"/>
            <a:ext cx="45684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0d0d0f"/>
                </a:solidFill>
                <a:effectLst/>
                <a:uFillTx/>
                <a:latin typeface="Calibri"/>
              </a:rPr>
              <a:t>3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9" name="Rectangle 21"/>
          <p:cNvSpPr/>
          <p:nvPr/>
        </p:nvSpPr>
        <p:spPr>
          <a:xfrm>
            <a:off x="887040" y="3657600"/>
            <a:ext cx="5028840" cy="438480"/>
          </a:xfrm>
          <a:prstGeom prst="rect">
            <a:avLst/>
          </a:prstGeom>
          <a:solidFill>
            <a:srgbClr val="1c1c2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90" name="TextBox 22"/>
          <p:cNvSpPr/>
          <p:nvPr/>
        </p:nvSpPr>
        <p:spPr>
          <a:xfrm>
            <a:off x="978480" y="3703320"/>
            <a:ext cx="4845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4a9ec7"/>
                </a:solidFill>
                <a:effectLst/>
                <a:uFillTx/>
                <a:latin typeface="Calibri"/>
              </a:rPr>
              <a:t>THINK: Перевірю пасивний DNS для пов'язаних доменів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1" name="Rectangle 23"/>
          <p:cNvSpPr/>
          <p:nvPr/>
        </p:nvSpPr>
        <p:spPr>
          <a:xfrm>
            <a:off x="887040" y="4160520"/>
            <a:ext cx="5028840" cy="438480"/>
          </a:xfrm>
          <a:prstGeom prst="rect">
            <a:avLst/>
          </a:prstGeom>
          <a:solidFill>
            <a:srgbClr val="1c1c2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92" name="TextBox 24"/>
          <p:cNvSpPr/>
          <p:nvPr/>
        </p:nvSpPr>
        <p:spPr>
          <a:xfrm>
            <a:off x="978480" y="4206240"/>
            <a:ext cx="4845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i="1" u="none" strike="noStrike">
                <a:solidFill>
                  <a:srgbClr val="787880"/>
                </a:solidFill>
                <a:effectLst/>
                <a:uFillTx/>
                <a:latin typeface="Calibri"/>
              </a:rPr>
              <a:t>OBSERVE: IP 185.220.101.x — також хостить evil-news.net, fake-media.org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3" name="TextBox 25"/>
          <p:cNvSpPr/>
          <p:nvPr/>
        </p:nvSpPr>
        <p:spPr>
          <a:xfrm>
            <a:off x="365760" y="4636080"/>
            <a:ext cx="4568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4a9ec7"/>
                </a:solidFill>
                <a:effectLst/>
                <a:uFillTx/>
                <a:latin typeface="Calibri"/>
              </a:rPr>
              <a:t>↓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4" name="Rectangle 26"/>
          <p:cNvSpPr/>
          <p:nvPr/>
        </p:nvSpPr>
        <p:spPr>
          <a:xfrm>
            <a:off x="365760" y="4754880"/>
            <a:ext cx="456840" cy="959760"/>
          </a:xfrm>
          <a:prstGeom prst="rect">
            <a:avLst/>
          </a:prstGeom>
          <a:solidFill>
            <a:srgbClr val="5ab87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95" name="TextBox 27"/>
          <p:cNvSpPr/>
          <p:nvPr/>
        </p:nvSpPr>
        <p:spPr>
          <a:xfrm>
            <a:off x="365760" y="4754880"/>
            <a:ext cx="45684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0d0d0f"/>
                </a:solidFill>
                <a:effectLst/>
                <a:uFillTx/>
                <a:latin typeface="Calibri"/>
              </a:rPr>
              <a:t>4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6" name="Rectangle 28"/>
          <p:cNvSpPr/>
          <p:nvPr/>
        </p:nvSpPr>
        <p:spPr>
          <a:xfrm>
            <a:off x="887040" y="4754880"/>
            <a:ext cx="5028840" cy="438480"/>
          </a:xfrm>
          <a:prstGeom prst="rect">
            <a:avLst/>
          </a:prstGeom>
          <a:solidFill>
            <a:srgbClr val="1c1c2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97" name="TextBox 29"/>
          <p:cNvSpPr/>
          <p:nvPr/>
        </p:nvSpPr>
        <p:spPr>
          <a:xfrm>
            <a:off x="978480" y="4800600"/>
            <a:ext cx="4845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5ab878"/>
                </a:solidFill>
                <a:effectLst/>
                <a:uFillTx/>
                <a:latin typeface="Calibri"/>
              </a:rPr>
              <a:t>THINK: Достатньо для spot report. Формую висновки.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8" name="Rectangle 30"/>
          <p:cNvSpPr/>
          <p:nvPr/>
        </p:nvSpPr>
        <p:spPr>
          <a:xfrm>
            <a:off x="887040" y="5257800"/>
            <a:ext cx="5028840" cy="438480"/>
          </a:xfrm>
          <a:prstGeom prst="rect">
            <a:avLst/>
          </a:prstGeom>
          <a:solidFill>
            <a:srgbClr val="1c1c2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99" name="TextBox 31"/>
          <p:cNvSpPr/>
          <p:nvPr/>
        </p:nvSpPr>
        <p:spPr>
          <a:xfrm>
            <a:off x="978480" y="5303520"/>
            <a:ext cx="4845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i="1" u="none" strike="noStrike">
                <a:solidFill>
                  <a:srgbClr val="787880"/>
                </a:solidFill>
                <a:effectLst/>
                <a:uFillTx/>
                <a:latin typeface="Calibri"/>
              </a:rPr>
              <a:t>ACT: generate_report(findings) → domain_brief.md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0" name="Rectangle 32"/>
          <p:cNvSpPr/>
          <p:nvPr/>
        </p:nvSpPr>
        <p:spPr>
          <a:xfrm>
            <a:off x="6126480" y="1463040"/>
            <a:ext cx="5486040" cy="5074560"/>
          </a:xfrm>
          <a:prstGeom prst="rect">
            <a:avLst/>
          </a:prstGeom>
          <a:solidFill>
            <a:srgbClr val="1c1c22"/>
          </a:solidFill>
          <a:ln w="10160">
            <a:solidFill>
              <a:srgbClr val="4a9ec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01" name="TextBox 33"/>
          <p:cNvSpPr/>
          <p:nvPr/>
        </p:nvSpPr>
        <p:spPr>
          <a:xfrm>
            <a:off x="6263640" y="1527120"/>
            <a:ext cx="52117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4a9ec7"/>
                </a:solidFill>
                <a:effectLst/>
                <a:uFillTx/>
                <a:latin typeface="Calibri"/>
              </a:rPr>
              <a:t>Інструменти Claude Code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2" name="TextBox 34"/>
          <p:cNvSpPr/>
          <p:nvPr/>
        </p:nvSpPr>
        <p:spPr>
          <a:xfrm>
            <a:off x="6263640" y="1984320"/>
            <a:ext cx="19198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4a9ec7"/>
                </a:solidFill>
                <a:effectLst/>
                <a:uFillTx/>
                <a:latin typeface="Calibri"/>
              </a:rPr>
              <a:t>WebSearch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3" name="TextBox 35"/>
          <p:cNvSpPr/>
          <p:nvPr/>
        </p:nvSpPr>
        <p:spPr>
          <a:xfrm>
            <a:off x="8321040" y="1984320"/>
            <a:ext cx="32000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787880"/>
                </a:solidFill>
                <a:effectLst/>
                <a:uFillTx/>
                <a:latin typeface="Calibri"/>
              </a:rPr>
              <a:t>Пошук у відкритих джерелах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4" name="TextBox 36"/>
          <p:cNvSpPr/>
          <p:nvPr/>
        </p:nvSpPr>
        <p:spPr>
          <a:xfrm>
            <a:off x="6263640" y="2743200"/>
            <a:ext cx="19198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c98540"/>
                </a:solidFill>
                <a:effectLst/>
                <a:uFillTx/>
                <a:latin typeface="Calibri"/>
              </a:rPr>
              <a:t>Bash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5" name="TextBox 37"/>
          <p:cNvSpPr/>
          <p:nvPr/>
        </p:nvSpPr>
        <p:spPr>
          <a:xfrm>
            <a:off x="8321040" y="2743200"/>
            <a:ext cx="32000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787880"/>
                </a:solidFill>
                <a:effectLst/>
                <a:uFillTx/>
                <a:latin typeface="Calibri"/>
              </a:rPr>
              <a:t>whois, curl, Python скрипти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6" name="TextBox 38"/>
          <p:cNvSpPr/>
          <p:nvPr/>
        </p:nvSpPr>
        <p:spPr>
          <a:xfrm>
            <a:off x="6263640" y="3502080"/>
            <a:ext cx="19198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e8e8e8"/>
                </a:solidFill>
                <a:effectLst/>
                <a:uFillTx/>
                <a:latin typeface="Calibri"/>
              </a:rPr>
              <a:t>Read/Write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7" name="TextBox 39"/>
          <p:cNvSpPr/>
          <p:nvPr/>
        </p:nvSpPr>
        <p:spPr>
          <a:xfrm>
            <a:off x="8321040" y="3502080"/>
            <a:ext cx="32000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787880"/>
                </a:solidFill>
                <a:effectLst/>
                <a:uFillTx/>
                <a:latin typeface="Calibri"/>
              </a:rPr>
              <a:t>Файли, нотатки, звіти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8" name="TextBox 40"/>
          <p:cNvSpPr/>
          <p:nvPr/>
        </p:nvSpPr>
        <p:spPr>
          <a:xfrm>
            <a:off x="6263640" y="4260960"/>
            <a:ext cx="19198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5ab878"/>
                </a:solidFill>
                <a:effectLst/>
                <a:uFillTx/>
                <a:latin typeface="Calibri"/>
              </a:rPr>
              <a:t>MCP Gephi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9" name="TextBox 41"/>
          <p:cNvSpPr/>
          <p:nvPr/>
        </p:nvSpPr>
        <p:spPr>
          <a:xfrm>
            <a:off x="8321040" y="4260960"/>
            <a:ext cx="32000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787880"/>
                </a:solidFill>
                <a:effectLst/>
                <a:uFillTx/>
                <a:latin typeface="Calibri"/>
              </a:rPr>
              <a:t>Мережевий аналіз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0" name="TextBox 42"/>
          <p:cNvSpPr/>
          <p:nvPr/>
        </p:nvSpPr>
        <p:spPr>
          <a:xfrm>
            <a:off x="6263640" y="5020200"/>
            <a:ext cx="19198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5ab878"/>
                </a:solidFill>
                <a:effectLst/>
                <a:uFillTx/>
                <a:latin typeface="Calibri"/>
              </a:rPr>
              <a:t>MCP Neo4j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1" name="TextBox 43"/>
          <p:cNvSpPr/>
          <p:nvPr/>
        </p:nvSpPr>
        <p:spPr>
          <a:xfrm>
            <a:off x="8321040" y="5020200"/>
            <a:ext cx="32000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787880"/>
                </a:solidFill>
                <a:effectLst/>
                <a:uFillTx/>
                <a:latin typeface="Calibri"/>
              </a:rPr>
              <a:t>Запити до БД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2" name="TextBox 44"/>
          <p:cNvSpPr/>
          <p:nvPr/>
        </p:nvSpPr>
        <p:spPr>
          <a:xfrm>
            <a:off x="6263640" y="5779080"/>
            <a:ext cx="19198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c98540"/>
                </a:solidFill>
                <a:effectLst/>
                <a:uFillTx/>
                <a:latin typeface="Calibri"/>
              </a:rPr>
              <a:t>ArkhamMirror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3" name="TextBox 45"/>
          <p:cNvSpPr/>
          <p:nvPr/>
        </p:nvSpPr>
        <p:spPr>
          <a:xfrm>
            <a:off x="8321040" y="5779080"/>
            <a:ext cx="32000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787880"/>
                </a:solidFill>
                <a:effectLst/>
                <a:uFillTx/>
                <a:latin typeface="Calibri"/>
              </a:rPr>
              <a:t>SHATTERED платформа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0d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TextBox 1"/>
          <p:cNvSpPr/>
          <p:nvPr/>
        </p:nvSpPr>
        <p:spPr>
          <a:xfrm>
            <a:off x="365760" y="73080"/>
            <a:ext cx="10972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4a9ec7"/>
                </a:solidFill>
                <a:effectLst/>
                <a:uFillTx/>
                <a:latin typeface="Calibri"/>
              </a:rPr>
              <a:t>ЧАСТИНА V — АГЕНТНІ ВОРКФЛОУ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5" name="TextBox 2"/>
          <p:cNvSpPr/>
          <p:nvPr/>
        </p:nvSpPr>
        <p:spPr>
          <a:xfrm>
            <a:off x="365760" y="320040"/>
            <a:ext cx="109724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900" b="1" u="none" strike="noStrike">
                <a:solidFill>
                  <a:srgbClr val="e8e8e8"/>
                </a:solidFill>
                <a:effectLst/>
                <a:uFillTx/>
                <a:latin typeface="Calibri"/>
              </a:rPr>
              <a:t>Claude як OSINT-агент: практичний приклад</a:t>
            </a:r>
            <a:endParaRPr lang="en-US" sz="2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6" name="Rectangle 3"/>
          <p:cNvSpPr/>
          <p:nvPr/>
        </p:nvSpPr>
        <p:spPr>
          <a:xfrm>
            <a:off x="365760" y="804600"/>
            <a:ext cx="11457000" cy="27000"/>
          </a:xfrm>
          <a:prstGeom prst="rect">
            <a:avLst/>
          </a:prstGeom>
          <a:solidFill>
            <a:srgbClr val="4a9ec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17640" bIns="-1764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17" name="Rectangle 4"/>
          <p:cNvSpPr/>
          <p:nvPr/>
        </p:nvSpPr>
        <p:spPr>
          <a:xfrm>
            <a:off x="365760" y="960120"/>
            <a:ext cx="11429640" cy="914040"/>
          </a:xfrm>
          <a:prstGeom prst="rect">
            <a:avLst/>
          </a:prstGeom>
          <a:solidFill>
            <a:srgbClr val="1c1c22"/>
          </a:solidFill>
          <a:ln w="10160">
            <a:solidFill>
              <a:srgbClr val="4a9ec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18" name="TextBox 5"/>
          <p:cNvSpPr/>
          <p:nvPr/>
        </p:nvSpPr>
        <p:spPr>
          <a:xfrm>
            <a:off x="502920" y="1033200"/>
            <a:ext cx="1115532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i="1" u="none" strike="noStrike">
                <a:solidFill>
                  <a:srgbClr val="e8e8e8"/>
                </a:solidFill>
                <a:effectLst/>
                <a:uFillTx/>
                <a:latin typeface="Calibri"/>
              </a:rPr>
              <a:t>Задача: «Проведи OSINT-аналіз домену [target.example.com]. WHOIS → DNS → пошук → SSL → BLUF-звіт.»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9" name="Rectangle 6"/>
          <p:cNvSpPr/>
          <p:nvPr/>
        </p:nvSpPr>
        <p:spPr>
          <a:xfrm>
            <a:off x="365760" y="2011680"/>
            <a:ext cx="6126120" cy="758520"/>
          </a:xfrm>
          <a:prstGeom prst="rect">
            <a:avLst/>
          </a:prstGeom>
          <a:solidFill>
            <a:srgbClr val="1c1c22"/>
          </a:solidFill>
          <a:ln w="7620">
            <a:solidFill>
              <a:srgbClr val="4a9ec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20" name="TextBox 7"/>
          <p:cNvSpPr/>
          <p:nvPr/>
        </p:nvSpPr>
        <p:spPr>
          <a:xfrm>
            <a:off x="475560" y="2084760"/>
            <a:ext cx="58975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5ab878"/>
                </a:solidFill>
                <a:effectLst/>
                <a:uFillTx/>
                <a:latin typeface="Calibri"/>
              </a:rPr>
              <a:t>$ bash("whois target.example.com")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1" name="Rectangle 8"/>
          <p:cNvSpPr/>
          <p:nvPr/>
        </p:nvSpPr>
        <p:spPr>
          <a:xfrm>
            <a:off x="6629400" y="2011680"/>
            <a:ext cx="5120280" cy="758520"/>
          </a:xfrm>
          <a:prstGeom prst="rect">
            <a:avLst/>
          </a:prstGeom>
          <a:solidFill>
            <a:srgbClr val="1c1c2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22" name="TextBox 9"/>
          <p:cNvSpPr/>
          <p:nvPr/>
        </p:nvSpPr>
        <p:spPr>
          <a:xfrm>
            <a:off x="6739200" y="2176200"/>
            <a:ext cx="48916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4a9ec7"/>
                </a:solidFill>
                <a:effectLst/>
                <a:uFillTx/>
                <a:latin typeface="Calibri"/>
              </a:rPr>
              <a:t>→ Реєстратор, власник, дата реєстрації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3" name="Rectangle 10"/>
          <p:cNvSpPr/>
          <p:nvPr/>
        </p:nvSpPr>
        <p:spPr>
          <a:xfrm>
            <a:off x="365760" y="2880360"/>
            <a:ext cx="6126120" cy="758520"/>
          </a:xfrm>
          <a:prstGeom prst="rect">
            <a:avLst/>
          </a:prstGeom>
          <a:solidFill>
            <a:srgbClr val="1c1c22"/>
          </a:solidFill>
          <a:ln w="7620">
            <a:solidFill>
              <a:srgbClr val="4a9ec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24" name="TextBox 11"/>
          <p:cNvSpPr/>
          <p:nvPr/>
        </p:nvSpPr>
        <p:spPr>
          <a:xfrm>
            <a:off x="475560" y="2953440"/>
            <a:ext cx="58975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5ab878"/>
                </a:solidFill>
                <a:effectLst/>
                <a:uFillTx/>
                <a:latin typeface="Calibri"/>
              </a:rPr>
              <a:t>$ bash("dig target.example.com ANY +short")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5" name="Rectangle 12"/>
          <p:cNvSpPr/>
          <p:nvPr/>
        </p:nvSpPr>
        <p:spPr>
          <a:xfrm>
            <a:off x="6629400" y="2880360"/>
            <a:ext cx="5120280" cy="758520"/>
          </a:xfrm>
          <a:prstGeom prst="rect">
            <a:avLst/>
          </a:prstGeom>
          <a:solidFill>
            <a:srgbClr val="1c1c2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26" name="TextBox 13"/>
          <p:cNvSpPr/>
          <p:nvPr/>
        </p:nvSpPr>
        <p:spPr>
          <a:xfrm>
            <a:off x="6739200" y="3044880"/>
            <a:ext cx="48916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4a9ec7"/>
                </a:solidFill>
                <a:effectLst/>
                <a:uFillTx/>
                <a:latin typeface="Calibri"/>
              </a:rPr>
              <a:t>→ A, MX, TXT, NS записи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7" name="Rectangle 14"/>
          <p:cNvSpPr/>
          <p:nvPr/>
        </p:nvSpPr>
        <p:spPr>
          <a:xfrm>
            <a:off x="365760" y="3749040"/>
            <a:ext cx="6126120" cy="758520"/>
          </a:xfrm>
          <a:prstGeom prst="rect">
            <a:avLst/>
          </a:prstGeom>
          <a:solidFill>
            <a:srgbClr val="1c1c22"/>
          </a:solidFill>
          <a:ln w="7620">
            <a:solidFill>
              <a:srgbClr val="c9854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28" name="TextBox 15"/>
          <p:cNvSpPr/>
          <p:nvPr/>
        </p:nvSpPr>
        <p:spPr>
          <a:xfrm>
            <a:off x="475560" y="3822120"/>
            <a:ext cx="58975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5ab878"/>
                </a:solidFill>
                <a:effectLst/>
                <a:uFillTx/>
                <a:latin typeface="Calibri"/>
              </a:rPr>
              <a:t>$ web_search("target.example.com pastebin")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9" name="Rectangle 16"/>
          <p:cNvSpPr/>
          <p:nvPr/>
        </p:nvSpPr>
        <p:spPr>
          <a:xfrm>
            <a:off x="6629400" y="3749040"/>
            <a:ext cx="5120280" cy="758520"/>
          </a:xfrm>
          <a:prstGeom prst="rect">
            <a:avLst/>
          </a:prstGeom>
          <a:solidFill>
            <a:srgbClr val="1c1c2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30" name="TextBox 17"/>
          <p:cNvSpPr/>
          <p:nvPr/>
        </p:nvSpPr>
        <p:spPr>
          <a:xfrm>
            <a:off x="6739200" y="3913560"/>
            <a:ext cx="48916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c98540"/>
                </a:solidFill>
                <a:effectLst/>
                <a:uFillTx/>
                <a:latin typeface="Calibri"/>
              </a:rPr>
              <a:t>→ Витоки, згадки у відкритих джерелах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1" name="Rectangle 18"/>
          <p:cNvSpPr/>
          <p:nvPr/>
        </p:nvSpPr>
        <p:spPr>
          <a:xfrm>
            <a:off x="365760" y="4617720"/>
            <a:ext cx="6126120" cy="758520"/>
          </a:xfrm>
          <a:prstGeom prst="rect">
            <a:avLst/>
          </a:prstGeom>
          <a:solidFill>
            <a:srgbClr val="1c1c22"/>
          </a:solidFill>
          <a:ln w="7620">
            <a:solidFill>
              <a:srgbClr val="4a9ec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32" name="TextBox 19"/>
          <p:cNvSpPr/>
          <p:nvPr/>
        </p:nvSpPr>
        <p:spPr>
          <a:xfrm>
            <a:off x="475560" y="4690800"/>
            <a:ext cx="58975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5ab878"/>
                </a:solidFill>
                <a:effectLst/>
                <a:uFillTx/>
                <a:latin typeface="Calibri"/>
              </a:rPr>
              <a:t>$ bash("openssl s_client … | openssl x509")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3" name="Rectangle 20"/>
          <p:cNvSpPr/>
          <p:nvPr/>
        </p:nvSpPr>
        <p:spPr>
          <a:xfrm>
            <a:off x="6629400" y="4617720"/>
            <a:ext cx="5120280" cy="758520"/>
          </a:xfrm>
          <a:prstGeom prst="rect">
            <a:avLst/>
          </a:prstGeom>
          <a:solidFill>
            <a:srgbClr val="1c1c2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34" name="TextBox 21"/>
          <p:cNvSpPr/>
          <p:nvPr/>
        </p:nvSpPr>
        <p:spPr>
          <a:xfrm>
            <a:off x="6739200" y="4782240"/>
            <a:ext cx="48916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4a9ec7"/>
                </a:solidFill>
                <a:effectLst/>
                <a:uFillTx/>
                <a:latin typeface="Calibri"/>
              </a:rPr>
              <a:t>→ SSL: CN, організація, термін дії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5" name="Rectangle 22"/>
          <p:cNvSpPr/>
          <p:nvPr/>
        </p:nvSpPr>
        <p:spPr>
          <a:xfrm>
            <a:off x="365760" y="5486400"/>
            <a:ext cx="6126120" cy="758520"/>
          </a:xfrm>
          <a:prstGeom prst="rect">
            <a:avLst/>
          </a:prstGeom>
          <a:solidFill>
            <a:srgbClr val="1c1c22"/>
          </a:solidFill>
          <a:ln w="7620">
            <a:solidFill>
              <a:srgbClr val="5ab87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36" name="TextBox 23"/>
          <p:cNvSpPr/>
          <p:nvPr/>
        </p:nvSpPr>
        <p:spPr>
          <a:xfrm>
            <a:off x="475560" y="5559480"/>
            <a:ext cx="58975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5ab878"/>
                </a:solidFill>
                <a:effectLst/>
                <a:uFillTx/>
                <a:latin typeface="Calibri"/>
              </a:rPr>
              <a:t>$ write("domain_brief.md", report_content)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7" name="Rectangle 24"/>
          <p:cNvSpPr/>
          <p:nvPr/>
        </p:nvSpPr>
        <p:spPr>
          <a:xfrm>
            <a:off x="6629400" y="5486400"/>
            <a:ext cx="5120280" cy="758520"/>
          </a:xfrm>
          <a:prstGeom prst="rect">
            <a:avLst/>
          </a:prstGeom>
          <a:solidFill>
            <a:srgbClr val="1c1c2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38" name="TextBox 25"/>
          <p:cNvSpPr/>
          <p:nvPr/>
        </p:nvSpPr>
        <p:spPr>
          <a:xfrm>
            <a:off x="6739200" y="5650920"/>
            <a:ext cx="48916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5ab878"/>
                </a:solidFill>
                <a:effectLst/>
                <a:uFillTx/>
                <a:latin typeface="Calibri"/>
              </a:rPr>
              <a:t>→ Готовий BLUF-звіт зберігається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9" name="Rectangle 26"/>
          <p:cNvSpPr/>
          <p:nvPr/>
        </p:nvSpPr>
        <p:spPr>
          <a:xfrm>
            <a:off x="365760" y="6400800"/>
            <a:ext cx="11429640" cy="383760"/>
          </a:xfrm>
          <a:prstGeom prst="rect">
            <a:avLst/>
          </a:prstGeom>
          <a:solidFill>
            <a:srgbClr val="081408"/>
          </a:solidFill>
          <a:ln w="10160">
            <a:solidFill>
              <a:srgbClr val="5ab87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40" name="TextBox 27"/>
          <p:cNvSpPr/>
          <p:nvPr/>
        </p:nvSpPr>
        <p:spPr>
          <a:xfrm>
            <a:off x="502920" y="6446520"/>
            <a:ext cx="111553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5ab878"/>
                </a:solidFill>
                <a:effectLst/>
                <a:uFillTx/>
                <a:latin typeface="Calibri"/>
              </a:rPr>
              <a:t>★  Аналітик описує ЦІЛЬ — агент адаптує план. Кожен крок задокументований і відтворюваний.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0d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TextBox 1"/>
          <p:cNvSpPr/>
          <p:nvPr/>
        </p:nvSpPr>
        <p:spPr>
          <a:xfrm>
            <a:off x="365760" y="73080"/>
            <a:ext cx="10972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4a9ec7"/>
                </a:solidFill>
                <a:effectLst/>
                <a:uFillTx/>
                <a:latin typeface="Calibri"/>
              </a:rPr>
              <a:t>ЧАСТИНА V — АГЕНТНІ ВОРКФЛОУ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2" name="TextBox 2"/>
          <p:cNvSpPr/>
          <p:nvPr/>
        </p:nvSpPr>
        <p:spPr>
          <a:xfrm>
            <a:off x="365760" y="320040"/>
            <a:ext cx="109724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200" b="1" u="none" strike="noStrike">
                <a:solidFill>
                  <a:srgbClr val="e8e8e8"/>
                </a:solidFill>
                <a:effectLst/>
                <a:uFillTx/>
                <a:latin typeface="Calibri"/>
              </a:rPr>
              <a:t>Кейс: повний OSINT-воркфлоу з AI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3" name="Rectangle 3"/>
          <p:cNvSpPr/>
          <p:nvPr/>
        </p:nvSpPr>
        <p:spPr>
          <a:xfrm>
            <a:off x="365760" y="804600"/>
            <a:ext cx="11457000" cy="27000"/>
          </a:xfrm>
          <a:prstGeom prst="rect">
            <a:avLst/>
          </a:prstGeom>
          <a:solidFill>
            <a:srgbClr val="4a9ec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17640" bIns="-1764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44" name="TextBox 4"/>
          <p:cNvSpPr/>
          <p:nvPr/>
        </p:nvSpPr>
        <p:spPr>
          <a:xfrm>
            <a:off x="365760" y="914400"/>
            <a:ext cx="109724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787880"/>
                </a:solidFill>
                <a:effectLst/>
                <a:uFillTx/>
                <a:latin typeface="Calibri"/>
              </a:rPr>
              <a:t>Розслідування координованої дезінформаційної кампанії  |  Без AI: 2–3 дні  →  З AI: ~2 години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5" name="Rectangle 5"/>
          <p:cNvSpPr/>
          <p:nvPr/>
        </p:nvSpPr>
        <p:spPr>
          <a:xfrm>
            <a:off x="365760" y="1417320"/>
            <a:ext cx="1462680" cy="840960"/>
          </a:xfrm>
          <a:prstGeom prst="rect">
            <a:avLst/>
          </a:prstGeom>
          <a:solidFill>
            <a:srgbClr val="4a9ec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46" name="TextBox 6"/>
          <p:cNvSpPr/>
          <p:nvPr/>
        </p:nvSpPr>
        <p:spPr>
          <a:xfrm>
            <a:off x="365760" y="1417320"/>
            <a:ext cx="14626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0d0d0f"/>
                </a:solidFill>
                <a:effectLst/>
                <a:uFillTx/>
                <a:latin typeface="Calibri"/>
              </a:rPr>
              <a:t>ЗБІР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7" name="TextBox 7"/>
          <p:cNvSpPr/>
          <p:nvPr/>
        </p:nvSpPr>
        <p:spPr>
          <a:xfrm>
            <a:off x="365760" y="1892880"/>
            <a:ext cx="14626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0d0d0f"/>
                </a:solidFill>
                <a:effectLst/>
                <a:uFillTx/>
                <a:latin typeface="Calibri"/>
              </a:rPr>
              <a:t>30 хв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8" name="Rectangle 8"/>
          <p:cNvSpPr/>
          <p:nvPr/>
        </p:nvSpPr>
        <p:spPr>
          <a:xfrm>
            <a:off x="1901880" y="1417320"/>
            <a:ext cx="9875160" cy="840960"/>
          </a:xfrm>
          <a:prstGeom prst="rect">
            <a:avLst/>
          </a:prstGeom>
          <a:solidFill>
            <a:srgbClr val="1c1c2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49" name="TextBox 9"/>
          <p:cNvSpPr/>
          <p:nvPr/>
        </p:nvSpPr>
        <p:spPr>
          <a:xfrm>
            <a:off x="1993320" y="1490400"/>
            <a:ext cx="969228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lang="en-US" sz="1300" b="0" u="none" strike="noStrike">
                <a:solidFill>
                  <a:srgbClr val="e8e8e8"/>
                </a:solidFill>
                <a:effectLst/>
                <a:uFillTx/>
                <a:latin typeface="Calibri"/>
              </a:rPr>
              <a:t>Groupint → 47 Telegram-каналів → Neo4j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e8e8e8"/>
                </a:solidFill>
                <a:effectLst/>
                <a:uFillTx/>
                <a:latin typeface="Calibri"/>
              </a:rPr>
              <a:t>Claude (агент): автоматичний WHOIS всіх доменів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0" name="Rectangle 10"/>
          <p:cNvSpPr/>
          <p:nvPr/>
        </p:nvSpPr>
        <p:spPr>
          <a:xfrm>
            <a:off x="365760" y="2377440"/>
            <a:ext cx="1462680" cy="840960"/>
          </a:xfrm>
          <a:prstGeom prst="rect">
            <a:avLst/>
          </a:prstGeom>
          <a:solidFill>
            <a:srgbClr val="c9854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51" name="TextBox 11"/>
          <p:cNvSpPr/>
          <p:nvPr/>
        </p:nvSpPr>
        <p:spPr>
          <a:xfrm>
            <a:off x="365760" y="2377440"/>
            <a:ext cx="14626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0d0d0f"/>
                </a:solidFill>
                <a:effectLst/>
                <a:uFillTx/>
                <a:latin typeface="Calibri"/>
              </a:rPr>
              <a:t>МЕРЕЖА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2" name="TextBox 12"/>
          <p:cNvSpPr/>
          <p:nvPr/>
        </p:nvSpPr>
        <p:spPr>
          <a:xfrm>
            <a:off x="365760" y="2853000"/>
            <a:ext cx="14626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0d0d0f"/>
                </a:solidFill>
                <a:effectLst/>
                <a:uFillTx/>
                <a:latin typeface="Calibri"/>
              </a:rPr>
              <a:t>20 хв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3" name="Rectangle 13"/>
          <p:cNvSpPr/>
          <p:nvPr/>
        </p:nvSpPr>
        <p:spPr>
          <a:xfrm>
            <a:off x="1901880" y="2377440"/>
            <a:ext cx="9875160" cy="840960"/>
          </a:xfrm>
          <a:prstGeom prst="rect">
            <a:avLst/>
          </a:prstGeom>
          <a:solidFill>
            <a:srgbClr val="1c1c2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54" name="TextBox 14"/>
          <p:cNvSpPr/>
          <p:nvPr/>
        </p:nvSpPr>
        <p:spPr>
          <a:xfrm>
            <a:off x="1993320" y="2450520"/>
            <a:ext cx="969228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lang="en-US" sz="1300" b="0" u="none" strike="noStrike">
                <a:solidFill>
                  <a:srgbClr val="e8e8e8"/>
                </a:solidFill>
                <a:effectLst/>
                <a:uFillTx/>
                <a:latin typeface="Calibri"/>
              </a:rPr>
              <a:t>gephi-ai + Claude: modularity, betweenness, PageRank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e8e8e8"/>
                </a:solidFill>
                <a:effectLst/>
                <a:uFillTx/>
                <a:latin typeface="Calibri"/>
              </a:rPr>
              <a:t>→ автоматичний PNG + GEXF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5" name="Rectangle 15"/>
          <p:cNvSpPr/>
          <p:nvPr/>
        </p:nvSpPr>
        <p:spPr>
          <a:xfrm>
            <a:off x="365760" y="3337560"/>
            <a:ext cx="1462680" cy="840960"/>
          </a:xfrm>
          <a:prstGeom prst="rect">
            <a:avLst/>
          </a:prstGeom>
          <a:solidFill>
            <a:srgbClr val="5ab87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56" name="TextBox 16"/>
          <p:cNvSpPr/>
          <p:nvPr/>
        </p:nvSpPr>
        <p:spPr>
          <a:xfrm>
            <a:off x="365760" y="3337560"/>
            <a:ext cx="14626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0d0d0f"/>
                </a:solidFill>
                <a:effectLst/>
                <a:uFillTx/>
                <a:latin typeface="Calibri"/>
              </a:rPr>
              <a:t>КОНТЕНТ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7" name="TextBox 17"/>
          <p:cNvSpPr/>
          <p:nvPr/>
        </p:nvSpPr>
        <p:spPr>
          <a:xfrm>
            <a:off x="365760" y="3813120"/>
            <a:ext cx="14626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0d0d0f"/>
                </a:solidFill>
                <a:effectLst/>
                <a:uFillTx/>
                <a:latin typeface="Calibri"/>
              </a:rPr>
              <a:t>25 хв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8" name="Rectangle 18"/>
          <p:cNvSpPr/>
          <p:nvPr/>
        </p:nvSpPr>
        <p:spPr>
          <a:xfrm>
            <a:off x="1901880" y="3337560"/>
            <a:ext cx="9875160" cy="840960"/>
          </a:xfrm>
          <a:prstGeom prst="rect">
            <a:avLst/>
          </a:prstGeom>
          <a:solidFill>
            <a:srgbClr val="1c1c2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59" name="TextBox 19"/>
          <p:cNvSpPr/>
          <p:nvPr/>
        </p:nvSpPr>
        <p:spPr>
          <a:xfrm>
            <a:off x="1993320" y="3410640"/>
            <a:ext cx="969228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lang="en-US" sz="1300" b="0" u="none" strike="noStrike">
                <a:solidFill>
                  <a:srgbClr val="e8e8e8"/>
                </a:solidFill>
                <a:effectLst/>
                <a:uFillTx/>
                <a:latin typeface="Calibri"/>
              </a:rPr>
              <a:t>Python (Claude-generated): cosine similarity матриця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e8e8e8"/>
                </a:solidFill>
                <a:effectLst/>
                <a:uFillTx/>
                <a:latin typeface="Calibri"/>
              </a:rPr>
              <a:t>→ 11 каналів з ідентичним контентом ±3 хв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0" name="Rectangle 20"/>
          <p:cNvSpPr/>
          <p:nvPr/>
        </p:nvSpPr>
        <p:spPr>
          <a:xfrm>
            <a:off x="365760" y="4297680"/>
            <a:ext cx="1462680" cy="840960"/>
          </a:xfrm>
          <a:prstGeom prst="rect">
            <a:avLst/>
          </a:prstGeom>
          <a:solidFill>
            <a:srgbClr val="4a9ec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61" name="TextBox 21"/>
          <p:cNvSpPr/>
          <p:nvPr/>
        </p:nvSpPr>
        <p:spPr>
          <a:xfrm>
            <a:off x="365760" y="4297680"/>
            <a:ext cx="14626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0d0d0f"/>
                </a:solidFill>
                <a:effectLst/>
                <a:uFillTx/>
                <a:latin typeface="Calibri"/>
              </a:rPr>
              <a:t>СИНТЕЗ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2" name="TextBox 22"/>
          <p:cNvSpPr/>
          <p:nvPr/>
        </p:nvSpPr>
        <p:spPr>
          <a:xfrm>
            <a:off x="365760" y="4773240"/>
            <a:ext cx="14626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0d0d0f"/>
                </a:solidFill>
                <a:effectLst/>
                <a:uFillTx/>
                <a:latin typeface="Calibri"/>
              </a:rPr>
              <a:t>15 хв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3" name="Rectangle 23"/>
          <p:cNvSpPr/>
          <p:nvPr/>
        </p:nvSpPr>
        <p:spPr>
          <a:xfrm>
            <a:off x="1901880" y="4297680"/>
            <a:ext cx="9875160" cy="840960"/>
          </a:xfrm>
          <a:prstGeom prst="rect">
            <a:avLst/>
          </a:prstGeom>
          <a:solidFill>
            <a:srgbClr val="1c1c2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64" name="TextBox 24"/>
          <p:cNvSpPr/>
          <p:nvPr/>
        </p:nvSpPr>
        <p:spPr>
          <a:xfrm>
            <a:off x="1993320" y="4370760"/>
            <a:ext cx="969228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lang="en-US" sz="1300" b="0" u="none" strike="noStrike">
                <a:solidFill>
                  <a:srgbClr val="e8e8e8"/>
                </a:solidFill>
                <a:effectLst/>
                <a:uFillTx/>
                <a:latin typeface="Calibri"/>
              </a:rPr>
              <a:t>Промпт R.O.C.E. → ACH матриця: 3 гіпотези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e8e8e8"/>
                </a:solidFill>
                <a:effectLst/>
                <a:uFillTx/>
                <a:latin typeface="Calibri"/>
              </a:rPr>
              <a:t>→ H1 (координована операція) найімовірніша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5" name="Rectangle 25"/>
          <p:cNvSpPr/>
          <p:nvPr/>
        </p:nvSpPr>
        <p:spPr>
          <a:xfrm>
            <a:off x="365760" y="5257800"/>
            <a:ext cx="1462680" cy="840960"/>
          </a:xfrm>
          <a:prstGeom prst="rect">
            <a:avLst/>
          </a:prstGeom>
          <a:solidFill>
            <a:srgbClr val="5ab87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66" name="TextBox 26"/>
          <p:cNvSpPr/>
          <p:nvPr/>
        </p:nvSpPr>
        <p:spPr>
          <a:xfrm>
            <a:off x="365760" y="5257800"/>
            <a:ext cx="14626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0d0d0f"/>
                </a:solidFill>
                <a:effectLst/>
                <a:uFillTx/>
                <a:latin typeface="Calibri"/>
              </a:rPr>
              <a:t>ЗВІТ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7" name="TextBox 27"/>
          <p:cNvSpPr/>
          <p:nvPr/>
        </p:nvSpPr>
        <p:spPr>
          <a:xfrm>
            <a:off x="365760" y="5733360"/>
            <a:ext cx="14626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0d0d0f"/>
                </a:solidFill>
                <a:effectLst/>
                <a:uFillTx/>
                <a:latin typeface="Calibri"/>
              </a:rPr>
              <a:t>30 хв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8" name="Rectangle 28"/>
          <p:cNvSpPr/>
          <p:nvPr/>
        </p:nvSpPr>
        <p:spPr>
          <a:xfrm>
            <a:off x="1901880" y="5257800"/>
            <a:ext cx="9875160" cy="840960"/>
          </a:xfrm>
          <a:prstGeom prst="rect">
            <a:avLst/>
          </a:prstGeom>
          <a:solidFill>
            <a:srgbClr val="1c1c2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69" name="TextBox 29"/>
          <p:cNvSpPr/>
          <p:nvPr/>
        </p:nvSpPr>
        <p:spPr>
          <a:xfrm>
            <a:off x="1993320" y="5330880"/>
            <a:ext cx="969228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lang="en-US" sz="1300" b="0" u="none" strike="noStrike">
                <a:solidFill>
                  <a:srgbClr val="e8e8e8"/>
                </a:solidFill>
                <a:effectLst/>
                <a:uFillTx/>
                <a:latin typeface="Calibri"/>
              </a:rPr>
              <a:t>Jinja2 шаблон → чернетка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300" b="0" u="none" strike="noStrike">
                <a:solidFill>
                  <a:srgbClr val="e8e8e8"/>
                </a:solidFill>
                <a:effectLst/>
                <a:uFillTx/>
                <a:latin typeface="Calibri"/>
              </a:rPr>
              <a:t>Claude: стиль + рівні впевненості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e8e8e8"/>
                </a:solidFill>
                <a:effectLst/>
                <a:uFillTx/>
                <a:latin typeface="Calibri"/>
              </a:rPr>
              <a:t>Аналітик: атрибуція, підпис → PDF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0" name="Rectangle 30"/>
          <p:cNvSpPr/>
          <p:nvPr/>
        </p:nvSpPr>
        <p:spPr>
          <a:xfrm>
            <a:off x="365760" y="6282000"/>
            <a:ext cx="11429640" cy="502560"/>
          </a:xfrm>
          <a:prstGeom prst="rect">
            <a:avLst/>
          </a:prstGeom>
          <a:solidFill>
            <a:srgbClr val="081408"/>
          </a:solidFill>
          <a:ln w="10160">
            <a:solidFill>
              <a:srgbClr val="5ab87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71" name="TextBox 31"/>
          <p:cNvSpPr/>
          <p:nvPr/>
        </p:nvSpPr>
        <p:spPr>
          <a:xfrm>
            <a:off x="502920" y="6336720"/>
            <a:ext cx="111553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5ab878"/>
                </a:solidFill>
                <a:effectLst/>
                <a:uFillTx/>
                <a:latin typeface="Calibri"/>
              </a:rPr>
              <a:t>Ручна робота аналітика: ~45 хвилин.  Решта — AI і автоматизація.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0d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TextBox 1"/>
          <p:cNvSpPr/>
          <p:nvPr/>
        </p:nvSpPr>
        <p:spPr>
          <a:xfrm>
            <a:off x="365760" y="73080"/>
            <a:ext cx="10972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4a9ec7"/>
                </a:solidFill>
                <a:effectLst/>
                <a:uFillTx/>
                <a:latin typeface="Calibri"/>
              </a:rPr>
              <a:t>РИЗИКИ ТА ОБМЕЖЕННЯ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3" name="TextBox 2"/>
          <p:cNvSpPr/>
          <p:nvPr/>
        </p:nvSpPr>
        <p:spPr>
          <a:xfrm>
            <a:off x="365760" y="320040"/>
            <a:ext cx="109724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100" b="1" u="none" strike="noStrike">
                <a:solidFill>
                  <a:srgbClr val="c05050"/>
                </a:solidFill>
                <a:effectLst/>
                <a:uFillTx/>
                <a:latin typeface="Calibri"/>
              </a:rPr>
              <a:t>Де AI помиляється в аналітичній роботі</a:t>
            </a:r>
            <a:endParaRPr lang="en-US" sz="3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4" name="Rectangle 3"/>
          <p:cNvSpPr/>
          <p:nvPr/>
        </p:nvSpPr>
        <p:spPr>
          <a:xfrm>
            <a:off x="365760" y="804600"/>
            <a:ext cx="11457000" cy="27000"/>
          </a:xfrm>
          <a:prstGeom prst="rect">
            <a:avLst/>
          </a:prstGeom>
          <a:solidFill>
            <a:srgbClr val="c0505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17640" bIns="-1764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75" name="Rectangle 4"/>
          <p:cNvSpPr/>
          <p:nvPr/>
        </p:nvSpPr>
        <p:spPr>
          <a:xfrm>
            <a:off x="365760" y="960120"/>
            <a:ext cx="5531760" cy="2422800"/>
          </a:xfrm>
          <a:prstGeom prst="rect">
            <a:avLst/>
          </a:prstGeom>
          <a:solidFill>
            <a:srgbClr val="1c1c22"/>
          </a:solidFill>
          <a:ln w="11430">
            <a:solidFill>
              <a:srgbClr val="c0505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76" name="TextBox 5"/>
          <p:cNvSpPr/>
          <p:nvPr/>
        </p:nvSpPr>
        <p:spPr>
          <a:xfrm>
            <a:off x="475560" y="1051560"/>
            <a:ext cx="53031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c05050"/>
                </a:solidFill>
                <a:effectLst/>
                <a:uFillTx/>
                <a:latin typeface="Calibri"/>
              </a:rPr>
              <a:t>⚠  ГАЛЮЦИНАЦІЇ ФАКТІВ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7" name="TextBox 6"/>
          <p:cNvSpPr/>
          <p:nvPr/>
        </p:nvSpPr>
        <p:spPr>
          <a:xfrm>
            <a:off x="475560" y="1554480"/>
            <a:ext cx="5303160" cy="169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lang="en-US" sz="1300" b="0" u="none" strike="noStrike">
                <a:solidFill>
                  <a:srgbClr val="787880"/>
                </a:solidFill>
                <a:effectLst/>
                <a:uFillTx/>
                <a:latin typeface="Calibri"/>
              </a:rPr>
              <a:t>LLM вигадує цитату, дату, ім'я або URL, якого не існує.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300" b="0" u="none" strike="noStrike">
                <a:solidFill>
                  <a:srgbClr val="787880"/>
                </a:solidFill>
                <a:effectLst/>
                <a:uFillTx/>
                <a:latin typeface="Calibri"/>
              </a:rPr>
              <a:t>→ Правило: жоден факт у звіті без верифікації незалежним джерелом.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787880"/>
                </a:solidFill>
                <a:effectLst/>
                <a:uFillTx/>
                <a:latin typeface="Calibri"/>
              </a:rPr>
              <a:t>→ Промпт: «Якщо ти не впевнений — скажи 'невідомо', не вигадуй»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8" name="Rectangle 7"/>
          <p:cNvSpPr/>
          <p:nvPr/>
        </p:nvSpPr>
        <p:spPr>
          <a:xfrm>
            <a:off x="6126480" y="960120"/>
            <a:ext cx="5531760" cy="2422800"/>
          </a:xfrm>
          <a:prstGeom prst="rect">
            <a:avLst/>
          </a:prstGeom>
          <a:solidFill>
            <a:srgbClr val="1c1c22"/>
          </a:solidFill>
          <a:ln w="11430">
            <a:solidFill>
              <a:srgbClr val="c9854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79" name="TextBox 8"/>
          <p:cNvSpPr/>
          <p:nvPr/>
        </p:nvSpPr>
        <p:spPr>
          <a:xfrm>
            <a:off x="6236280" y="1051560"/>
            <a:ext cx="53031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c98540"/>
                </a:solidFill>
                <a:effectLst/>
                <a:uFillTx/>
                <a:latin typeface="Calibri"/>
              </a:rPr>
              <a:t>⚠  CONFIRMATION BIAS ЧЕРЕЗ ФОРМУЛЮВАННЯ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0" name="TextBox 9"/>
          <p:cNvSpPr/>
          <p:nvPr/>
        </p:nvSpPr>
        <p:spPr>
          <a:xfrm>
            <a:off x="6236280" y="1554480"/>
            <a:ext cx="5303160" cy="169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lang="en-US" sz="1300" b="0" u="none" strike="noStrike">
                <a:solidFill>
                  <a:srgbClr val="787880"/>
                </a:solidFill>
                <a:effectLst/>
                <a:uFillTx/>
                <a:latin typeface="Calibri"/>
              </a:rPr>
              <a:t>«Доведи, що це операція впливу» → знайде докази.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300" b="0" u="none" strike="noStrike">
                <a:solidFill>
                  <a:srgbClr val="787880"/>
                </a:solidFill>
                <a:effectLst/>
                <a:uFillTx/>
                <a:latin typeface="Calibri"/>
              </a:rPr>
              <a:t>«Аргументи ПРОТИ операції впливу» → знайде інші.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787880"/>
                </a:solidFill>
                <a:effectLst/>
                <a:uFillTx/>
                <a:latin typeface="Calibri"/>
              </a:rPr>
              <a:t>→ Завжди запитуй обидві сторони. Використовуй ACH.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1" name="Rectangle 10"/>
          <p:cNvSpPr/>
          <p:nvPr/>
        </p:nvSpPr>
        <p:spPr>
          <a:xfrm>
            <a:off x="365760" y="3566160"/>
            <a:ext cx="5531760" cy="2422800"/>
          </a:xfrm>
          <a:prstGeom prst="rect">
            <a:avLst/>
          </a:prstGeom>
          <a:solidFill>
            <a:srgbClr val="1c1c22"/>
          </a:solidFill>
          <a:ln w="11430">
            <a:solidFill>
              <a:srgbClr val="c9854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82" name="TextBox 11"/>
          <p:cNvSpPr/>
          <p:nvPr/>
        </p:nvSpPr>
        <p:spPr>
          <a:xfrm>
            <a:off x="475560" y="3657600"/>
            <a:ext cx="53031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c98540"/>
                </a:solidFill>
                <a:effectLst/>
                <a:uFillTx/>
                <a:latin typeface="Calibri"/>
              </a:rPr>
              <a:t>⚠  ПЕРЕОЦІНКА ФОРМИ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3" name="TextBox 12"/>
          <p:cNvSpPr/>
          <p:nvPr/>
        </p:nvSpPr>
        <p:spPr>
          <a:xfrm>
            <a:off x="475560" y="4160520"/>
            <a:ext cx="5303160" cy="169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lang="en-US" sz="1300" b="0" u="none" strike="noStrike">
                <a:solidFill>
                  <a:srgbClr val="787880"/>
                </a:solidFill>
                <a:effectLst/>
                <a:uFillTx/>
                <a:latin typeface="Calibri"/>
              </a:rPr>
              <a:t>Гладко написаний абзац звучить переконливо — незалежно від якості доказів.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787880"/>
                </a:solidFill>
                <a:effectLst/>
                <a:uFillTx/>
                <a:latin typeface="Calibri"/>
              </a:rPr>
              <a:t>→ Форма НЕ є доказом змісту.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4" name="Rectangle 13"/>
          <p:cNvSpPr/>
          <p:nvPr/>
        </p:nvSpPr>
        <p:spPr>
          <a:xfrm>
            <a:off x="6126480" y="3566160"/>
            <a:ext cx="5531760" cy="2422800"/>
          </a:xfrm>
          <a:prstGeom prst="rect">
            <a:avLst/>
          </a:prstGeom>
          <a:solidFill>
            <a:srgbClr val="1c1c22"/>
          </a:solidFill>
          <a:ln w="11430">
            <a:solidFill>
              <a:srgbClr val="c0505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85" name="TextBox 14"/>
          <p:cNvSpPr/>
          <p:nvPr/>
        </p:nvSpPr>
        <p:spPr>
          <a:xfrm>
            <a:off x="6236280" y="3657600"/>
            <a:ext cx="53031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c05050"/>
                </a:solidFill>
                <a:effectLst/>
                <a:uFillTx/>
                <a:latin typeface="Calibri"/>
              </a:rPr>
              <a:t>⚠  ВИТІК ЧУТЛИВИХ ДАНИХ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6" name="TextBox 15"/>
          <p:cNvSpPr/>
          <p:nvPr/>
        </p:nvSpPr>
        <p:spPr>
          <a:xfrm>
            <a:off x="6236280" y="4160520"/>
            <a:ext cx="5303160" cy="169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lang="en-US" sz="1300" b="0" u="none" strike="noStrike">
                <a:solidFill>
                  <a:srgbClr val="787880"/>
                </a:solidFill>
                <a:effectLst/>
                <a:uFillTx/>
                <a:latin typeface="Calibri"/>
              </a:rPr>
              <a:t>Не вставляти у комерційні API PII-дані фігурантів.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787880"/>
                </a:solidFill>
                <a:effectLst/>
                <a:uFillTx/>
                <a:latin typeface="Calibri"/>
              </a:rPr>
              <a:t>→ Для чутливих кейсів: локальні моделі (Ollama + Gemma/Llama).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7" name="Rectangle 16"/>
          <p:cNvSpPr/>
          <p:nvPr/>
        </p:nvSpPr>
        <p:spPr>
          <a:xfrm>
            <a:off x="365760" y="6282000"/>
            <a:ext cx="11429640" cy="502560"/>
          </a:xfrm>
          <a:prstGeom prst="rect">
            <a:avLst/>
          </a:prstGeom>
          <a:solidFill>
            <a:srgbClr val="1c1c22"/>
          </a:solidFill>
          <a:ln w="10160">
            <a:solidFill>
              <a:srgbClr val="4a9ec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88" name="TextBox 17"/>
          <p:cNvSpPr/>
          <p:nvPr/>
        </p:nvSpPr>
        <p:spPr>
          <a:xfrm>
            <a:off x="548640" y="6336720"/>
            <a:ext cx="111553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4a9ec7"/>
                </a:solidFill>
                <a:effectLst/>
                <a:uFillTx/>
                <a:latin typeface="Calibri"/>
              </a:rPr>
              <a:t>★  Аналітик, що перестає перевіряти AI-висновки, перестає бути аналітиком.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0d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Rectangle 1"/>
          <p:cNvSpPr/>
          <p:nvPr/>
        </p:nvSpPr>
        <p:spPr>
          <a:xfrm>
            <a:off x="0" y="0"/>
            <a:ext cx="54360" cy="6857640"/>
          </a:xfrm>
          <a:prstGeom prst="rect">
            <a:avLst/>
          </a:prstGeom>
          <a:solidFill>
            <a:srgbClr val="4a9ec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90" name="TextBox 2"/>
          <p:cNvSpPr/>
          <p:nvPr/>
        </p:nvSpPr>
        <p:spPr>
          <a:xfrm>
            <a:off x="365760" y="274320"/>
            <a:ext cx="109724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4a9ec7"/>
                </a:solidFill>
                <a:effectLst/>
                <a:uFillTx/>
                <a:latin typeface="Calibri"/>
              </a:rPr>
              <a:t>РЕЗЮМЕ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1" name="TextBox 3"/>
          <p:cNvSpPr/>
          <p:nvPr/>
        </p:nvSpPr>
        <p:spPr>
          <a:xfrm>
            <a:off x="365760" y="685800"/>
            <a:ext cx="109724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e8e8e8"/>
                </a:solidFill>
                <a:effectLst/>
                <a:uFillTx/>
                <a:latin typeface="Calibri"/>
              </a:rPr>
              <a:t>Урок 11 — ключові принципи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2" name="Rectangle 4"/>
          <p:cNvSpPr/>
          <p:nvPr/>
        </p:nvSpPr>
        <p:spPr>
          <a:xfrm>
            <a:off x="365760" y="1325880"/>
            <a:ext cx="72720" cy="1005480"/>
          </a:xfrm>
          <a:prstGeom prst="rect">
            <a:avLst/>
          </a:prstGeom>
          <a:solidFill>
            <a:srgbClr val="4a9ec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93" name="TextBox 5"/>
          <p:cNvSpPr/>
          <p:nvPr/>
        </p:nvSpPr>
        <p:spPr>
          <a:xfrm>
            <a:off x="567000" y="1371600"/>
            <a:ext cx="32000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4a9ec7"/>
                </a:solidFill>
                <a:effectLst/>
                <a:uFillTx/>
                <a:latin typeface="Calibri"/>
              </a:rPr>
              <a:t>Стандарти звіту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4" name="TextBox 6"/>
          <p:cNvSpPr/>
          <p:nvPr/>
        </p:nvSpPr>
        <p:spPr>
          <a:xfrm>
            <a:off x="567000" y="1828800"/>
            <a:ext cx="111553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787880"/>
                </a:solidFill>
                <a:effectLst/>
                <a:uFillTx/>
                <a:latin typeface="Calibri"/>
              </a:rPr>
              <a:t>BLUF першою фразою · 7-секційна структура · Рівні впевненості явно · Методологія обов'язкова · Правило 3 джерел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5" name="Rectangle 7"/>
          <p:cNvSpPr/>
          <p:nvPr/>
        </p:nvSpPr>
        <p:spPr>
          <a:xfrm>
            <a:off x="365760" y="2514600"/>
            <a:ext cx="72720" cy="1005480"/>
          </a:xfrm>
          <a:prstGeom prst="rect">
            <a:avLst/>
          </a:prstGeom>
          <a:solidFill>
            <a:srgbClr val="c9854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96" name="TextBox 8"/>
          <p:cNvSpPr/>
          <p:nvPr/>
        </p:nvSpPr>
        <p:spPr>
          <a:xfrm>
            <a:off x="567000" y="2560320"/>
            <a:ext cx="32000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c98540"/>
                </a:solidFill>
                <a:effectLst/>
                <a:uFillTx/>
                <a:latin typeface="Calibri"/>
              </a:rPr>
              <a:t>Prompt Engineering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7" name="TextBox 9"/>
          <p:cNvSpPr/>
          <p:nvPr/>
        </p:nvSpPr>
        <p:spPr>
          <a:xfrm>
            <a:off x="567000" y="3017520"/>
            <a:ext cx="111553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787880"/>
                </a:solidFill>
                <a:effectLst/>
                <a:uFillTx/>
                <a:latin typeface="Calibri"/>
              </a:rPr>
              <a:t>R.O.C.E. = роль + ціль + контекст + докази · Конкретна задача = конкретний промпт · ACH через AI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8" name="Rectangle 10"/>
          <p:cNvSpPr/>
          <p:nvPr/>
        </p:nvSpPr>
        <p:spPr>
          <a:xfrm>
            <a:off x="365760" y="3703320"/>
            <a:ext cx="72720" cy="1005480"/>
          </a:xfrm>
          <a:prstGeom prst="rect">
            <a:avLst/>
          </a:prstGeom>
          <a:solidFill>
            <a:srgbClr val="5ab87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99" name="TextBox 11"/>
          <p:cNvSpPr/>
          <p:nvPr/>
        </p:nvSpPr>
        <p:spPr>
          <a:xfrm>
            <a:off x="567000" y="3749040"/>
            <a:ext cx="32000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5ab878"/>
                </a:solidFill>
                <a:effectLst/>
                <a:uFillTx/>
                <a:latin typeface="Calibri"/>
              </a:rPr>
              <a:t>Автоматизація та візуалізація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0" name="TextBox 12"/>
          <p:cNvSpPr/>
          <p:nvPr/>
        </p:nvSpPr>
        <p:spPr>
          <a:xfrm>
            <a:off x="567000" y="4206240"/>
            <a:ext cx="111553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787880"/>
                </a:solidFill>
                <a:effectLst/>
                <a:uFillTx/>
                <a:latin typeface="Calibri"/>
              </a:rPr>
              <a:t>Obsidian + Dataview · Python + Jinja2 · Plotly · QGIS Print Layout → публікаційна карта · Kepler.gl / Datawrapper для веб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1" name="Rectangle 13"/>
          <p:cNvSpPr/>
          <p:nvPr/>
        </p:nvSpPr>
        <p:spPr>
          <a:xfrm>
            <a:off x="365760" y="4892040"/>
            <a:ext cx="72720" cy="1005480"/>
          </a:xfrm>
          <a:prstGeom prst="rect">
            <a:avLst/>
          </a:prstGeom>
          <a:solidFill>
            <a:srgbClr val="4a9ec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02" name="TextBox 14"/>
          <p:cNvSpPr/>
          <p:nvPr/>
        </p:nvSpPr>
        <p:spPr>
          <a:xfrm>
            <a:off x="567000" y="4937760"/>
            <a:ext cx="32000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4a9ec7"/>
                </a:solidFill>
                <a:effectLst/>
                <a:uFillTx/>
                <a:latin typeface="Calibri"/>
              </a:rPr>
              <a:t>Агентні воркфлоу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3" name="TextBox 15"/>
          <p:cNvSpPr/>
          <p:nvPr/>
        </p:nvSpPr>
        <p:spPr>
          <a:xfrm>
            <a:off x="567000" y="5394960"/>
            <a:ext cx="111553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787880"/>
                </a:solidFill>
                <a:effectLst/>
                <a:uFillTx/>
                <a:latin typeface="Calibri"/>
              </a:rPr>
              <a:t>ReAct: Think → Act → Observe · Claude Code як OSINT-агент · Описуй ЦІЛЬ — агент адаптує план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4" name="Rectangle 16"/>
          <p:cNvSpPr/>
          <p:nvPr/>
        </p:nvSpPr>
        <p:spPr>
          <a:xfrm>
            <a:off x="365760" y="6035040"/>
            <a:ext cx="11429640" cy="712800"/>
          </a:xfrm>
          <a:prstGeom prst="rect">
            <a:avLst/>
          </a:prstGeom>
          <a:solidFill>
            <a:srgbClr val="1c1c22"/>
          </a:solidFill>
          <a:ln w="15240">
            <a:solidFill>
              <a:srgbClr val="4a9ec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05" name="TextBox 17"/>
          <p:cNvSpPr/>
          <p:nvPr/>
        </p:nvSpPr>
        <p:spPr>
          <a:xfrm>
            <a:off x="548640" y="6080760"/>
            <a:ext cx="1115532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lang="en-US" sz="1600" b="1" i="1" u="none" strike="noStrike">
                <a:solidFill>
                  <a:srgbClr val="e8e8e8"/>
                </a:solidFill>
                <a:effectLst/>
                <a:uFillTx/>
                <a:latin typeface="Calibri"/>
              </a:rPr>
              <a:t>«AI прискорює процес — аналітик несе відповідальність за висновки.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600" b="1" i="1" u="none" strike="noStrike">
                <a:solidFill>
                  <a:srgbClr val="e8e8e8"/>
                </a:solidFill>
                <a:effectLst/>
                <a:uFillTx/>
                <a:latin typeface="Calibri"/>
              </a:rPr>
              <a:t>Підпис під звітом завжди людський.»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552</TotalTime>
  <Application>LibreOffice/25.8.7.3$Linux_X86_64 LibreOffice_project/580$Build-3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2026-05-27T03:07:50Z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